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5.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7.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45"/>
  </p:notesMasterIdLst>
  <p:handoutMasterIdLst>
    <p:handoutMasterId r:id="rId46"/>
  </p:handoutMasterIdLst>
  <p:sldIdLst>
    <p:sldId id="571" r:id="rId13"/>
    <p:sldId id="653" r:id="rId14"/>
    <p:sldId id="654" r:id="rId15"/>
    <p:sldId id="646" r:id="rId16"/>
    <p:sldId id="633" r:id="rId17"/>
    <p:sldId id="634" r:id="rId18"/>
    <p:sldId id="635" r:id="rId19"/>
    <p:sldId id="636" r:id="rId20"/>
    <p:sldId id="655" r:id="rId21"/>
    <p:sldId id="647" r:id="rId22"/>
    <p:sldId id="657" r:id="rId23"/>
    <p:sldId id="664" r:id="rId24"/>
    <p:sldId id="665" r:id="rId25"/>
    <p:sldId id="667" r:id="rId26"/>
    <p:sldId id="668" r:id="rId27"/>
    <p:sldId id="669" r:id="rId28"/>
    <p:sldId id="670" r:id="rId29"/>
    <p:sldId id="671" r:id="rId30"/>
    <p:sldId id="672" r:id="rId31"/>
    <p:sldId id="673" r:id="rId32"/>
    <p:sldId id="674" r:id="rId33"/>
    <p:sldId id="675" r:id="rId34"/>
    <p:sldId id="676" r:id="rId35"/>
    <p:sldId id="677" r:id="rId36"/>
    <p:sldId id="678" r:id="rId37"/>
    <p:sldId id="679" r:id="rId38"/>
    <p:sldId id="680" r:id="rId39"/>
    <p:sldId id="681" r:id="rId40"/>
    <p:sldId id="684" r:id="rId41"/>
    <p:sldId id="682" r:id="rId42"/>
    <p:sldId id="683" r:id="rId43"/>
    <p:sldId id="603" r:id="rId44"/>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 id="2" name="REVA00263" initials="R" lastIdx="2" clrIdx="1">
    <p:extLst>
      <p:ext uri="{19B8F6BF-5375-455C-9EA6-DF929625EA0E}">
        <p15:presenceInfo xmlns:p15="http://schemas.microsoft.com/office/powerpoint/2012/main" userId="S-1-5-21-393838237-193648452-3430637-250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9950F"/>
    <a:srgbClr val="4C5252"/>
    <a:srgbClr val="A5A5A5"/>
    <a:srgbClr val="E7E6E6"/>
    <a:srgbClr val="48367D"/>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86391"/>
  </p:normalViewPr>
  <p:slideViewPr>
    <p:cSldViewPr>
      <p:cViewPr varScale="1">
        <p:scale>
          <a:sx n="82" d="100"/>
          <a:sy n="82" d="100"/>
        </p:scale>
        <p:origin x="898" y="72"/>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D2DCAC-716D-4C54-B553-676DDFA71A63}" type="doc">
      <dgm:prSet loTypeId="urn:microsoft.com/office/officeart/2005/8/layout/process5" loCatId="process" qsTypeId="urn:microsoft.com/office/officeart/2005/8/quickstyle/3d3" qsCatId="3D" csTypeId="urn:microsoft.com/office/officeart/2005/8/colors/colorful2" csCatId="colorful" phldr="1"/>
      <dgm:spPr/>
      <dgm:t>
        <a:bodyPr/>
        <a:lstStyle/>
        <a:p>
          <a:endParaRPr lang="en-IN"/>
        </a:p>
      </dgm:t>
    </dgm:pt>
    <dgm:pt modelId="{83651B6D-405B-48D2-95CB-2A2A96A6C534}">
      <dgm:prSet phldrT="[Text]" custT="1"/>
      <dgm:spPr/>
      <dgm:t>
        <a:bodyPr/>
        <a:lstStyle/>
        <a:p>
          <a:r>
            <a:rPr lang="en-IN" sz="1400" b="1" dirty="0">
              <a:latin typeface="Times New Roman" panose="02020603050405020304" pitchFamily="18" charset="0"/>
              <a:cs typeface="Times New Roman" panose="02020603050405020304" pitchFamily="18" charset="0"/>
            </a:rPr>
            <a:t>Load the Flood Dataset and Import Necessary Libraries</a:t>
          </a:r>
        </a:p>
      </dgm:t>
    </dgm:pt>
    <dgm:pt modelId="{ED3FE831-FFF3-4150-B831-C0E19952F623}" type="parTrans" cxnId="{A70FEAEC-ECE0-4ADF-8704-1C02E265F3EA}">
      <dgm:prSet/>
      <dgm:spPr/>
      <dgm:t>
        <a:bodyPr/>
        <a:lstStyle/>
        <a:p>
          <a:endParaRPr lang="en-IN"/>
        </a:p>
      </dgm:t>
    </dgm:pt>
    <dgm:pt modelId="{AF0DFF02-19BE-4D6B-8EAE-01968B0EB0CF}" type="sibTrans" cxnId="{A70FEAEC-ECE0-4ADF-8704-1C02E265F3EA}">
      <dgm:prSet/>
      <dgm:spPr/>
      <dgm:t>
        <a:bodyPr/>
        <a:lstStyle/>
        <a:p>
          <a:endParaRPr lang="en-IN"/>
        </a:p>
      </dgm:t>
    </dgm:pt>
    <dgm:pt modelId="{7A7FCA81-4D82-4A7D-B280-5126A83CCA3B}">
      <dgm:prSet phldrT="[Text]" custT="1"/>
      <dgm:spPr/>
      <dgm:t>
        <a:bodyPr/>
        <a:lstStyle/>
        <a:p>
          <a:r>
            <a:rPr lang="en-IN" sz="1800" b="1" dirty="0">
              <a:latin typeface="Times New Roman" panose="02020603050405020304" pitchFamily="18" charset="0"/>
              <a:cs typeface="Times New Roman" panose="02020603050405020304" pitchFamily="18" charset="0"/>
            </a:rPr>
            <a:t>Splitting dataset into training set and testing set</a:t>
          </a:r>
        </a:p>
      </dgm:t>
    </dgm:pt>
    <dgm:pt modelId="{127B7731-87E1-4D19-AE10-04E635EB82D4}" type="parTrans" cxnId="{2F8EEA83-A19F-48C6-8752-E9F4073EDF5F}">
      <dgm:prSet/>
      <dgm:spPr/>
      <dgm:t>
        <a:bodyPr/>
        <a:lstStyle/>
        <a:p>
          <a:endParaRPr lang="en-IN"/>
        </a:p>
      </dgm:t>
    </dgm:pt>
    <dgm:pt modelId="{7BF39DE0-4260-4F02-B564-667635E6D926}" type="sibTrans" cxnId="{2F8EEA83-A19F-48C6-8752-E9F4073EDF5F}">
      <dgm:prSet/>
      <dgm:spPr/>
      <dgm:t>
        <a:bodyPr/>
        <a:lstStyle/>
        <a:p>
          <a:endParaRPr lang="en-IN"/>
        </a:p>
      </dgm:t>
    </dgm:pt>
    <dgm:pt modelId="{EC71159C-9178-402D-86B1-34505319CAA1}">
      <dgm:prSet phldrT="[Text]" custT="1"/>
      <dgm:spPr/>
      <dgm:t>
        <a:bodyPr/>
        <a:lstStyle/>
        <a:p>
          <a:r>
            <a:rPr lang="en-IN" sz="1800" b="1" dirty="0">
              <a:latin typeface="Times New Roman" panose="02020603050405020304" pitchFamily="18" charset="0"/>
              <a:cs typeface="Times New Roman" panose="02020603050405020304" pitchFamily="18" charset="0"/>
            </a:rPr>
            <a:t>Apply XGBoost Model</a:t>
          </a:r>
        </a:p>
      </dgm:t>
    </dgm:pt>
    <dgm:pt modelId="{EE3C363A-1B62-4E74-975A-D71A1D2B8697}" type="parTrans" cxnId="{F34EA6A1-AF96-45F8-BF8B-C93FC1F5DB93}">
      <dgm:prSet/>
      <dgm:spPr/>
      <dgm:t>
        <a:bodyPr/>
        <a:lstStyle/>
        <a:p>
          <a:endParaRPr lang="en-IN"/>
        </a:p>
      </dgm:t>
    </dgm:pt>
    <dgm:pt modelId="{05CE544D-8B2F-4CBC-A65C-D78A5B6CF147}" type="sibTrans" cxnId="{F34EA6A1-AF96-45F8-BF8B-C93FC1F5DB93}">
      <dgm:prSet/>
      <dgm:spPr/>
      <dgm:t>
        <a:bodyPr/>
        <a:lstStyle/>
        <a:p>
          <a:endParaRPr lang="en-IN"/>
        </a:p>
      </dgm:t>
    </dgm:pt>
    <dgm:pt modelId="{FFF0F554-CA78-4CBA-A24C-011BED25D927}">
      <dgm:prSet phldrT="[Text]" custT="1"/>
      <dgm:spPr/>
      <dgm:t>
        <a:bodyPr/>
        <a:lstStyle/>
        <a:p>
          <a:r>
            <a:rPr lang="en-IN" sz="1800" b="1" dirty="0">
              <a:latin typeface="Times New Roman" panose="02020603050405020304" pitchFamily="18" charset="0"/>
              <a:cs typeface="Times New Roman" panose="02020603050405020304" pitchFamily="18" charset="0"/>
            </a:rPr>
            <a:t>Train the Model</a:t>
          </a:r>
        </a:p>
      </dgm:t>
    </dgm:pt>
    <dgm:pt modelId="{03DC45E5-27C2-4EC1-A87B-C50BB88957F0}" type="parTrans" cxnId="{53C6E8FB-9278-48EB-980C-973251498DE9}">
      <dgm:prSet/>
      <dgm:spPr/>
      <dgm:t>
        <a:bodyPr/>
        <a:lstStyle/>
        <a:p>
          <a:endParaRPr lang="en-IN"/>
        </a:p>
      </dgm:t>
    </dgm:pt>
    <dgm:pt modelId="{EE9D4892-6484-49F1-9C02-4A1531065E05}" type="sibTrans" cxnId="{53C6E8FB-9278-48EB-980C-973251498DE9}">
      <dgm:prSet/>
      <dgm:spPr/>
      <dgm:t>
        <a:bodyPr/>
        <a:lstStyle/>
        <a:p>
          <a:endParaRPr lang="en-IN"/>
        </a:p>
      </dgm:t>
    </dgm:pt>
    <dgm:pt modelId="{549302D6-EE1B-4727-9876-51D7C139C027}">
      <dgm:prSet phldrT="[Text]" custT="1"/>
      <dgm:spPr/>
      <dgm:t>
        <a:bodyPr/>
        <a:lstStyle/>
        <a:p>
          <a:r>
            <a:rPr lang="en-IN" sz="1800" b="1" dirty="0">
              <a:latin typeface="Times New Roman" panose="02020603050405020304" pitchFamily="18" charset="0"/>
              <a:cs typeface="Times New Roman" panose="02020603050405020304" pitchFamily="18" charset="0"/>
            </a:rPr>
            <a:t>Make Predictions</a:t>
          </a:r>
        </a:p>
      </dgm:t>
    </dgm:pt>
    <dgm:pt modelId="{395F29B7-E5FD-49CF-A946-A5D02C505903}" type="parTrans" cxnId="{AE049788-7F5A-4847-B1BC-4923816DC13B}">
      <dgm:prSet/>
      <dgm:spPr/>
      <dgm:t>
        <a:bodyPr/>
        <a:lstStyle/>
        <a:p>
          <a:endParaRPr lang="en-IN"/>
        </a:p>
      </dgm:t>
    </dgm:pt>
    <dgm:pt modelId="{276A4E4D-7969-4C89-B972-6975099BA643}" type="sibTrans" cxnId="{AE049788-7F5A-4847-B1BC-4923816DC13B}">
      <dgm:prSet/>
      <dgm:spPr/>
      <dgm:t>
        <a:bodyPr/>
        <a:lstStyle/>
        <a:p>
          <a:endParaRPr lang="en-IN"/>
        </a:p>
      </dgm:t>
    </dgm:pt>
    <dgm:pt modelId="{CCB76CE7-0E1D-4947-AC1F-526ACC37815A}">
      <dgm:prSet phldrT="[Text]" custT="1"/>
      <dgm:spPr/>
      <dgm:t>
        <a:bodyPr/>
        <a:lstStyle/>
        <a:p>
          <a:r>
            <a:rPr lang="en-IN" sz="1800" b="1" dirty="0">
              <a:latin typeface="Times New Roman" panose="02020603050405020304" pitchFamily="18" charset="0"/>
              <a:cs typeface="Times New Roman" panose="02020603050405020304" pitchFamily="18" charset="0"/>
            </a:rPr>
            <a:t>Preprocess and Preparing the data</a:t>
          </a:r>
        </a:p>
      </dgm:t>
    </dgm:pt>
    <dgm:pt modelId="{08EC9978-0F46-4566-A9FA-713A27B09C18}" type="parTrans" cxnId="{1EF57B28-4201-40B1-AF50-4ED5FB1D32CA}">
      <dgm:prSet/>
      <dgm:spPr/>
      <dgm:t>
        <a:bodyPr/>
        <a:lstStyle/>
        <a:p>
          <a:endParaRPr lang="en-IN"/>
        </a:p>
      </dgm:t>
    </dgm:pt>
    <dgm:pt modelId="{DB7D7605-FA07-4D59-8057-78A770AFF2BF}" type="sibTrans" cxnId="{1EF57B28-4201-40B1-AF50-4ED5FB1D32CA}">
      <dgm:prSet/>
      <dgm:spPr/>
      <dgm:t>
        <a:bodyPr/>
        <a:lstStyle/>
        <a:p>
          <a:endParaRPr lang="en-IN"/>
        </a:p>
      </dgm:t>
    </dgm:pt>
    <dgm:pt modelId="{89B19770-1EBA-46EC-97C7-FD1270BF1870}">
      <dgm:prSet phldrT="[Text]" custT="1"/>
      <dgm:spPr/>
      <dgm:t>
        <a:bodyPr/>
        <a:lstStyle/>
        <a:p>
          <a:r>
            <a:rPr lang="en-IN" sz="1800" b="1">
              <a:latin typeface="Times New Roman" panose="02020603050405020304" pitchFamily="18" charset="0"/>
              <a:cs typeface="Times New Roman" panose="02020603050405020304" pitchFamily="18" charset="0"/>
            </a:rPr>
            <a:t>Feature Selection</a:t>
          </a:r>
          <a:endParaRPr lang="en-IN" sz="1800" b="1" dirty="0">
            <a:latin typeface="Times New Roman" panose="02020603050405020304" pitchFamily="18" charset="0"/>
            <a:cs typeface="Times New Roman" panose="02020603050405020304" pitchFamily="18" charset="0"/>
          </a:endParaRPr>
        </a:p>
      </dgm:t>
    </dgm:pt>
    <dgm:pt modelId="{FF2B3C13-B11A-475E-87C8-CCC571934733}" type="parTrans" cxnId="{8886F972-08C1-42BF-B9C9-0D4671A096DE}">
      <dgm:prSet/>
      <dgm:spPr/>
      <dgm:t>
        <a:bodyPr/>
        <a:lstStyle/>
        <a:p>
          <a:endParaRPr lang="en-IN"/>
        </a:p>
      </dgm:t>
    </dgm:pt>
    <dgm:pt modelId="{784EC261-409E-46ED-91B1-54CF75925441}" type="sibTrans" cxnId="{8886F972-08C1-42BF-B9C9-0D4671A096DE}">
      <dgm:prSet/>
      <dgm:spPr/>
      <dgm:t>
        <a:bodyPr/>
        <a:lstStyle/>
        <a:p>
          <a:endParaRPr lang="en-IN"/>
        </a:p>
      </dgm:t>
    </dgm:pt>
    <dgm:pt modelId="{BD1A03F1-C480-4152-8256-C30FDAAD6CC6}">
      <dgm:prSet phldrT="[Text]" custT="1"/>
      <dgm:spPr/>
      <dgm:t>
        <a:bodyPr/>
        <a:lstStyle/>
        <a:p>
          <a:r>
            <a:rPr lang="en-IN" sz="1800" b="1" dirty="0">
              <a:latin typeface="Times New Roman" panose="02020603050405020304" pitchFamily="18" charset="0"/>
              <a:cs typeface="Times New Roman" panose="02020603050405020304" pitchFamily="18" charset="0"/>
            </a:rPr>
            <a:t>Evaluating the performance using the metric RMSE</a:t>
          </a:r>
        </a:p>
      </dgm:t>
    </dgm:pt>
    <dgm:pt modelId="{0B24265C-9410-4C8B-A4FD-5E6B06142A00}" type="parTrans" cxnId="{0CF30D73-54D5-46EF-9044-736EC1636986}">
      <dgm:prSet/>
      <dgm:spPr/>
      <dgm:t>
        <a:bodyPr/>
        <a:lstStyle/>
        <a:p>
          <a:endParaRPr lang="en-IN"/>
        </a:p>
      </dgm:t>
    </dgm:pt>
    <dgm:pt modelId="{105F2B9A-E36F-4CEA-86DB-AB01DC0EFCF9}" type="sibTrans" cxnId="{0CF30D73-54D5-46EF-9044-736EC1636986}">
      <dgm:prSet/>
      <dgm:spPr/>
      <dgm:t>
        <a:bodyPr/>
        <a:lstStyle/>
        <a:p>
          <a:endParaRPr lang="en-IN"/>
        </a:p>
      </dgm:t>
    </dgm:pt>
    <dgm:pt modelId="{4C68B070-C71E-49A2-A4C5-2CA8352CB68E}" type="pres">
      <dgm:prSet presAssocID="{2CD2DCAC-716D-4C54-B553-676DDFA71A63}" presName="diagram" presStyleCnt="0">
        <dgm:presLayoutVars>
          <dgm:dir/>
          <dgm:resizeHandles val="exact"/>
        </dgm:presLayoutVars>
      </dgm:prSet>
      <dgm:spPr/>
    </dgm:pt>
    <dgm:pt modelId="{7BBF89D5-3522-4D2C-846A-FAFDB8768BD3}" type="pres">
      <dgm:prSet presAssocID="{83651B6D-405B-48D2-95CB-2A2A96A6C534}" presName="node" presStyleLbl="node1" presStyleIdx="0" presStyleCnt="8">
        <dgm:presLayoutVars>
          <dgm:bulletEnabled val="1"/>
        </dgm:presLayoutVars>
      </dgm:prSet>
      <dgm:spPr/>
    </dgm:pt>
    <dgm:pt modelId="{0E87A58C-C713-4BD6-89D9-7684E600B2CA}" type="pres">
      <dgm:prSet presAssocID="{AF0DFF02-19BE-4D6B-8EAE-01968B0EB0CF}" presName="sibTrans" presStyleLbl="sibTrans2D1" presStyleIdx="0" presStyleCnt="7"/>
      <dgm:spPr/>
    </dgm:pt>
    <dgm:pt modelId="{A8AEE6AC-A70F-4CAA-863F-2B686AB449F8}" type="pres">
      <dgm:prSet presAssocID="{AF0DFF02-19BE-4D6B-8EAE-01968B0EB0CF}" presName="connectorText" presStyleLbl="sibTrans2D1" presStyleIdx="0" presStyleCnt="7"/>
      <dgm:spPr/>
    </dgm:pt>
    <dgm:pt modelId="{E6923BA0-931B-4D84-B829-E790F163ED15}" type="pres">
      <dgm:prSet presAssocID="{CCB76CE7-0E1D-4947-AC1F-526ACC37815A}" presName="node" presStyleLbl="node1" presStyleIdx="1" presStyleCnt="8">
        <dgm:presLayoutVars>
          <dgm:bulletEnabled val="1"/>
        </dgm:presLayoutVars>
      </dgm:prSet>
      <dgm:spPr/>
    </dgm:pt>
    <dgm:pt modelId="{A296A947-6BCF-4890-86A1-7B86E31C0A47}" type="pres">
      <dgm:prSet presAssocID="{DB7D7605-FA07-4D59-8057-78A770AFF2BF}" presName="sibTrans" presStyleLbl="sibTrans2D1" presStyleIdx="1" presStyleCnt="7"/>
      <dgm:spPr/>
    </dgm:pt>
    <dgm:pt modelId="{44CBCCAD-A890-4FB9-AD1A-899742BE21F7}" type="pres">
      <dgm:prSet presAssocID="{DB7D7605-FA07-4D59-8057-78A770AFF2BF}" presName="connectorText" presStyleLbl="sibTrans2D1" presStyleIdx="1" presStyleCnt="7"/>
      <dgm:spPr/>
    </dgm:pt>
    <dgm:pt modelId="{C72D875E-73FA-4DAA-8123-04447F8EB741}" type="pres">
      <dgm:prSet presAssocID="{89B19770-1EBA-46EC-97C7-FD1270BF1870}" presName="node" presStyleLbl="node1" presStyleIdx="2" presStyleCnt="8">
        <dgm:presLayoutVars>
          <dgm:bulletEnabled val="1"/>
        </dgm:presLayoutVars>
      </dgm:prSet>
      <dgm:spPr/>
    </dgm:pt>
    <dgm:pt modelId="{F846FFFD-88D4-4633-B1DF-08DD498F8EAC}" type="pres">
      <dgm:prSet presAssocID="{784EC261-409E-46ED-91B1-54CF75925441}" presName="sibTrans" presStyleLbl="sibTrans2D1" presStyleIdx="2" presStyleCnt="7"/>
      <dgm:spPr/>
    </dgm:pt>
    <dgm:pt modelId="{399E33EF-27BC-44C4-B41C-A0004AA9E268}" type="pres">
      <dgm:prSet presAssocID="{784EC261-409E-46ED-91B1-54CF75925441}" presName="connectorText" presStyleLbl="sibTrans2D1" presStyleIdx="2" presStyleCnt="7"/>
      <dgm:spPr/>
    </dgm:pt>
    <dgm:pt modelId="{C5999B1D-60CF-41D7-9862-C25B0855DE19}" type="pres">
      <dgm:prSet presAssocID="{7A7FCA81-4D82-4A7D-B280-5126A83CCA3B}" presName="node" presStyleLbl="node1" presStyleIdx="3" presStyleCnt="8">
        <dgm:presLayoutVars>
          <dgm:bulletEnabled val="1"/>
        </dgm:presLayoutVars>
      </dgm:prSet>
      <dgm:spPr/>
    </dgm:pt>
    <dgm:pt modelId="{7122C7F1-1CD0-4038-813E-FA009D025D32}" type="pres">
      <dgm:prSet presAssocID="{7BF39DE0-4260-4F02-B564-667635E6D926}" presName="sibTrans" presStyleLbl="sibTrans2D1" presStyleIdx="3" presStyleCnt="7"/>
      <dgm:spPr/>
    </dgm:pt>
    <dgm:pt modelId="{DEBC1AF0-0574-4CE9-8D94-D183540A76D1}" type="pres">
      <dgm:prSet presAssocID="{7BF39DE0-4260-4F02-B564-667635E6D926}" presName="connectorText" presStyleLbl="sibTrans2D1" presStyleIdx="3" presStyleCnt="7"/>
      <dgm:spPr/>
    </dgm:pt>
    <dgm:pt modelId="{1700402F-E439-4AFA-97BD-5DF31CA0DBB6}" type="pres">
      <dgm:prSet presAssocID="{EC71159C-9178-402D-86B1-34505319CAA1}" presName="node" presStyleLbl="node1" presStyleIdx="4" presStyleCnt="8">
        <dgm:presLayoutVars>
          <dgm:bulletEnabled val="1"/>
        </dgm:presLayoutVars>
      </dgm:prSet>
      <dgm:spPr/>
    </dgm:pt>
    <dgm:pt modelId="{BC113BA1-43BB-49B5-86CE-62A5F60D7D1F}" type="pres">
      <dgm:prSet presAssocID="{05CE544D-8B2F-4CBC-A65C-D78A5B6CF147}" presName="sibTrans" presStyleLbl="sibTrans2D1" presStyleIdx="4" presStyleCnt="7"/>
      <dgm:spPr/>
    </dgm:pt>
    <dgm:pt modelId="{50072C9A-5602-4532-A834-76B78F9BB390}" type="pres">
      <dgm:prSet presAssocID="{05CE544D-8B2F-4CBC-A65C-D78A5B6CF147}" presName="connectorText" presStyleLbl="sibTrans2D1" presStyleIdx="4" presStyleCnt="7"/>
      <dgm:spPr/>
    </dgm:pt>
    <dgm:pt modelId="{86B8701D-2240-4B95-BC1C-C05A5C48A659}" type="pres">
      <dgm:prSet presAssocID="{FFF0F554-CA78-4CBA-A24C-011BED25D927}" presName="node" presStyleLbl="node1" presStyleIdx="5" presStyleCnt="8">
        <dgm:presLayoutVars>
          <dgm:bulletEnabled val="1"/>
        </dgm:presLayoutVars>
      </dgm:prSet>
      <dgm:spPr/>
    </dgm:pt>
    <dgm:pt modelId="{E4F8724E-502E-4F59-A5B0-096C3DDEEDB5}" type="pres">
      <dgm:prSet presAssocID="{EE9D4892-6484-49F1-9C02-4A1531065E05}" presName="sibTrans" presStyleLbl="sibTrans2D1" presStyleIdx="5" presStyleCnt="7"/>
      <dgm:spPr/>
    </dgm:pt>
    <dgm:pt modelId="{AD449D50-B8BB-49BC-A267-0DF5AFA92DAD}" type="pres">
      <dgm:prSet presAssocID="{EE9D4892-6484-49F1-9C02-4A1531065E05}" presName="connectorText" presStyleLbl="sibTrans2D1" presStyleIdx="5" presStyleCnt="7"/>
      <dgm:spPr/>
    </dgm:pt>
    <dgm:pt modelId="{29317F5E-DA3C-4E63-A7CB-F8404F6C5091}" type="pres">
      <dgm:prSet presAssocID="{549302D6-EE1B-4727-9876-51D7C139C027}" presName="node" presStyleLbl="node1" presStyleIdx="6" presStyleCnt="8">
        <dgm:presLayoutVars>
          <dgm:bulletEnabled val="1"/>
        </dgm:presLayoutVars>
      </dgm:prSet>
      <dgm:spPr/>
    </dgm:pt>
    <dgm:pt modelId="{CE0ECB3B-A873-403A-88BF-20289B7A6A92}" type="pres">
      <dgm:prSet presAssocID="{276A4E4D-7969-4C89-B972-6975099BA643}" presName="sibTrans" presStyleLbl="sibTrans2D1" presStyleIdx="6" presStyleCnt="7"/>
      <dgm:spPr/>
    </dgm:pt>
    <dgm:pt modelId="{20BED130-FF95-45CD-8E05-2CA3F93C565D}" type="pres">
      <dgm:prSet presAssocID="{276A4E4D-7969-4C89-B972-6975099BA643}" presName="connectorText" presStyleLbl="sibTrans2D1" presStyleIdx="6" presStyleCnt="7"/>
      <dgm:spPr/>
    </dgm:pt>
    <dgm:pt modelId="{171C6EA0-B274-4C8F-B7B1-D34B6BC05ACA}" type="pres">
      <dgm:prSet presAssocID="{BD1A03F1-C480-4152-8256-C30FDAAD6CC6}" presName="node" presStyleLbl="node1" presStyleIdx="7" presStyleCnt="8">
        <dgm:presLayoutVars>
          <dgm:bulletEnabled val="1"/>
        </dgm:presLayoutVars>
      </dgm:prSet>
      <dgm:spPr/>
    </dgm:pt>
  </dgm:ptLst>
  <dgm:cxnLst>
    <dgm:cxn modelId="{6711C906-DB6E-49E5-A93B-3066A9AB966D}" type="presOf" srcId="{FFF0F554-CA78-4CBA-A24C-011BED25D927}" destId="{86B8701D-2240-4B95-BC1C-C05A5C48A659}" srcOrd="0" destOrd="0" presId="urn:microsoft.com/office/officeart/2005/8/layout/process5"/>
    <dgm:cxn modelId="{B0F91C13-41DE-4711-BA34-CD49C095DE8B}" type="presOf" srcId="{89B19770-1EBA-46EC-97C7-FD1270BF1870}" destId="{C72D875E-73FA-4DAA-8123-04447F8EB741}" srcOrd="0" destOrd="0" presId="urn:microsoft.com/office/officeart/2005/8/layout/process5"/>
    <dgm:cxn modelId="{5FA80714-8682-408A-973D-7EC8246D6F1F}" type="presOf" srcId="{EE9D4892-6484-49F1-9C02-4A1531065E05}" destId="{AD449D50-B8BB-49BC-A267-0DF5AFA92DAD}" srcOrd="1" destOrd="0" presId="urn:microsoft.com/office/officeart/2005/8/layout/process5"/>
    <dgm:cxn modelId="{82844825-E3CA-47E6-A460-9F81339B7FE1}" type="presOf" srcId="{05CE544D-8B2F-4CBC-A65C-D78A5B6CF147}" destId="{50072C9A-5602-4532-A834-76B78F9BB390}" srcOrd="1" destOrd="0" presId="urn:microsoft.com/office/officeart/2005/8/layout/process5"/>
    <dgm:cxn modelId="{1EF57B28-4201-40B1-AF50-4ED5FB1D32CA}" srcId="{2CD2DCAC-716D-4C54-B553-676DDFA71A63}" destId="{CCB76CE7-0E1D-4947-AC1F-526ACC37815A}" srcOrd="1" destOrd="0" parTransId="{08EC9978-0F46-4566-A9FA-713A27B09C18}" sibTransId="{DB7D7605-FA07-4D59-8057-78A770AFF2BF}"/>
    <dgm:cxn modelId="{EB4DF62C-66B1-499E-A05F-A22186AB75ED}" type="presOf" srcId="{7BF39DE0-4260-4F02-B564-667635E6D926}" destId="{DEBC1AF0-0574-4CE9-8D94-D183540A76D1}" srcOrd="1" destOrd="0" presId="urn:microsoft.com/office/officeart/2005/8/layout/process5"/>
    <dgm:cxn modelId="{7C74CF2E-6FD0-4E68-B54A-A9A4ED7556A7}" type="presOf" srcId="{DB7D7605-FA07-4D59-8057-78A770AFF2BF}" destId="{A296A947-6BCF-4890-86A1-7B86E31C0A47}" srcOrd="0" destOrd="0" presId="urn:microsoft.com/office/officeart/2005/8/layout/process5"/>
    <dgm:cxn modelId="{582BA532-B399-4301-8B52-0F05A8FB8995}" type="presOf" srcId="{7A7FCA81-4D82-4A7D-B280-5126A83CCA3B}" destId="{C5999B1D-60CF-41D7-9862-C25B0855DE19}" srcOrd="0" destOrd="0" presId="urn:microsoft.com/office/officeart/2005/8/layout/process5"/>
    <dgm:cxn modelId="{5C3DB23B-58B7-409D-88A4-3A7A2865E236}" type="presOf" srcId="{784EC261-409E-46ED-91B1-54CF75925441}" destId="{F846FFFD-88D4-4633-B1DF-08DD498F8EAC}" srcOrd="0" destOrd="0" presId="urn:microsoft.com/office/officeart/2005/8/layout/process5"/>
    <dgm:cxn modelId="{78B69948-2074-4177-B058-DBE2EC8535C7}" type="presOf" srcId="{784EC261-409E-46ED-91B1-54CF75925441}" destId="{399E33EF-27BC-44C4-B41C-A0004AA9E268}" srcOrd="1" destOrd="0" presId="urn:microsoft.com/office/officeart/2005/8/layout/process5"/>
    <dgm:cxn modelId="{BC67E16D-A293-460C-93B6-104F1A08D8E8}" type="presOf" srcId="{EC71159C-9178-402D-86B1-34505319CAA1}" destId="{1700402F-E439-4AFA-97BD-5DF31CA0DBB6}" srcOrd="0" destOrd="0" presId="urn:microsoft.com/office/officeart/2005/8/layout/process5"/>
    <dgm:cxn modelId="{8886F972-08C1-42BF-B9C9-0D4671A096DE}" srcId="{2CD2DCAC-716D-4C54-B553-676DDFA71A63}" destId="{89B19770-1EBA-46EC-97C7-FD1270BF1870}" srcOrd="2" destOrd="0" parTransId="{FF2B3C13-B11A-475E-87C8-CCC571934733}" sibTransId="{784EC261-409E-46ED-91B1-54CF75925441}"/>
    <dgm:cxn modelId="{0CF30D73-54D5-46EF-9044-736EC1636986}" srcId="{2CD2DCAC-716D-4C54-B553-676DDFA71A63}" destId="{BD1A03F1-C480-4152-8256-C30FDAAD6CC6}" srcOrd="7" destOrd="0" parTransId="{0B24265C-9410-4C8B-A4FD-5E6B06142A00}" sibTransId="{105F2B9A-E36F-4CEA-86DB-AB01DC0EFCF9}"/>
    <dgm:cxn modelId="{F2FABD57-6CFB-463A-8F0F-2B9FC519A7D0}" type="presOf" srcId="{DB7D7605-FA07-4D59-8057-78A770AFF2BF}" destId="{44CBCCAD-A890-4FB9-AD1A-899742BE21F7}" srcOrd="1" destOrd="0" presId="urn:microsoft.com/office/officeart/2005/8/layout/process5"/>
    <dgm:cxn modelId="{ADAA177B-0BEB-49C8-B9FC-15B2A05566F5}" type="presOf" srcId="{2CD2DCAC-716D-4C54-B553-676DDFA71A63}" destId="{4C68B070-C71E-49A2-A4C5-2CA8352CB68E}" srcOrd="0" destOrd="0" presId="urn:microsoft.com/office/officeart/2005/8/layout/process5"/>
    <dgm:cxn modelId="{2F8EEA83-A19F-48C6-8752-E9F4073EDF5F}" srcId="{2CD2DCAC-716D-4C54-B553-676DDFA71A63}" destId="{7A7FCA81-4D82-4A7D-B280-5126A83CCA3B}" srcOrd="3" destOrd="0" parTransId="{127B7731-87E1-4D19-AE10-04E635EB82D4}" sibTransId="{7BF39DE0-4260-4F02-B564-667635E6D926}"/>
    <dgm:cxn modelId="{4E605685-FAAD-4091-A08B-687A86E4122F}" type="presOf" srcId="{EE9D4892-6484-49F1-9C02-4A1531065E05}" destId="{E4F8724E-502E-4F59-A5B0-096C3DDEEDB5}" srcOrd="0" destOrd="0" presId="urn:microsoft.com/office/officeart/2005/8/layout/process5"/>
    <dgm:cxn modelId="{AE049788-7F5A-4847-B1BC-4923816DC13B}" srcId="{2CD2DCAC-716D-4C54-B553-676DDFA71A63}" destId="{549302D6-EE1B-4727-9876-51D7C139C027}" srcOrd="6" destOrd="0" parTransId="{395F29B7-E5FD-49CF-A946-A5D02C505903}" sibTransId="{276A4E4D-7969-4C89-B972-6975099BA643}"/>
    <dgm:cxn modelId="{72E21C93-AECB-488A-9B8B-BA310F1FDAC4}" type="presOf" srcId="{AF0DFF02-19BE-4D6B-8EAE-01968B0EB0CF}" destId="{A8AEE6AC-A70F-4CAA-863F-2B686AB449F8}" srcOrd="1" destOrd="0" presId="urn:microsoft.com/office/officeart/2005/8/layout/process5"/>
    <dgm:cxn modelId="{F34EA6A1-AF96-45F8-BF8B-C93FC1F5DB93}" srcId="{2CD2DCAC-716D-4C54-B553-676DDFA71A63}" destId="{EC71159C-9178-402D-86B1-34505319CAA1}" srcOrd="4" destOrd="0" parTransId="{EE3C363A-1B62-4E74-975A-D71A1D2B8697}" sibTransId="{05CE544D-8B2F-4CBC-A65C-D78A5B6CF147}"/>
    <dgm:cxn modelId="{C83EFBA1-B5A8-46C2-B5BA-E22AAC16BDAA}" type="presOf" srcId="{BD1A03F1-C480-4152-8256-C30FDAAD6CC6}" destId="{171C6EA0-B274-4C8F-B7B1-D34B6BC05ACA}" srcOrd="0" destOrd="0" presId="urn:microsoft.com/office/officeart/2005/8/layout/process5"/>
    <dgm:cxn modelId="{B56EE2B0-D73F-4863-BD5B-7ADB2B968261}" type="presOf" srcId="{CCB76CE7-0E1D-4947-AC1F-526ACC37815A}" destId="{E6923BA0-931B-4D84-B829-E790F163ED15}" srcOrd="0" destOrd="0" presId="urn:microsoft.com/office/officeart/2005/8/layout/process5"/>
    <dgm:cxn modelId="{C60904B7-1BD1-4390-98A8-C76949284AC3}" type="presOf" srcId="{7BF39DE0-4260-4F02-B564-667635E6D926}" destId="{7122C7F1-1CD0-4038-813E-FA009D025D32}" srcOrd="0" destOrd="0" presId="urn:microsoft.com/office/officeart/2005/8/layout/process5"/>
    <dgm:cxn modelId="{9D71AEBC-F829-4273-B3F4-3373F8BB5C4F}" type="presOf" srcId="{83651B6D-405B-48D2-95CB-2A2A96A6C534}" destId="{7BBF89D5-3522-4D2C-846A-FAFDB8768BD3}" srcOrd="0" destOrd="0" presId="urn:microsoft.com/office/officeart/2005/8/layout/process5"/>
    <dgm:cxn modelId="{FB38B2BE-2047-4546-974E-67FE40432C21}" type="presOf" srcId="{549302D6-EE1B-4727-9876-51D7C139C027}" destId="{29317F5E-DA3C-4E63-A7CB-F8404F6C5091}" srcOrd="0" destOrd="0" presId="urn:microsoft.com/office/officeart/2005/8/layout/process5"/>
    <dgm:cxn modelId="{178900C7-9561-41FF-B0AB-336F252E4D2D}" type="presOf" srcId="{276A4E4D-7969-4C89-B972-6975099BA643}" destId="{CE0ECB3B-A873-403A-88BF-20289B7A6A92}" srcOrd="0" destOrd="0" presId="urn:microsoft.com/office/officeart/2005/8/layout/process5"/>
    <dgm:cxn modelId="{1CC816D4-5254-4C46-82C0-7DA6F062055B}" type="presOf" srcId="{05CE544D-8B2F-4CBC-A65C-D78A5B6CF147}" destId="{BC113BA1-43BB-49B5-86CE-62A5F60D7D1F}" srcOrd="0" destOrd="0" presId="urn:microsoft.com/office/officeart/2005/8/layout/process5"/>
    <dgm:cxn modelId="{A70FEAEC-ECE0-4ADF-8704-1C02E265F3EA}" srcId="{2CD2DCAC-716D-4C54-B553-676DDFA71A63}" destId="{83651B6D-405B-48D2-95CB-2A2A96A6C534}" srcOrd="0" destOrd="0" parTransId="{ED3FE831-FFF3-4150-B831-C0E19952F623}" sibTransId="{AF0DFF02-19BE-4D6B-8EAE-01968B0EB0CF}"/>
    <dgm:cxn modelId="{502DC0FB-0171-4CFD-B4D1-17C55F02FEF2}" type="presOf" srcId="{AF0DFF02-19BE-4D6B-8EAE-01968B0EB0CF}" destId="{0E87A58C-C713-4BD6-89D9-7684E600B2CA}" srcOrd="0" destOrd="0" presId="urn:microsoft.com/office/officeart/2005/8/layout/process5"/>
    <dgm:cxn modelId="{53C6E8FB-9278-48EB-980C-973251498DE9}" srcId="{2CD2DCAC-716D-4C54-B553-676DDFA71A63}" destId="{FFF0F554-CA78-4CBA-A24C-011BED25D927}" srcOrd="5" destOrd="0" parTransId="{03DC45E5-27C2-4EC1-A87B-C50BB88957F0}" sibTransId="{EE9D4892-6484-49F1-9C02-4A1531065E05}"/>
    <dgm:cxn modelId="{0A465DFC-13DF-4964-B64B-A26612FB9066}" type="presOf" srcId="{276A4E4D-7969-4C89-B972-6975099BA643}" destId="{20BED130-FF95-45CD-8E05-2CA3F93C565D}" srcOrd="1" destOrd="0" presId="urn:microsoft.com/office/officeart/2005/8/layout/process5"/>
    <dgm:cxn modelId="{C4E16A96-0663-4DFA-8A79-E68E1242ACAA}" type="presParOf" srcId="{4C68B070-C71E-49A2-A4C5-2CA8352CB68E}" destId="{7BBF89D5-3522-4D2C-846A-FAFDB8768BD3}" srcOrd="0" destOrd="0" presId="urn:microsoft.com/office/officeart/2005/8/layout/process5"/>
    <dgm:cxn modelId="{6F8E41EE-53F6-48F2-B082-A5CEDFC3B909}" type="presParOf" srcId="{4C68B070-C71E-49A2-A4C5-2CA8352CB68E}" destId="{0E87A58C-C713-4BD6-89D9-7684E600B2CA}" srcOrd="1" destOrd="0" presId="urn:microsoft.com/office/officeart/2005/8/layout/process5"/>
    <dgm:cxn modelId="{10A95E3D-4B81-4958-B7CE-23A545B7D390}" type="presParOf" srcId="{0E87A58C-C713-4BD6-89D9-7684E600B2CA}" destId="{A8AEE6AC-A70F-4CAA-863F-2B686AB449F8}" srcOrd="0" destOrd="0" presId="urn:microsoft.com/office/officeart/2005/8/layout/process5"/>
    <dgm:cxn modelId="{11A2FDAC-A0AB-45AC-A6A2-45AC92FB0611}" type="presParOf" srcId="{4C68B070-C71E-49A2-A4C5-2CA8352CB68E}" destId="{E6923BA0-931B-4D84-B829-E790F163ED15}" srcOrd="2" destOrd="0" presId="urn:microsoft.com/office/officeart/2005/8/layout/process5"/>
    <dgm:cxn modelId="{3013D297-7102-4334-87DF-FFDE301EFF62}" type="presParOf" srcId="{4C68B070-C71E-49A2-A4C5-2CA8352CB68E}" destId="{A296A947-6BCF-4890-86A1-7B86E31C0A47}" srcOrd="3" destOrd="0" presId="urn:microsoft.com/office/officeart/2005/8/layout/process5"/>
    <dgm:cxn modelId="{C16A82C4-0F65-4FF5-B04A-0FC4428F1C67}" type="presParOf" srcId="{A296A947-6BCF-4890-86A1-7B86E31C0A47}" destId="{44CBCCAD-A890-4FB9-AD1A-899742BE21F7}" srcOrd="0" destOrd="0" presId="urn:microsoft.com/office/officeart/2005/8/layout/process5"/>
    <dgm:cxn modelId="{9737AD7B-6695-45CB-A2DE-1A95BAFF0992}" type="presParOf" srcId="{4C68B070-C71E-49A2-A4C5-2CA8352CB68E}" destId="{C72D875E-73FA-4DAA-8123-04447F8EB741}" srcOrd="4" destOrd="0" presId="urn:microsoft.com/office/officeart/2005/8/layout/process5"/>
    <dgm:cxn modelId="{5391F669-0A2A-445B-ABE5-E5D2A7D222EB}" type="presParOf" srcId="{4C68B070-C71E-49A2-A4C5-2CA8352CB68E}" destId="{F846FFFD-88D4-4633-B1DF-08DD498F8EAC}" srcOrd="5" destOrd="0" presId="urn:microsoft.com/office/officeart/2005/8/layout/process5"/>
    <dgm:cxn modelId="{4EC39665-BE79-422E-9A07-9ADACF171129}" type="presParOf" srcId="{F846FFFD-88D4-4633-B1DF-08DD498F8EAC}" destId="{399E33EF-27BC-44C4-B41C-A0004AA9E268}" srcOrd="0" destOrd="0" presId="urn:microsoft.com/office/officeart/2005/8/layout/process5"/>
    <dgm:cxn modelId="{E929561A-E7FB-4C9A-8954-1DBF7579C2F1}" type="presParOf" srcId="{4C68B070-C71E-49A2-A4C5-2CA8352CB68E}" destId="{C5999B1D-60CF-41D7-9862-C25B0855DE19}" srcOrd="6" destOrd="0" presId="urn:microsoft.com/office/officeart/2005/8/layout/process5"/>
    <dgm:cxn modelId="{495B74AF-7F6B-4B9F-992D-843D86731808}" type="presParOf" srcId="{4C68B070-C71E-49A2-A4C5-2CA8352CB68E}" destId="{7122C7F1-1CD0-4038-813E-FA009D025D32}" srcOrd="7" destOrd="0" presId="urn:microsoft.com/office/officeart/2005/8/layout/process5"/>
    <dgm:cxn modelId="{2D784EE2-1148-4E84-8EF2-50923D9F1179}" type="presParOf" srcId="{7122C7F1-1CD0-4038-813E-FA009D025D32}" destId="{DEBC1AF0-0574-4CE9-8D94-D183540A76D1}" srcOrd="0" destOrd="0" presId="urn:microsoft.com/office/officeart/2005/8/layout/process5"/>
    <dgm:cxn modelId="{70E87581-FDF4-44EC-B915-FA2DD9DD2152}" type="presParOf" srcId="{4C68B070-C71E-49A2-A4C5-2CA8352CB68E}" destId="{1700402F-E439-4AFA-97BD-5DF31CA0DBB6}" srcOrd="8" destOrd="0" presId="urn:microsoft.com/office/officeart/2005/8/layout/process5"/>
    <dgm:cxn modelId="{62B51282-CBDE-4774-BA40-A8AD5BD0A8EF}" type="presParOf" srcId="{4C68B070-C71E-49A2-A4C5-2CA8352CB68E}" destId="{BC113BA1-43BB-49B5-86CE-62A5F60D7D1F}" srcOrd="9" destOrd="0" presId="urn:microsoft.com/office/officeart/2005/8/layout/process5"/>
    <dgm:cxn modelId="{00CBEB9B-4CD9-421C-8437-9C192BCFD662}" type="presParOf" srcId="{BC113BA1-43BB-49B5-86CE-62A5F60D7D1F}" destId="{50072C9A-5602-4532-A834-76B78F9BB390}" srcOrd="0" destOrd="0" presId="urn:microsoft.com/office/officeart/2005/8/layout/process5"/>
    <dgm:cxn modelId="{347B2D6D-5D7B-4855-BF26-C0ADA8494DC3}" type="presParOf" srcId="{4C68B070-C71E-49A2-A4C5-2CA8352CB68E}" destId="{86B8701D-2240-4B95-BC1C-C05A5C48A659}" srcOrd="10" destOrd="0" presId="urn:microsoft.com/office/officeart/2005/8/layout/process5"/>
    <dgm:cxn modelId="{4B5DA185-F4E6-4F90-80E8-308AED3A9F68}" type="presParOf" srcId="{4C68B070-C71E-49A2-A4C5-2CA8352CB68E}" destId="{E4F8724E-502E-4F59-A5B0-096C3DDEEDB5}" srcOrd="11" destOrd="0" presId="urn:microsoft.com/office/officeart/2005/8/layout/process5"/>
    <dgm:cxn modelId="{1FEAE93D-7966-4AC5-9303-A9B755D476A8}" type="presParOf" srcId="{E4F8724E-502E-4F59-A5B0-096C3DDEEDB5}" destId="{AD449D50-B8BB-49BC-A267-0DF5AFA92DAD}" srcOrd="0" destOrd="0" presId="urn:microsoft.com/office/officeart/2005/8/layout/process5"/>
    <dgm:cxn modelId="{709D0CC4-814C-46CC-B90A-86242F21CB1F}" type="presParOf" srcId="{4C68B070-C71E-49A2-A4C5-2CA8352CB68E}" destId="{29317F5E-DA3C-4E63-A7CB-F8404F6C5091}" srcOrd="12" destOrd="0" presId="urn:microsoft.com/office/officeart/2005/8/layout/process5"/>
    <dgm:cxn modelId="{3EAC2972-6397-4564-AEEB-55CAEA93B779}" type="presParOf" srcId="{4C68B070-C71E-49A2-A4C5-2CA8352CB68E}" destId="{CE0ECB3B-A873-403A-88BF-20289B7A6A92}" srcOrd="13" destOrd="0" presId="urn:microsoft.com/office/officeart/2005/8/layout/process5"/>
    <dgm:cxn modelId="{49E53CB4-F389-41DE-8CC2-C3417C68E894}" type="presParOf" srcId="{CE0ECB3B-A873-403A-88BF-20289B7A6A92}" destId="{20BED130-FF95-45CD-8E05-2CA3F93C565D}" srcOrd="0" destOrd="0" presId="urn:microsoft.com/office/officeart/2005/8/layout/process5"/>
    <dgm:cxn modelId="{8621004B-AE95-48F1-B792-F693228D5247}" type="presParOf" srcId="{4C68B070-C71E-49A2-A4C5-2CA8352CB68E}" destId="{171C6EA0-B274-4C8F-B7B1-D34B6BC05ACA}"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5C0876-C2F2-419C-B96A-CDBD9468BDE7}" type="doc">
      <dgm:prSet loTypeId="urn:microsoft.com/office/officeart/2005/8/layout/process5" loCatId="process" qsTypeId="urn:microsoft.com/office/officeart/2005/8/quickstyle/3d3" qsCatId="3D" csTypeId="urn:microsoft.com/office/officeart/2005/8/colors/accent0_3" csCatId="mainScheme" phldr="1"/>
      <dgm:spPr/>
      <dgm:t>
        <a:bodyPr/>
        <a:lstStyle/>
        <a:p>
          <a:endParaRPr lang="en-IN"/>
        </a:p>
      </dgm:t>
    </dgm:pt>
    <dgm:pt modelId="{14BDDDFB-7F2F-40C6-93BF-017AEFAF7AE1}">
      <dgm:prSet phldrT="[Text]" custT="1"/>
      <dgm:spPr/>
      <dgm:t>
        <a:bodyPr/>
        <a:lstStyle/>
        <a:p>
          <a:r>
            <a:rPr lang="en-IN" sz="2000" b="1" dirty="0">
              <a:latin typeface="Times New Roman" panose="02020603050405020304" pitchFamily="18" charset="0"/>
              <a:cs typeface="Times New Roman" panose="02020603050405020304" pitchFamily="18" charset="0"/>
            </a:rPr>
            <a:t>Load Flood Dataset</a:t>
          </a:r>
        </a:p>
      </dgm:t>
    </dgm:pt>
    <dgm:pt modelId="{18E23C61-B3CF-4BB4-A242-331BD3C9E14C}" type="parTrans" cxnId="{0D83A195-9B4E-4075-804B-5A695B011499}">
      <dgm:prSet/>
      <dgm:spPr/>
      <dgm:t>
        <a:bodyPr/>
        <a:lstStyle/>
        <a:p>
          <a:endParaRPr lang="en-IN" b="1"/>
        </a:p>
      </dgm:t>
    </dgm:pt>
    <dgm:pt modelId="{0E28EC7E-F3EE-4A5A-B2E6-4265F363ED69}" type="sibTrans" cxnId="{0D83A195-9B4E-4075-804B-5A695B011499}">
      <dgm:prSet/>
      <dgm:spPr/>
      <dgm:t>
        <a:bodyPr/>
        <a:lstStyle/>
        <a:p>
          <a:endParaRPr lang="en-IN" b="1"/>
        </a:p>
      </dgm:t>
    </dgm:pt>
    <dgm:pt modelId="{4FDCAFA5-2BDB-46CF-8109-DFD66FDDC6B1}">
      <dgm:prSet phldrT="[Text]" custT="1"/>
      <dgm:spPr/>
      <dgm:t>
        <a:bodyPr/>
        <a:lstStyle/>
        <a:p>
          <a:r>
            <a:rPr lang="en-IN" sz="2000" b="1" dirty="0">
              <a:latin typeface="Times New Roman" panose="02020603050405020304" pitchFamily="18" charset="0"/>
              <a:cs typeface="Times New Roman" panose="02020603050405020304" pitchFamily="18" charset="0"/>
            </a:rPr>
            <a:t>Importing Necessary Libraries</a:t>
          </a:r>
        </a:p>
      </dgm:t>
    </dgm:pt>
    <dgm:pt modelId="{A9B5589F-87C8-4C58-A57C-1F495159FF82}" type="parTrans" cxnId="{6E40FBCB-A22E-4066-AAA2-C0E750454F28}">
      <dgm:prSet/>
      <dgm:spPr/>
      <dgm:t>
        <a:bodyPr/>
        <a:lstStyle/>
        <a:p>
          <a:endParaRPr lang="en-IN" b="1"/>
        </a:p>
      </dgm:t>
    </dgm:pt>
    <dgm:pt modelId="{C42B1352-3A05-41C5-BBB4-71DB2BB795BA}" type="sibTrans" cxnId="{6E40FBCB-A22E-4066-AAA2-C0E750454F28}">
      <dgm:prSet/>
      <dgm:spPr/>
      <dgm:t>
        <a:bodyPr/>
        <a:lstStyle/>
        <a:p>
          <a:endParaRPr lang="en-IN" b="1"/>
        </a:p>
      </dgm:t>
    </dgm:pt>
    <dgm:pt modelId="{1B94E174-2819-400E-B6B0-959572AAFF58}">
      <dgm:prSet phldrT="[Text]" custT="1"/>
      <dgm:spPr/>
      <dgm:t>
        <a:bodyPr/>
        <a:lstStyle/>
        <a:p>
          <a:r>
            <a:rPr lang="en-IN" sz="2000" b="1" dirty="0">
              <a:latin typeface="Times New Roman" panose="02020603050405020304" pitchFamily="18" charset="0"/>
              <a:cs typeface="Times New Roman" panose="02020603050405020304" pitchFamily="18" charset="0"/>
            </a:rPr>
            <a:t>Data Preprocessing</a:t>
          </a:r>
        </a:p>
      </dgm:t>
    </dgm:pt>
    <dgm:pt modelId="{A628D95F-824F-40D4-A783-DDD637927870}" type="parTrans" cxnId="{FECB840E-4F9B-414E-8535-728F2391DA13}">
      <dgm:prSet/>
      <dgm:spPr/>
      <dgm:t>
        <a:bodyPr/>
        <a:lstStyle/>
        <a:p>
          <a:endParaRPr lang="en-IN" b="1"/>
        </a:p>
      </dgm:t>
    </dgm:pt>
    <dgm:pt modelId="{AAE3D600-A556-4403-9055-19537511211C}" type="sibTrans" cxnId="{FECB840E-4F9B-414E-8535-728F2391DA13}">
      <dgm:prSet/>
      <dgm:spPr/>
      <dgm:t>
        <a:bodyPr/>
        <a:lstStyle/>
        <a:p>
          <a:endParaRPr lang="en-IN" b="1"/>
        </a:p>
      </dgm:t>
    </dgm:pt>
    <dgm:pt modelId="{FEE8659C-4606-42D5-BF0D-963CD7C1EDB7}">
      <dgm:prSet phldrT="[Text]" custT="1"/>
      <dgm:spPr/>
      <dgm:t>
        <a:bodyPr/>
        <a:lstStyle/>
        <a:p>
          <a:r>
            <a:rPr lang="en-IN" sz="2000" b="1" dirty="0">
              <a:latin typeface="Times New Roman" panose="02020603050405020304" pitchFamily="18" charset="0"/>
              <a:cs typeface="Times New Roman" panose="02020603050405020304" pitchFamily="18" charset="0"/>
            </a:rPr>
            <a:t>Feature Selection</a:t>
          </a:r>
        </a:p>
      </dgm:t>
    </dgm:pt>
    <dgm:pt modelId="{703AF2BD-9EF1-4EC2-99C2-B9F0BC8670F9}" type="parTrans" cxnId="{1B109894-01D0-43B1-908E-499AB1B852D7}">
      <dgm:prSet/>
      <dgm:spPr/>
      <dgm:t>
        <a:bodyPr/>
        <a:lstStyle/>
        <a:p>
          <a:endParaRPr lang="en-IN" b="1"/>
        </a:p>
      </dgm:t>
    </dgm:pt>
    <dgm:pt modelId="{8D480CED-A277-4723-B24B-375BE1492FF0}" type="sibTrans" cxnId="{1B109894-01D0-43B1-908E-499AB1B852D7}">
      <dgm:prSet/>
      <dgm:spPr/>
      <dgm:t>
        <a:bodyPr/>
        <a:lstStyle/>
        <a:p>
          <a:endParaRPr lang="en-IN" b="1"/>
        </a:p>
      </dgm:t>
    </dgm:pt>
    <dgm:pt modelId="{AE0450BD-A5F3-47C6-9EE6-B40592261DF3}">
      <dgm:prSet phldrT="[Text]" custT="1"/>
      <dgm:spPr/>
      <dgm:t>
        <a:bodyPr/>
        <a:lstStyle/>
        <a:p>
          <a:r>
            <a:rPr lang="en-IN" sz="2000" b="1" dirty="0">
              <a:latin typeface="Times New Roman" panose="02020603050405020304" pitchFamily="18" charset="0"/>
              <a:cs typeface="Times New Roman" panose="02020603050405020304" pitchFamily="18" charset="0"/>
            </a:rPr>
            <a:t>Splitting the data into training and testing set</a:t>
          </a:r>
        </a:p>
      </dgm:t>
    </dgm:pt>
    <dgm:pt modelId="{00F308B0-1C83-42E3-80AF-86BB7DBF477C}" type="parTrans" cxnId="{62EFB151-6FB9-42F9-8DC5-61574833C605}">
      <dgm:prSet/>
      <dgm:spPr/>
      <dgm:t>
        <a:bodyPr/>
        <a:lstStyle/>
        <a:p>
          <a:endParaRPr lang="en-IN" b="1"/>
        </a:p>
      </dgm:t>
    </dgm:pt>
    <dgm:pt modelId="{8FF4E7C0-42C0-475D-9EBA-18699CD7B549}" type="sibTrans" cxnId="{62EFB151-6FB9-42F9-8DC5-61574833C605}">
      <dgm:prSet/>
      <dgm:spPr/>
      <dgm:t>
        <a:bodyPr/>
        <a:lstStyle/>
        <a:p>
          <a:endParaRPr lang="en-IN" b="1"/>
        </a:p>
      </dgm:t>
    </dgm:pt>
    <dgm:pt modelId="{35F1B3F6-C6CD-476E-B8B4-BA8A3637AD9C}">
      <dgm:prSet phldrT="[Text]" custT="1"/>
      <dgm:spPr/>
      <dgm:t>
        <a:bodyPr/>
        <a:lstStyle/>
        <a:p>
          <a:r>
            <a:rPr lang="en-IN" sz="2000" b="1" dirty="0">
              <a:latin typeface="Times New Roman" panose="02020603050405020304" pitchFamily="18" charset="0"/>
              <a:cs typeface="Times New Roman" panose="02020603050405020304" pitchFamily="18" charset="0"/>
            </a:rPr>
            <a:t>Applying the LSTM Model</a:t>
          </a:r>
        </a:p>
      </dgm:t>
    </dgm:pt>
    <dgm:pt modelId="{5BDAEA5A-9FEF-43B7-BF41-6B80585C9CB8}" type="parTrans" cxnId="{047E0D17-B2F8-4AFC-BC29-4B81D28A32D3}">
      <dgm:prSet/>
      <dgm:spPr/>
      <dgm:t>
        <a:bodyPr/>
        <a:lstStyle/>
        <a:p>
          <a:endParaRPr lang="en-IN" b="1"/>
        </a:p>
      </dgm:t>
    </dgm:pt>
    <dgm:pt modelId="{16EB1C4A-5177-4C6D-B1B5-3C9382152DAF}" type="sibTrans" cxnId="{047E0D17-B2F8-4AFC-BC29-4B81D28A32D3}">
      <dgm:prSet/>
      <dgm:spPr/>
      <dgm:t>
        <a:bodyPr/>
        <a:lstStyle/>
        <a:p>
          <a:endParaRPr lang="en-IN" b="1"/>
        </a:p>
      </dgm:t>
    </dgm:pt>
    <dgm:pt modelId="{4AA0A7E4-CEC4-4901-8DCB-9E42136DE56F}">
      <dgm:prSet phldrT="[Text]" custT="1"/>
      <dgm:spPr/>
      <dgm:t>
        <a:bodyPr/>
        <a:lstStyle/>
        <a:p>
          <a:r>
            <a:rPr lang="en-IN" sz="2000" b="1" dirty="0">
              <a:latin typeface="Times New Roman" panose="02020603050405020304" pitchFamily="18" charset="0"/>
              <a:cs typeface="Times New Roman" panose="02020603050405020304" pitchFamily="18" charset="0"/>
            </a:rPr>
            <a:t>Training the model</a:t>
          </a:r>
        </a:p>
      </dgm:t>
    </dgm:pt>
    <dgm:pt modelId="{8D0181F7-B105-405C-B552-2EC2D0C7B29C}" type="parTrans" cxnId="{FD2C3BDE-22F6-40A4-BCD5-41DC8239213E}">
      <dgm:prSet/>
      <dgm:spPr/>
      <dgm:t>
        <a:bodyPr/>
        <a:lstStyle/>
        <a:p>
          <a:endParaRPr lang="en-IN" b="1"/>
        </a:p>
      </dgm:t>
    </dgm:pt>
    <dgm:pt modelId="{6757CE7E-1A27-4D01-9365-B99362E528BD}" type="sibTrans" cxnId="{FD2C3BDE-22F6-40A4-BCD5-41DC8239213E}">
      <dgm:prSet/>
      <dgm:spPr/>
      <dgm:t>
        <a:bodyPr/>
        <a:lstStyle/>
        <a:p>
          <a:endParaRPr lang="en-IN" b="1"/>
        </a:p>
      </dgm:t>
    </dgm:pt>
    <dgm:pt modelId="{1FE9B66E-DDD6-467F-818E-A2801393D748}">
      <dgm:prSet phldrT="[Text]" custT="1"/>
      <dgm:spPr/>
      <dgm:t>
        <a:bodyPr/>
        <a:lstStyle/>
        <a:p>
          <a:r>
            <a:rPr lang="en-IN" sz="2000" b="1" dirty="0">
              <a:latin typeface="Times New Roman" panose="02020603050405020304" pitchFamily="18" charset="0"/>
              <a:cs typeface="Times New Roman" panose="02020603050405020304" pitchFamily="18" charset="0"/>
            </a:rPr>
            <a:t>Evaluate the performance using the metric RMSE</a:t>
          </a:r>
        </a:p>
      </dgm:t>
    </dgm:pt>
    <dgm:pt modelId="{03DA90AA-012F-48AD-B533-41A0FD744045}" type="parTrans" cxnId="{A6CD8CC3-BC82-42C2-92D5-40FE9B39547B}">
      <dgm:prSet/>
      <dgm:spPr/>
      <dgm:t>
        <a:bodyPr/>
        <a:lstStyle/>
        <a:p>
          <a:endParaRPr lang="en-IN" b="1"/>
        </a:p>
      </dgm:t>
    </dgm:pt>
    <dgm:pt modelId="{72D2D4E0-95B7-4AD9-9823-04A392919280}" type="sibTrans" cxnId="{A6CD8CC3-BC82-42C2-92D5-40FE9B39547B}">
      <dgm:prSet/>
      <dgm:spPr/>
      <dgm:t>
        <a:bodyPr/>
        <a:lstStyle/>
        <a:p>
          <a:endParaRPr lang="en-IN" b="1"/>
        </a:p>
      </dgm:t>
    </dgm:pt>
    <dgm:pt modelId="{F6BB4070-E646-445B-8A68-21232F6B2229}" type="pres">
      <dgm:prSet presAssocID="{0B5C0876-C2F2-419C-B96A-CDBD9468BDE7}" presName="diagram" presStyleCnt="0">
        <dgm:presLayoutVars>
          <dgm:dir/>
          <dgm:resizeHandles val="exact"/>
        </dgm:presLayoutVars>
      </dgm:prSet>
      <dgm:spPr/>
    </dgm:pt>
    <dgm:pt modelId="{2C875D56-938E-42A2-87C1-5ACD36BE55BA}" type="pres">
      <dgm:prSet presAssocID="{14BDDDFB-7F2F-40C6-93BF-017AEFAF7AE1}" presName="node" presStyleLbl="node1" presStyleIdx="0" presStyleCnt="8">
        <dgm:presLayoutVars>
          <dgm:bulletEnabled val="1"/>
        </dgm:presLayoutVars>
      </dgm:prSet>
      <dgm:spPr/>
    </dgm:pt>
    <dgm:pt modelId="{B53EC692-7EEE-49EB-A0D0-AA1033B9A71B}" type="pres">
      <dgm:prSet presAssocID="{0E28EC7E-F3EE-4A5A-B2E6-4265F363ED69}" presName="sibTrans" presStyleLbl="sibTrans2D1" presStyleIdx="0" presStyleCnt="7"/>
      <dgm:spPr/>
    </dgm:pt>
    <dgm:pt modelId="{14E70F51-3016-4DCB-A69E-C35E293459A6}" type="pres">
      <dgm:prSet presAssocID="{0E28EC7E-F3EE-4A5A-B2E6-4265F363ED69}" presName="connectorText" presStyleLbl="sibTrans2D1" presStyleIdx="0" presStyleCnt="7"/>
      <dgm:spPr/>
    </dgm:pt>
    <dgm:pt modelId="{51ADBE92-1716-49A1-BF62-A1AFE0AAE12A}" type="pres">
      <dgm:prSet presAssocID="{4FDCAFA5-2BDB-46CF-8109-DFD66FDDC6B1}" presName="node" presStyleLbl="node1" presStyleIdx="1" presStyleCnt="8">
        <dgm:presLayoutVars>
          <dgm:bulletEnabled val="1"/>
        </dgm:presLayoutVars>
      </dgm:prSet>
      <dgm:spPr/>
    </dgm:pt>
    <dgm:pt modelId="{E2EFDD20-836E-4118-93CC-0400359035FF}" type="pres">
      <dgm:prSet presAssocID="{C42B1352-3A05-41C5-BBB4-71DB2BB795BA}" presName="sibTrans" presStyleLbl="sibTrans2D1" presStyleIdx="1" presStyleCnt="7"/>
      <dgm:spPr/>
    </dgm:pt>
    <dgm:pt modelId="{D1F9B94C-25F0-4ABE-8F89-65A170B33CB6}" type="pres">
      <dgm:prSet presAssocID="{C42B1352-3A05-41C5-BBB4-71DB2BB795BA}" presName="connectorText" presStyleLbl="sibTrans2D1" presStyleIdx="1" presStyleCnt="7"/>
      <dgm:spPr/>
    </dgm:pt>
    <dgm:pt modelId="{69CDE70F-605B-4563-AD48-53B32836916D}" type="pres">
      <dgm:prSet presAssocID="{1B94E174-2819-400E-B6B0-959572AAFF58}" presName="node" presStyleLbl="node1" presStyleIdx="2" presStyleCnt="8">
        <dgm:presLayoutVars>
          <dgm:bulletEnabled val="1"/>
        </dgm:presLayoutVars>
      </dgm:prSet>
      <dgm:spPr/>
    </dgm:pt>
    <dgm:pt modelId="{099C743D-320F-4876-8A27-7B574421F912}" type="pres">
      <dgm:prSet presAssocID="{AAE3D600-A556-4403-9055-19537511211C}" presName="sibTrans" presStyleLbl="sibTrans2D1" presStyleIdx="2" presStyleCnt="7"/>
      <dgm:spPr/>
    </dgm:pt>
    <dgm:pt modelId="{53EAC06C-A913-4D27-B3AB-88B959D5F58A}" type="pres">
      <dgm:prSet presAssocID="{AAE3D600-A556-4403-9055-19537511211C}" presName="connectorText" presStyleLbl="sibTrans2D1" presStyleIdx="2" presStyleCnt="7"/>
      <dgm:spPr/>
    </dgm:pt>
    <dgm:pt modelId="{2106B86E-2822-4F57-957B-A359920B55A0}" type="pres">
      <dgm:prSet presAssocID="{FEE8659C-4606-42D5-BF0D-963CD7C1EDB7}" presName="node" presStyleLbl="node1" presStyleIdx="3" presStyleCnt="8">
        <dgm:presLayoutVars>
          <dgm:bulletEnabled val="1"/>
        </dgm:presLayoutVars>
      </dgm:prSet>
      <dgm:spPr/>
    </dgm:pt>
    <dgm:pt modelId="{47A11B00-E1FE-4FC8-BB77-9D7B38D6014A}" type="pres">
      <dgm:prSet presAssocID="{8D480CED-A277-4723-B24B-375BE1492FF0}" presName="sibTrans" presStyleLbl="sibTrans2D1" presStyleIdx="3" presStyleCnt="7"/>
      <dgm:spPr/>
    </dgm:pt>
    <dgm:pt modelId="{F570392A-3938-4408-87D2-A6EFFF29CC45}" type="pres">
      <dgm:prSet presAssocID="{8D480CED-A277-4723-B24B-375BE1492FF0}" presName="connectorText" presStyleLbl="sibTrans2D1" presStyleIdx="3" presStyleCnt="7"/>
      <dgm:spPr/>
    </dgm:pt>
    <dgm:pt modelId="{C462650A-98D0-47CD-BB7A-0E8E333FFA28}" type="pres">
      <dgm:prSet presAssocID="{AE0450BD-A5F3-47C6-9EE6-B40592261DF3}" presName="node" presStyleLbl="node1" presStyleIdx="4" presStyleCnt="8">
        <dgm:presLayoutVars>
          <dgm:bulletEnabled val="1"/>
        </dgm:presLayoutVars>
      </dgm:prSet>
      <dgm:spPr/>
    </dgm:pt>
    <dgm:pt modelId="{3FCA1ACA-D950-49F9-848A-B49BD30819AF}" type="pres">
      <dgm:prSet presAssocID="{8FF4E7C0-42C0-475D-9EBA-18699CD7B549}" presName="sibTrans" presStyleLbl="sibTrans2D1" presStyleIdx="4" presStyleCnt="7"/>
      <dgm:spPr/>
    </dgm:pt>
    <dgm:pt modelId="{52011A39-AAF5-4E5D-9B54-73E654E2B231}" type="pres">
      <dgm:prSet presAssocID="{8FF4E7C0-42C0-475D-9EBA-18699CD7B549}" presName="connectorText" presStyleLbl="sibTrans2D1" presStyleIdx="4" presStyleCnt="7"/>
      <dgm:spPr/>
    </dgm:pt>
    <dgm:pt modelId="{557E25C2-0F0B-405A-8B35-C0B91597896F}" type="pres">
      <dgm:prSet presAssocID="{35F1B3F6-C6CD-476E-B8B4-BA8A3637AD9C}" presName="node" presStyleLbl="node1" presStyleIdx="5" presStyleCnt="8">
        <dgm:presLayoutVars>
          <dgm:bulletEnabled val="1"/>
        </dgm:presLayoutVars>
      </dgm:prSet>
      <dgm:spPr/>
    </dgm:pt>
    <dgm:pt modelId="{1255689F-13E6-4435-BEAE-143BDA8DB5EE}" type="pres">
      <dgm:prSet presAssocID="{16EB1C4A-5177-4C6D-B1B5-3C9382152DAF}" presName="sibTrans" presStyleLbl="sibTrans2D1" presStyleIdx="5" presStyleCnt="7"/>
      <dgm:spPr/>
    </dgm:pt>
    <dgm:pt modelId="{F0C641A1-EC84-4887-A354-5F63AE770716}" type="pres">
      <dgm:prSet presAssocID="{16EB1C4A-5177-4C6D-B1B5-3C9382152DAF}" presName="connectorText" presStyleLbl="sibTrans2D1" presStyleIdx="5" presStyleCnt="7"/>
      <dgm:spPr/>
    </dgm:pt>
    <dgm:pt modelId="{595E0DCA-AA6F-47C3-AF84-A23DE75682DB}" type="pres">
      <dgm:prSet presAssocID="{4AA0A7E4-CEC4-4901-8DCB-9E42136DE56F}" presName="node" presStyleLbl="node1" presStyleIdx="6" presStyleCnt="8">
        <dgm:presLayoutVars>
          <dgm:bulletEnabled val="1"/>
        </dgm:presLayoutVars>
      </dgm:prSet>
      <dgm:spPr/>
    </dgm:pt>
    <dgm:pt modelId="{EAEC8506-ACC0-415A-95FC-D15ED1A86237}" type="pres">
      <dgm:prSet presAssocID="{6757CE7E-1A27-4D01-9365-B99362E528BD}" presName="sibTrans" presStyleLbl="sibTrans2D1" presStyleIdx="6" presStyleCnt="7"/>
      <dgm:spPr/>
    </dgm:pt>
    <dgm:pt modelId="{33635267-3BD1-4911-9864-B0C56B0929AA}" type="pres">
      <dgm:prSet presAssocID="{6757CE7E-1A27-4D01-9365-B99362E528BD}" presName="connectorText" presStyleLbl="sibTrans2D1" presStyleIdx="6" presStyleCnt="7"/>
      <dgm:spPr/>
    </dgm:pt>
    <dgm:pt modelId="{9F7330B4-4D2B-4B00-97DF-3AAA5B28213F}" type="pres">
      <dgm:prSet presAssocID="{1FE9B66E-DDD6-467F-818E-A2801393D748}" presName="node" presStyleLbl="node1" presStyleIdx="7" presStyleCnt="8">
        <dgm:presLayoutVars>
          <dgm:bulletEnabled val="1"/>
        </dgm:presLayoutVars>
      </dgm:prSet>
      <dgm:spPr/>
    </dgm:pt>
  </dgm:ptLst>
  <dgm:cxnLst>
    <dgm:cxn modelId="{E1696609-2266-4096-9042-FC2E8E7A56A4}" type="presOf" srcId="{4AA0A7E4-CEC4-4901-8DCB-9E42136DE56F}" destId="{595E0DCA-AA6F-47C3-AF84-A23DE75682DB}" srcOrd="0" destOrd="0" presId="urn:microsoft.com/office/officeart/2005/8/layout/process5"/>
    <dgm:cxn modelId="{FECB840E-4F9B-414E-8535-728F2391DA13}" srcId="{0B5C0876-C2F2-419C-B96A-CDBD9468BDE7}" destId="{1B94E174-2819-400E-B6B0-959572AAFF58}" srcOrd="2" destOrd="0" parTransId="{A628D95F-824F-40D4-A783-DDD637927870}" sibTransId="{AAE3D600-A556-4403-9055-19537511211C}"/>
    <dgm:cxn modelId="{047E0D17-B2F8-4AFC-BC29-4B81D28A32D3}" srcId="{0B5C0876-C2F2-419C-B96A-CDBD9468BDE7}" destId="{35F1B3F6-C6CD-476E-B8B4-BA8A3637AD9C}" srcOrd="5" destOrd="0" parTransId="{5BDAEA5A-9FEF-43B7-BF41-6B80585C9CB8}" sibTransId="{16EB1C4A-5177-4C6D-B1B5-3C9382152DAF}"/>
    <dgm:cxn modelId="{ED0DB31B-21AE-4D13-8EA3-68F6244FB3C2}" type="presOf" srcId="{16EB1C4A-5177-4C6D-B1B5-3C9382152DAF}" destId="{1255689F-13E6-4435-BEAE-143BDA8DB5EE}" srcOrd="0" destOrd="0" presId="urn:microsoft.com/office/officeart/2005/8/layout/process5"/>
    <dgm:cxn modelId="{B8FA1223-C7A4-47DD-A6B3-32E2A8484722}" type="presOf" srcId="{6757CE7E-1A27-4D01-9365-B99362E528BD}" destId="{EAEC8506-ACC0-415A-95FC-D15ED1A86237}" srcOrd="0" destOrd="0" presId="urn:microsoft.com/office/officeart/2005/8/layout/process5"/>
    <dgm:cxn modelId="{7499BA2B-AD38-43A5-AF4A-5263A020C9D5}" type="presOf" srcId="{0E28EC7E-F3EE-4A5A-B2E6-4265F363ED69}" destId="{14E70F51-3016-4DCB-A69E-C35E293459A6}" srcOrd="1" destOrd="0" presId="urn:microsoft.com/office/officeart/2005/8/layout/process5"/>
    <dgm:cxn modelId="{0E7ABD33-1621-4E2D-AA14-86278C797321}" type="presOf" srcId="{1FE9B66E-DDD6-467F-818E-A2801393D748}" destId="{9F7330B4-4D2B-4B00-97DF-3AAA5B28213F}" srcOrd="0" destOrd="0" presId="urn:microsoft.com/office/officeart/2005/8/layout/process5"/>
    <dgm:cxn modelId="{AE62F237-E6F7-4FE4-B603-ABE793295A33}" type="presOf" srcId="{AAE3D600-A556-4403-9055-19537511211C}" destId="{099C743D-320F-4876-8A27-7B574421F912}" srcOrd="0" destOrd="0" presId="urn:microsoft.com/office/officeart/2005/8/layout/process5"/>
    <dgm:cxn modelId="{FE8A833C-1D8E-46FB-BC54-4EE6021381F7}" type="presOf" srcId="{8D480CED-A277-4723-B24B-375BE1492FF0}" destId="{47A11B00-E1FE-4FC8-BB77-9D7B38D6014A}" srcOrd="0" destOrd="0" presId="urn:microsoft.com/office/officeart/2005/8/layout/process5"/>
    <dgm:cxn modelId="{71E9AE63-C914-49C5-BC72-7451B7F2483E}" type="presOf" srcId="{AE0450BD-A5F3-47C6-9EE6-B40592261DF3}" destId="{C462650A-98D0-47CD-BB7A-0E8E333FFA28}" srcOrd="0" destOrd="0" presId="urn:microsoft.com/office/officeart/2005/8/layout/process5"/>
    <dgm:cxn modelId="{1FCFF249-6F15-40C1-8D66-54F0337D722A}" type="presOf" srcId="{AAE3D600-A556-4403-9055-19537511211C}" destId="{53EAC06C-A913-4D27-B3AB-88B959D5F58A}" srcOrd="1" destOrd="0" presId="urn:microsoft.com/office/officeart/2005/8/layout/process5"/>
    <dgm:cxn modelId="{427D346E-210C-4665-B350-CC6C876B1AFB}" type="presOf" srcId="{FEE8659C-4606-42D5-BF0D-963CD7C1EDB7}" destId="{2106B86E-2822-4F57-957B-A359920B55A0}" srcOrd="0" destOrd="0" presId="urn:microsoft.com/office/officeart/2005/8/layout/process5"/>
    <dgm:cxn modelId="{62EFB151-6FB9-42F9-8DC5-61574833C605}" srcId="{0B5C0876-C2F2-419C-B96A-CDBD9468BDE7}" destId="{AE0450BD-A5F3-47C6-9EE6-B40592261DF3}" srcOrd="4" destOrd="0" parTransId="{00F308B0-1C83-42E3-80AF-86BB7DBF477C}" sibTransId="{8FF4E7C0-42C0-475D-9EBA-18699CD7B549}"/>
    <dgm:cxn modelId="{74BBAD53-A65F-4D35-92DE-9CF92A7BC0C9}" type="presOf" srcId="{C42B1352-3A05-41C5-BBB4-71DB2BB795BA}" destId="{E2EFDD20-836E-4118-93CC-0400359035FF}" srcOrd="0" destOrd="0" presId="urn:microsoft.com/office/officeart/2005/8/layout/process5"/>
    <dgm:cxn modelId="{99C4ED59-5BFC-40F7-BA62-CADBF93DBC51}" type="presOf" srcId="{35F1B3F6-C6CD-476E-B8B4-BA8A3637AD9C}" destId="{557E25C2-0F0B-405A-8B35-C0B91597896F}" srcOrd="0" destOrd="0" presId="urn:microsoft.com/office/officeart/2005/8/layout/process5"/>
    <dgm:cxn modelId="{45EC4281-6AAD-477F-A19D-4195282FB0E3}" type="presOf" srcId="{1B94E174-2819-400E-B6B0-959572AAFF58}" destId="{69CDE70F-605B-4563-AD48-53B32836916D}" srcOrd="0" destOrd="0" presId="urn:microsoft.com/office/officeart/2005/8/layout/process5"/>
    <dgm:cxn modelId="{9C6A8D83-CBF0-40BE-92F7-6DF9D09938B2}" type="presOf" srcId="{0B5C0876-C2F2-419C-B96A-CDBD9468BDE7}" destId="{F6BB4070-E646-445B-8A68-21232F6B2229}" srcOrd="0" destOrd="0" presId="urn:microsoft.com/office/officeart/2005/8/layout/process5"/>
    <dgm:cxn modelId="{8D89BA8B-93E4-42FE-A3D0-F6D742B50797}" type="presOf" srcId="{0E28EC7E-F3EE-4A5A-B2E6-4265F363ED69}" destId="{B53EC692-7EEE-49EB-A0D0-AA1033B9A71B}" srcOrd="0" destOrd="0" presId="urn:microsoft.com/office/officeart/2005/8/layout/process5"/>
    <dgm:cxn modelId="{AFFA4893-42BF-453F-9CB1-03C0111CEAF1}" type="presOf" srcId="{4FDCAFA5-2BDB-46CF-8109-DFD66FDDC6B1}" destId="{51ADBE92-1716-49A1-BF62-A1AFE0AAE12A}" srcOrd="0" destOrd="0" presId="urn:microsoft.com/office/officeart/2005/8/layout/process5"/>
    <dgm:cxn modelId="{1B109894-01D0-43B1-908E-499AB1B852D7}" srcId="{0B5C0876-C2F2-419C-B96A-CDBD9468BDE7}" destId="{FEE8659C-4606-42D5-BF0D-963CD7C1EDB7}" srcOrd="3" destOrd="0" parTransId="{703AF2BD-9EF1-4EC2-99C2-B9F0BC8670F9}" sibTransId="{8D480CED-A277-4723-B24B-375BE1492FF0}"/>
    <dgm:cxn modelId="{0D83A195-9B4E-4075-804B-5A695B011499}" srcId="{0B5C0876-C2F2-419C-B96A-CDBD9468BDE7}" destId="{14BDDDFB-7F2F-40C6-93BF-017AEFAF7AE1}" srcOrd="0" destOrd="0" parTransId="{18E23C61-B3CF-4BB4-A242-331BD3C9E14C}" sibTransId="{0E28EC7E-F3EE-4A5A-B2E6-4265F363ED69}"/>
    <dgm:cxn modelId="{3C73C697-A8DD-43F5-B05E-005007E204EA}" type="presOf" srcId="{8D480CED-A277-4723-B24B-375BE1492FF0}" destId="{F570392A-3938-4408-87D2-A6EFFF29CC45}" srcOrd="1" destOrd="0" presId="urn:microsoft.com/office/officeart/2005/8/layout/process5"/>
    <dgm:cxn modelId="{5E7024B6-CFE8-49EC-A952-B818D4227A57}" type="presOf" srcId="{6757CE7E-1A27-4D01-9365-B99362E528BD}" destId="{33635267-3BD1-4911-9864-B0C56B0929AA}" srcOrd="1" destOrd="0" presId="urn:microsoft.com/office/officeart/2005/8/layout/process5"/>
    <dgm:cxn modelId="{5F94EDBA-779F-4D93-AB31-7A6C9D81D25A}" type="presOf" srcId="{14BDDDFB-7F2F-40C6-93BF-017AEFAF7AE1}" destId="{2C875D56-938E-42A2-87C1-5ACD36BE55BA}" srcOrd="0" destOrd="0" presId="urn:microsoft.com/office/officeart/2005/8/layout/process5"/>
    <dgm:cxn modelId="{A6CD8CC3-BC82-42C2-92D5-40FE9B39547B}" srcId="{0B5C0876-C2F2-419C-B96A-CDBD9468BDE7}" destId="{1FE9B66E-DDD6-467F-818E-A2801393D748}" srcOrd="7" destOrd="0" parTransId="{03DA90AA-012F-48AD-B533-41A0FD744045}" sibTransId="{72D2D4E0-95B7-4AD9-9823-04A392919280}"/>
    <dgm:cxn modelId="{6E40FBCB-A22E-4066-AAA2-C0E750454F28}" srcId="{0B5C0876-C2F2-419C-B96A-CDBD9468BDE7}" destId="{4FDCAFA5-2BDB-46CF-8109-DFD66FDDC6B1}" srcOrd="1" destOrd="0" parTransId="{A9B5589F-87C8-4C58-A57C-1F495159FF82}" sibTransId="{C42B1352-3A05-41C5-BBB4-71DB2BB795BA}"/>
    <dgm:cxn modelId="{04802EDD-260B-473B-826E-039E88EC6D4F}" type="presOf" srcId="{C42B1352-3A05-41C5-BBB4-71DB2BB795BA}" destId="{D1F9B94C-25F0-4ABE-8F89-65A170B33CB6}" srcOrd="1" destOrd="0" presId="urn:microsoft.com/office/officeart/2005/8/layout/process5"/>
    <dgm:cxn modelId="{FD2C3BDE-22F6-40A4-BCD5-41DC8239213E}" srcId="{0B5C0876-C2F2-419C-B96A-CDBD9468BDE7}" destId="{4AA0A7E4-CEC4-4901-8DCB-9E42136DE56F}" srcOrd="6" destOrd="0" parTransId="{8D0181F7-B105-405C-B552-2EC2D0C7B29C}" sibTransId="{6757CE7E-1A27-4D01-9365-B99362E528BD}"/>
    <dgm:cxn modelId="{C37523E7-71A5-4232-9A51-8EF8E5B60A46}" type="presOf" srcId="{8FF4E7C0-42C0-475D-9EBA-18699CD7B549}" destId="{52011A39-AAF5-4E5D-9B54-73E654E2B231}" srcOrd="1" destOrd="0" presId="urn:microsoft.com/office/officeart/2005/8/layout/process5"/>
    <dgm:cxn modelId="{1508EAFB-E85C-4799-8843-309618B416AE}" type="presOf" srcId="{16EB1C4A-5177-4C6D-B1B5-3C9382152DAF}" destId="{F0C641A1-EC84-4887-A354-5F63AE770716}" srcOrd="1" destOrd="0" presId="urn:microsoft.com/office/officeart/2005/8/layout/process5"/>
    <dgm:cxn modelId="{F2775EFC-F3B9-4524-8B54-0D890DD8C1A1}" type="presOf" srcId="{8FF4E7C0-42C0-475D-9EBA-18699CD7B549}" destId="{3FCA1ACA-D950-49F9-848A-B49BD30819AF}" srcOrd="0" destOrd="0" presId="urn:microsoft.com/office/officeart/2005/8/layout/process5"/>
    <dgm:cxn modelId="{8FACDF3D-444F-4FB5-A0AC-4F80FF777ED6}" type="presParOf" srcId="{F6BB4070-E646-445B-8A68-21232F6B2229}" destId="{2C875D56-938E-42A2-87C1-5ACD36BE55BA}" srcOrd="0" destOrd="0" presId="urn:microsoft.com/office/officeart/2005/8/layout/process5"/>
    <dgm:cxn modelId="{9E7A98EF-0636-4C1C-BE8E-20928880EC59}" type="presParOf" srcId="{F6BB4070-E646-445B-8A68-21232F6B2229}" destId="{B53EC692-7EEE-49EB-A0D0-AA1033B9A71B}" srcOrd="1" destOrd="0" presId="urn:microsoft.com/office/officeart/2005/8/layout/process5"/>
    <dgm:cxn modelId="{32EB80B7-60C3-425C-9C17-28EF6BC59C29}" type="presParOf" srcId="{B53EC692-7EEE-49EB-A0D0-AA1033B9A71B}" destId="{14E70F51-3016-4DCB-A69E-C35E293459A6}" srcOrd="0" destOrd="0" presId="urn:microsoft.com/office/officeart/2005/8/layout/process5"/>
    <dgm:cxn modelId="{D838F8C2-5C10-4E2A-AD9F-7BF934A3B722}" type="presParOf" srcId="{F6BB4070-E646-445B-8A68-21232F6B2229}" destId="{51ADBE92-1716-49A1-BF62-A1AFE0AAE12A}" srcOrd="2" destOrd="0" presId="urn:microsoft.com/office/officeart/2005/8/layout/process5"/>
    <dgm:cxn modelId="{B73B3BDA-0028-4A7E-86F9-BDBB9B418F69}" type="presParOf" srcId="{F6BB4070-E646-445B-8A68-21232F6B2229}" destId="{E2EFDD20-836E-4118-93CC-0400359035FF}" srcOrd="3" destOrd="0" presId="urn:microsoft.com/office/officeart/2005/8/layout/process5"/>
    <dgm:cxn modelId="{11CBE683-E482-42E3-918D-4B6B214BFB0A}" type="presParOf" srcId="{E2EFDD20-836E-4118-93CC-0400359035FF}" destId="{D1F9B94C-25F0-4ABE-8F89-65A170B33CB6}" srcOrd="0" destOrd="0" presId="urn:microsoft.com/office/officeart/2005/8/layout/process5"/>
    <dgm:cxn modelId="{356C1284-92B2-4FED-98D7-833AD08B998C}" type="presParOf" srcId="{F6BB4070-E646-445B-8A68-21232F6B2229}" destId="{69CDE70F-605B-4563-AD48-53B32836916D}" srcOrd="4" destOrd="0" presId="urn:microsoft.com/office/officeart/2005/8/layout/process5"/>
    <dgm:cxn modelId="{5020D921-DB74-4C95-8D22-5F7BA5A389DC}" type="presParOf" srcId="{F6BB4070-E646-445B-8A68-21232F6B2229}" destId="{099C743D-320F-4876-8A27-7B574421F912}" srcOrd="5" destOrd="0" presId="urn:microsoft.com/office/officeart/2005/8/layout/process5"/>
    <dgm:cxn modelId="{F30B66A4-0242-4B69-8FCF-B4F0B3423444}" type="presParOf" srcId="{099C743D-320F-4876-8A27-7B574421F912}" destId="{53EAC06C-A913-4D27-B3AB-88B959D5F58A}" srcOrd="0" destOrd="0" presId="urn:microsoft.com/office/officeart/2005/8/layout/process5"/>
    <dgm:cxn modelId="{715687FD-AF2C-4D07-9DED-63DD5D6654A0}" type="presParOf" srcId="{F6BB4070-E646-445B-8A68-21232F6B2229}" destId="{2106B86E-2822-4F57-957B-A359920B55A0}" srcOrd="6" destOrd="0" presId="urn:microsoft.com/office/officeart/2005/8/layout/process5"/>
    <dgm:cxn modelId="{0D63ABC7-3DCC-41A6-BA23-2ED7DD5C1F61}" type="presParOf" srcId="{F6BB4070-E646-445B-8A68-21232F6B2229}" destId="{47A11B00-E1FE-4FC8-BB77-9D7B38D6014A}" srcOrd="7" destOrd="0" presId="urn:microsoft.com/office/officeart/2005/8/layout/process5"/>
    <dgm:cxn modelId="{8A389E7B-72B5-4986-B970-02D1980EFE39}" type="presParOf" srcId="{47A11B00-E1FE-4FC8-BB77-9D7B38D6014A}" destId="{F570392A-3938-4408-87D2-A6EFFF29CC45}" srcOrd="0" destOrd="0" presId="urn:microsoft.com/office/officeart/2005/8/layout/process5"/>
    <dgm:cxn modelId="{833DB403-AC9C-4673-9113-9111E70EAEEC}" type="presParOf" srcId="{F6BB4070-E646-445B-8A68-21232F6B2229}" destId="{C462650A-98D0-47CD-BB7A-0E8E333FFA28}" srcOrd="8" destOrd="0" presId="urn:microsoft.com/office/officeart/2005/8/layout/process5"/>
    <dgm:cxn modelId="{4FE0380F-FD7F-4C22-9E37-9E13D294F245}" type="presParOf" srcId="{F6BB4070-E646-445B-8A68-21232F6B2229}" destId="{3FCA1ACA-D950-49F9-848A-B49BD30819AF}" srcOrd="9" destOrd="0" presId="urn:microsoft.com/office/officeart/2005/8/layout/process5"/>
    <dgm:cxn modelId="{908E83C4-EA03-43EC-9F42-8D82F5389D62}" type="presParOf" srcId="{3FCA1ACA-D950-49F9-848A-B49BD30819AF}" destId="{52011A39-AAF5-4E5D-9B54-73E654E2B231}" srcOrd="0" destOrd="0" presId="urn:microsoft.com/office/officeart/2005/8/layout/process5"/>
    <dgm:cxn modelId="{4C2CDF6F-4A8F-45D9-8251-AAACBA483E51}" type="presParOf" srcId="{F6BB4070-E646-445B-8A68-21232F6B2229}" destId="{557E25C2-0F0B-405A-8B35-C0B91597896F}" srcOrd="10" destOrd="0" presId="urn:microsoft.com/office/officeart/2005/8/layout/process5"/>
    <dgm:cxn modelId="{BC984E9D-A02B-46F1-B5ED-2737C5A9BEB8}" type="presParOf" srcId="{F6BB4070-E646-445B-8A68-21232F6B2229}" destId="{1255689F-13E6-4435-BEAE-143BDA8DB5EE}" srcOrd="11" destOrd="0" presId="urn:microsoft.com/office/officeart/2005/8/layout/process5"/>
    <dgm:cxn modelId="{48E8EAC2-4A40-4432-A9B3-94DC57A22D84}" type="presParOf" srcId="{1255689F-13E6-4435-BEAE-143BDA8DB5EE}" destId="{F0C641A1-EC84-4887-A354-5F63AE770716}" srcOrd="0" destOrd="0" presId="urn:microsoft.com/office/officeart/2005/8/layout/process5"/>
    <dgm:cxn modelId="{58383685-8810-42B7-A888-227BB315966A}" type="presParOf" srcId="{F6BB4070-E646-445B-8A68-21232F6B2229}" destId="{595E0DCA-AA6F-47C3-AF84-A23DE75682DB}" srcOrd="12" destOrd="0" presId="urn:microsoft.com/office/officeart/2005/8/layout/process5"/>
    <dgm:cxn modelId="{157604F5-FB39-46FF-A461-70368C1EE3EB}" type="presParOf" srcId="{F6BB4070-E646-445B-8A68-21232F6B2229}" destId="{EAEC8506-ACC0-415A-95FC-D15ED1A86237}" srcOrd="13" destOrd="0" presId="urn:microsoft.com/office/officeart/2005/8/layout/process5"/>
    <dgm:cxn modelId="{046607C1-5005-4426-9955-092515E88793}" type="presParOf" srcId="{EAEC8506-ACC0-415A-95FC-D15ED1A86237}" destId="{33635267-3BD1-4911-9864-B0C56B0929AA}" srcOrd="0" destOrd="0" presId="urn:microsoft.com/office/officeart/2005/8/layout/process5"/>
    <dgm:cxn modelId="{8FB4828E-43A7-4ED2-BBB4-16C254FE9F80}" type="presParOf" srcId="{F6BB4070-E646-445B-8A68-21232F6B2229}" destId="{9F7330B4-4D2B-4B00-97DF-3AAA5B28213F}"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C268A5-6D94-43EC-A225-81698668CF0E}" type="doc">
      <dgm:prSet loTypeId="urn:microsoft.com/office/officeart/2005/8/layout/process5" loCatId="process" qsTypeId="urn:microsoft.com/office/officeart/2005/8/quickstyle/3d3" qsCatId="3D" csTypeId="urn:microsoft.com/office/officeart/2005/8/colors/accent3_3" csCatId="accent3" phldr="1"/>
      <dgm:spPr/>
      <dgm:t>
        <a:bodyPr/>
        <a:lstStyle/>
        <a:p>
          <a:endParaRPr lang="en-IN"/>
        </a:p>
      </dgm:t>
    </dgm:pt>
    <dgm:pt modelId="{6386E832-66D2-462D-8F25-75E039FBE6E4}">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Import the flood dataset</a:t>
          </a:r>
        </a:p>
      </dgm:t>
    </dgm:pt>
    <dgm:pt modelId="{A0D66B6B-2603-4915-A65E-38C144C61CFF}" type="parTrans" cxnId="{722BA026-E30D-4665-AFF4-773B1FD591C9}">
      <dgm:prSet/>
      <dgm:spPr/>
      <dgm:t>
        <a:bodyPr/>
        <a:lstStyle/>
        <a:p>
          <a:endParaRPr lang="en-IN"/>
        </a:p>
      </dgm:t>
    </dgm:pt>
    <dgm:pt modelId="{EE629B34-6330-4917-9746-E104AED4CF19}" type="sibTrans" cxnId="{722BA026-E30D-4665-AFF4-773B1FD591C9}">
      <dgm:prSet/>
      <dgm:spPr/>
      <dgm:t>
        <a:bodyPr/>
        <a:lstStyle/>
        <a:p>
          <a:endParaRPr lang="en-IN"/>
        </a:p>
      </dgm:t>
    </dgm:pt>
    <dgm:pt modelId="{21B32986-6E1D-49E1-9A72-E44C46522A4B}">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Importing necessary Libraries</a:t>
          </a:r>
        </a:p>
      </dgm:t>
    </dgm:pt>
    <dgm:pt modelId="{16017EDB-CBD2-4B10-A4FE-632BF085DF3F}" type="parTrans" cxnId="{98B33F4C-CC64-4C33-9693-4E56F00933CA}">
      <dgm:prSet/>
      <dgm:spPr/>
      <dgm:t>
        <a:bodyPr/>
        <a:lstStyle/>
        <a:p>
          <a:endParaRPr lang="en-IN"/>
        </a:p>
      </dgm:t>
    </dgm:pt>
    <dgm:pt modelId="{A4269A2E-47F5-4615-8E31-B668E870CCEC}" type="sibTrans" cxnId="{98B33F4C-CC64-4C33-9693-4E56F00933CA}">
      <dgm:prSet/>
      <dgm:spPr/>
      <dgm:t>
        <a:bodyPr/>
        <a:lstStyle/>
        <a:p>
          <a:endParaRPr lang="en-IN"/>
        </a:p>
      </dgm:t>
    </dgm:pt>
    <dgm:pt modelId="{DB8FB09E-467E-40F4-B808-68B1D26E8F86}">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Data Preprocessing</a:t>
          </a:r>
        </a:p>
      </dgm:t>
    </dgm:pt>
    <dgm:pt modelId="{8CB28DF1-F58C-45E6-A3AA-B5B867FF08A1}" type="parTrans" cxnId="{E2744EFC-C0FD-455A-81C6-D6ECE1DF18EA}">
      <dgm:prSet/>
      <dgm:spPr/>
      <dgm:t>
        <a:bodyPr/>
        <a:lstStyle/>
        <a:p>
          <a:endParaRPr lang="en-IN"/>
        </a:p>
      </dgm:t>
    </dgm:pt>
    <dgm:pt modelId="{8C296C26-427C-488A-A1B0-1D4F0E1C77EE}" type="sibTrans" cxnId="{E2744EFC-C0FD-455A-81C6-D6ECE1DF18EA}">
      <dgm:prSet/>
      <dgm:spPr/>
      <dgm:t>
        <a:bodyPr/>
        <a:lstStyle/>
        <a:p>
          <a:endParaRPr lang="en-IN"/>
        </a:p>
      </dgm:t>
    </dgm:pt>
    <dgm:pt modelId="{E2777DCD-047C-481F-8F4F-B70AE49A1E13}">
      <dgm:prSet phldrT="[Text]" custT="1"/>
      <dgm:spPr/>
      <dgm:t>
        <a:bodyPr/>
        <a:lstStyle/>
        <a:p>
          <a:r>
            <a:rPr lang="en-IN" sz="1400" b="1" dirty="0">
              <a:solidFill>
                <a:schemeClr val="tx1"/>
              </a:solidFill>
              <a:latin typeface="Times New Roman" panose="02020603050405020304" pitchFamily="18" charset="0"/>
              <a:cs typeface="Times New Roman" panose="02020603050405020304" pitchFamily="18" charset="0"/>
            </a:rPr>
            <a:t>Define Measurement Model using Sequential library</a:t>
          </a:r>
        </a:p>
      </dgm:t>
    </dgm:pt>
    <dgm:pt modelId="{30325234-8ECB-436E-B098-90A2B01B3A94}" type="parTrans" cxnId="{B408119D-386C-4D49-9C7A-925F27108BCA}">
      <dgm:prSet/>
      <dgm:spPr/>
      <dgm:t>
        <a:bodyPr/>
        <a:lstStyle/>
        <a:p>
          <a:endParaRPr lang="en-IN"/>
        </a:p>
      </dgm:t>
    </dgm:pt>
    <dgm:pt modelId="{3B2BFDC3-6558-4201-91FD-B9273175139F}" type="sibTrans" cxnId="{B408119D-386C-4D49-9C7A-925F27108BCA}">
      <dgm:prSet/>
      <dgm:spPr/>
      <dgm:t>
        <a:bodyPr/>
        <a:lstStyle/>
        <a:p>
          <a:endParaRPr lang="en-IN"/>
        </a:p>
      </dgm:t>
    </dgm:pt>
    <dgm:pt modelId="{9C832B7D-88BF-4B44-8ECF-2818E414BEEB}">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Assess Measurement model</a:t>
          </a:r>
        </a:p>
      </dgm:t>
    </dgm:pt>
    <dgm:pt modelId="{DD35FBE0-DB4D-4280-BB7D-BC1DC7F317B5}" type="parTrans" cxnId="{D9F199A0-9030-4C99-B525-6D39FC5501D5}">
      <dgm:prSet/>
      <dgm:spPr/>
      <dgm:t>
        <a:bodyPr/>
        <a:lstStyle/>
        <a:p>
          <a:endParaRPr lang="en-IN"/>
        </a:p>
      </dgm:t>
    </dgm:pt>
    <dgm:pt modelId="{8A147E50-24F8-4000-9E09-E0EAA32339CC}" type="sibTrans" cxnId="{D9F199A0-9030-4C99-B525-6D39FC5501D5}">
      <dgm:prSet/>
      <dgm:spPr/>
      <dgm:t>
        <a:bodyPr/>
        <a:lstStyle/>
        <a:p>
          <a:endParaRPr lang="en-IN"/>
        </a:p>
      </dgm:t>
    </dgm:pt>
    <dgm:pt modelId="{5D8A26A5-46AF-48C9-A5D5-EB3FC65DD0EF}">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Define Structural Model using Dense library</a:t>
          </a:r>
        </a:p>
      </dgm:t>
    </dgm:pt>
    <dgm:pt modelId="{6258A9C0-993E-4D12-906B-F054555E9BC1}" type="parTrans" cxnId="{2EB0BB42-D110-4169-965D-34E4DAF95B4E}">
      <dgm:prSet/>
      <dgm:spPr/>
      <dgm:t>
        <a:bodyPr/>
        <a:lstStyle/>
        <a:p>
          <a:endParaRPr lang="en-IN"/>
        </a:p>
      </dgm:t>
    </dgm:pt>
    <dgm:pt modelId="{B51E0D5B-874A-46FE-A748-C7242C07F70C}" type="sibTrans" cxnId="{2EB0BB42-D110-4169-965D-34E4DAF95B4E}">
      <dgm:prSet/>
      <dgm:spPr/>
      <dgm:t>
        <a:bodyPr/>
        <a:lstStyle/>
        <a:p>
          <a:endParaRPr lang="en-IN"/>
        </a:p>
      </dgm:t>
    </dgm:pt>
    <dgm:pt modelId="{96555BB2-6CDA-49DF-9695-DA93595ABC83}">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Evaluate Structural Model</a:t>
          </a:r>
        </a:p>
      </dgm:t>
    </dgm:pt>
    <dgm:pt modelId="{DE792263-FE7D-4AE4-BF68-2A05CFB3F5F5}" type="parTrans" cxnId="{834D996E-6946-44C7-9E0F-68487070E997}">
      <dgm:prSet/>
      <dgm:spPr/>
      <dgm:t>
        <a:bodyPr/>
        <a:lstStyle/>
        <a:p>
          <a:endParaRPr lang="en-IN"/>
        </a:p>
      </dgm:t>
    </dgm:pt>
    <dgm:pt modelId="{2161C9CB-931D-4A85-AB56-1372A9B5121A}" type="sibTrans" cxnId="{834D996E-6946-44C7-9E0F-68487070E997}">
      <dgm:prSet/>
      <dgm:spPr/>
      <dgm:t>
        <a:bodyPr/>
        <a:lstStyle/>
        <a:p>
          <a:endParaRPr lang="en-IN"/>
        </a:p>
      </dgm:t>
    </dgm:pt>
    <dgm:pt modelId="{570A6268-CA71-4B50-A07B-C24133B5FA20}">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Validate the model</a:t>
          </a:r>
        </a:p>
      </dgm:t>
    </dgm:pt>
    <dgm:pt modelId="{1914279D-01C9-4653-A976-5AB226D1219F}" type="parTrans" cxnId="{11C16986-93B3-4D0C-9170-3549C85354F8}">
      <dgm:prSet/>
      <dgm:spPr/>
      <dgm:t>
        <a:bodyPr/>
        <a:lstStyle/>
        <a:p>
          <a:endParaRPr lang="en-IN"/>
        </a:p>
      </dgm:t>
    </dgm:pt>
    <dgm:pt modelId="{93FEC5EB-C04B-4201-BF8C-5D9315A54A7D}" type="sibTrans" cxnId="{11C16986-93B3-4D0C-9170-3549C85354F8}">
      <dgm:prSet/>
      <dgm:spPr/>
      <dgm:t>
        <a:bodyPr/>
        <a:lstStyle/>
        <a:p>
          <a:endParaRPr lang="en-IN"/>
        </a:p>
      </dgm:t>
    </dgm:pt>
    <dgm:pt modelId="{43F21C7E-47B1-4762-9DEC-0AFDEAEFF95D}">
      <dgm:prSet phldrT="[Text]" custT="1"/>
      <dgm:spPr/>
      <dgm:t>
        <a:bodyPr/>
        <a:lstStyle/>
        <a:p>
          <a:r>
            <a:rPr lang="en-IN" sz="1800" b="1" dirty="0">
              <a:solidFill>
                <a:schemeClr val="tx1"/>
              </a:solidFill>
              <a:latin typeface="Times New Roman" panose="02020603050405020304" pitchFamily="18" charset="0"/>
              <a:cs typeface="Times New Roman" panose="02020603050405020304" pitchFamily="18" charset="0"/>
            </a:rPr>
            <a:t>Interpret and Report Results</a:t>
          </a:r>
        </a:p>
      </dgm:t>
    </dgm:pt>
    <dgm:pt modelId="{F530E1CC-1D37-4E90-A6BB-AC65E324B1A4}" type="parTrans" cxnId="{0748F692-1916-43BA-AC41-0EBE6E8FD783}">
      <dgm:prSet/>
      <dgm:spPr/>
      <dgm:t>
        <a:bodyPr/>
        <a:lstStyle/>
        <a:p>
          <a:endParaRPr lang="en-IN"/>
        </a:p>
      </dgm:t>
    </dgm:pt>
    <dgm:pt modelId="{E4628C92-D5C1-40AA-A7E4-4C40E18B4272}" type="sibTrans" cxnId="{0748F692-1916-43BA-AC41-0EBE6E8FD783}">
      <dgm:prSet/>
      <dgm:spPr/>
      <dgm:t>
        <a:bodyPr/>
        <a:lstStyle/>
        <a:p>
          <a:endParaRPr lang="en-IN"/>
        </a:p>
      </dgm:t>
    </dgm:pt>
    <dgm:pt modelId="{5D27A78C-8122-4E62-BF77-2E1169286478}" type="pres">
      <dgm:prSet presAssocID="{ADC268A5-6D94-43EC-A225-81698668CF0E}" presName="diagram" presStyleCnt="0">
        <dgm:presLayoutVars>
          <dgm:dir/>
          <dgm:resizeHandles val="exact"/>
        </dgm:presLayoutVars>
      </dgm:prSet>
      <dgm:spPr/>
    </dgm:pt>
    <dgm:pt modelId="{1470575D-C3C7-4349-A637-1D75D599D312}" type="pres">
      <dgm:prSet presAssocID="{6386E832-66D2-462D-8F25-75E039FBE6E4}" presName="node" presStyleLbl="node1" presStyleIdx="0" presStyleCnt="9">
        <dgm:presLayoutVars>
          <dgm:bulletEnabled val="1"/>
        </dgm:presLayoutVars>
      </dgm:prSet>
      <dgm:spPr/>
    </dgm:pt>
    <dgm:pt modelId="{7E4C408F-2771-4BC2-8FE4-4024889BF191}" type="pres">
      <dgm:prSet presAssocID="{EE629B34-6330-4917-9746-E104AED4CF19}" presName="sibTrans" presStyleLbl="sibTrans2D1" presStyleIdx="0" presStyleCnt="8"/>
      <dgm:spPr/>
    </dgm:pt>
    <dgm:pt modelId="{585128A7-D475-464B-9A7C-A47F3B7AE075}" type="pres">
      <dgm:prSet presAssocID="{EE629B34-6330-4917-9746-E104AED4CF19}" presName="connectorText" presStyleLbl="sibTrans2D1" presStyleIdx="0" presStyleCnt="8"/>
      <dgm:spPr/>
    </dgm:pt>
    <dgm:pt modelId="{EE27C974-6997-4DD9-AF78-217E9BD67949}" type="pres">
      <dgm:prSet presAssocID="{21B32986-6E1D-49E1-9A72-E44C46522A4B}" presName="node" presStyleLbl="node1" presStyleIdx="1" presStyleCnt="9">
        <dgm:presLayoutVars>
          <dgm:bulletEnabled val="1"/>
        </dgm:presLayoutVars>
      </dgm:prSet>
      <dgm:spPr/>
    </dgm:pt>
    <dgm:pt modelId="{3DB16EB9-1562-46BC-B247-36B479FF9DC4}" type="pres">
      <dgm:prSet presAssocID="{A4269A2E-47F5-4615-8E31-B668E870CCEC}" presName="sibTrans" presStyleLbl="sibTrans2D1" presStyleIdx="1" presStyleCnt="8"/>
      <dgm:spPr/>
    </dgm:pt>
    <dgm:pt modelId="{4509B2AC-2937-4F81-AC47-BBA285568178}" type="pres">
      <dgm:prSet presAssocID="{A4269A2E-47F5-4615-8E31-B668E870CCEC}" presName="connectorText" presStyleLbl="sibTrans2D1" presStyleIdx="1" presStyleCnt="8"/>
      <dgm:spPr/>
    </dgm:pt>
    <dgm:pt modelId="{4664446E-D855-41B7-9B69-24A6746505AF}" type="pres">
      <dgm:prSet presAssocID="{DB8FB09E-467E-40F4-B808-68B1D26E8F86}" presName="node" presStyleLbl="node1" presStyleIdx="2" presStyleCnt="9">
        <dgm:presLayoutVars>
          <dgm:bulletEnabled val="1"/>
        </dgm:presLayoutVars>
      </dgm:prSet>
      <dgm:spPr/>
    </dgm:pt>
    <dgm:pt modelId="{88163437-A54D-45BB-92BE-C20F6AC0D8C3}" type="pres">
      <dgm:prSet presAssocID="{8C296C26-427C-488A-A1B0-1D4F0E1C77EE}" presName="sibTrans" presStyleLbl="sibTrans2D1" presStyleIdx="2" presStyleCnt="8"/>
      <dgm:spPr/>
    </dgm:pt>
    <dgm:pt modelId="{FBFF08D3-517A-4619-838C-48BBB8BC0AC7}" type="pres">
      <dgm:prSet presAssocID="{8C296C26-427C-488A-A1B0-1D4F0E1C77EE}" presName="connectorText" presStyleLbl="sibTrans2D1" presStyleIdx="2" presStyleCnt="8"/>
      <dgm:spPr/>
    </dgm:pt>
    <dgm:pt modelId="{329BCE3D-40B4-452E-8808-8E62DDCF9726}" type="pres">
      <dgm:prSet presAssocID="{E2777DCD-047C-481F-8F4F-B70AE49A1E13}" presName="node" presStyleLbl="node1" presStyleIdx="3" presStyleCnt="9">
        <dgm:presLayoutVars>
          <dgm:bulletEnabled val="1"/>
        </dgm:presLayoutVars>
      </dgm:prSet>
      <dgm:spPr/>
    </dgm:pt>
    <dgm:pt modelId="{AEB79D77-4C1C-405D-81B2-13C1291A2685}" type="pres">
      <dgm:prSet presAssocID="{3B2BFDC3-6558-4201-91FD-B9273175139F}" presName="sibTrans" presStyleLbl="sibTrans2D1" presStyleIdx="3" presStyleCnt="8"/>
      <dgm:spPr/>
    </dgm:pt>
    <dgm:pt modelId="{0B4F584F-857D-4731-B758-17791B2CD990}" type="pres">
      <dgm:prSet presAssocID="{3B2BFDC3-6558-4201-91FD-B9273175139F}" presName="connectorText" presStyleLbl="sibTrans2D1" presStyleIdx="3" presStyleCnt="8"/>
      <dgm:spPr/>
    </dgm:pt>
    <dgm:pt modelId="{10E43407-3653-4B5D-9B2D-50C7814782E3}" type="pres">
      <dgm:prSet presAssocID="{9C832B7D-88BF-4B44-8ECF-2818E414BEEB}" presName="node" presStyleLbl="node1" presStyleIdx="4" presStyleCnt="9">
        <dgm:presLayoutVars>
          <dgm:bulletEnabled val="1"/>
        </dgm:presLayoutVars>
      </dgm:prSet>
      <dgm:spPr/>
    </dgm:pt>
    <dgm:pt modelId="{0E3D4347-85B4-4911-8720-2A2501B669F2}" type="pres">
      <dgm:prSet presAssocID="{8A147E50-24F8-4000-9E09-E0EAA32339CC}" presName="sibTrans" presStyleLbl="sibTrans2D1" presStyleIdx="4" presStyleCnt="8"/>
      <dgm:spPr/>
    </dgm:pt>
    <dgm:pt modelId="{28C96C42-719F-420A-820B-B367762FDA8A}" type="pres">
      <dgm:prSet presAssocID="{8A147E50-24F8-4000-9E09-E0EAA32339CC}" presName="connectorText" presStyleLbl="sibTrans2D1" presStyleIdx="4" presStyleCnt="8"/>
      <dgm:spPr/>
    </dgm:pt>
    <dgm:pt modelId="{0A2860BE-9A7E-4C52-B32A-BBD849D1E8B9}" type="pres">
      <dgm:prSet presAssocID="{5D8A26A5-46AF-48C9-A5D5-EB3FC65DD0EF}" presName="node" presStyleLbl="node1" presStyleIdx="5" presStyleCnt="9">
        <dgm:presLayoutVars>
          <dgm:bulletEnabled val="1"/>
        </dgm:presLayoutVars>
      </dgm:prSet>
      <dgm:spPr/>
    </dgm:pt>
    <dgm:pt modelId="{04D5AAC1-2DEC-4A9C-9417-785A68687001}" type="pres">
      <dgm:prSet presAssocID="{B51E0D5B-874A-46FE-A748-C7242C07F70C}" presName="sibTrans" presStyleLbl="sibTrans2D1" presStyleIdx="5" presStyleCnt="8"/>
      <dgm:spPr/>
    </dgm:pt>
    <dgm:pt modelId="{5E81C028-3A9F-49AF-9B2F-6BFC44D0CFCE}" type="pres">
      <dgm:prSet presAssocID="{B51E0D5B-874A-46FE-A748-C7242C07F70C}" presName="connectorText" presStyleLbl="sibTrans2D1" presStyleIdx="5" presStyleCnt="8"/>
      <dgm:spPr/>
    </dgm:pt>
    <dgm:pt modelId="{DD479B41-1106-4E06-998C-B166369DF678}" type="pres">
      <dgm:prSet presAssocID="{96555BB2-6CDA-49DF-9695-DA93595ABC83}" presName="node" presStyleLbl="node1" presStyleIdx="6" presStyleCnt="9">
        <dgm:presLayoutVars>
          <dgm:bulletEnabled val="1"/>
        </dgm:presLayoutVars>
      </dgm:prSet>
      <dgm:spPr/>
    </dgm:pt>
    <dgm:pt modelId="{48719BB3-653F-42A6-BE11-DBFB7F5771C6}" type="pres">
      <dgm:prSet presAssocID="{2161C9CB-931D-4A85-AB56-1372A9B5121A}" presName="sibTrans" presStyleLbl="sibTrans2D1" presStyleIdx="6" presStyleCnt="8"/>
      <dgm:spPr/>
    </dgm:pt>
    <dgm:pt modelId="{EB19CBBC-BCC2-4F7B-89FA-899854701F18}" type="pres">
      <dgm:prSet presAssocID="{2161C9CB-931D-4A85-AB56-1372A9B5121A}" presName="connectorText" presStyleLbl="sibTrans2D1" presStyleIdx="6" presStyleCnt="8"/>
      <dgm:spPr/>
    </dgm:pt>
    <dgm:pt modelId="{9E9B0BBA-1797-4EA6-8F4D-5B96F833FA25}" type="pres">
      <dgm:prSet presAssocID="{570A6268-CA71-4B50-A07B-C24133B5FA20}" presName="node" presStyleLbl="node1" presStyleIdx="7" presStyleCnt="9">
        <dgm:presLayoutVars>
          <dgm:bulletEnabled val="1"/>
        </dgm:presLayoutVars>
      </dgm:prSet>
      <dgm:spPr/>
    </dgm:pt>
    <dgm:pt modelId="{198D9A7D-8538-4BB5-9211-852FF98FB310}" type="pres">
      <dgm:prSet presAssocID="{93FEC5EB-C04B-4201-BF8C-5D9315A54A7D}" presName="sibTrans" presStyleLbl="sibTrans2D1" presStyleIdx="7" presStyleCnt="8"/>
      <dgm:spPr/>
    </dgm:pt>
    <dgm:pt modelId="{EB6DED35-8AD7-4437-B2AB-CE2BD20423C6}" type="pres">
      <dgm:prSet presAssocID="{93FEC5EB-C04B-4201-BF8C-5D9315A54A7D}" presName="connectorText" presStyleLbl="sibTrans2D1" presStyleIdx="7" presStyleCnt="8"/>
      <dgm:spPr/>
    </dgm:pt>
    <dgm:pt modelId="{42FC21E2-B57C-481F-80DA-3A1A49187FB2}" type="pres">
      <dgm:prSet presAssocID="{43F21C7E-47B1-4762-9DEC-0AFDEAEFF95D}" presName="node" presStyleLbl="node1" presStyleIdx="8" presStyleCnt="9">
        <dgm:presLayoutVars>
          <dgm:bulletEnabled val="1"/>
        </dgm:presLayoutVars>
      </dgm:prSet>
      <dgm:spPr/>
    </dgm:pt>
  </dgm:ptLst>
  <dgm:cxnLst>
    <dgm:cxn modelId="{88F3901C-5F19-4DA9-AA6D-31279D862949}" type="presOf" srcId="{A4269A2E-47F5-4615-8E31-B668E870CCEC}" destId="{4509B2AC-2937-4F81-AC47-BBA285568178}" srcOrd="1" destOrd="0" presId="urn:microsoft.com/office/officeart/2005/8/layout/process5"/>
    <dgm:cxn modelId="{722BA026-E30D-4665-AFF4-773B1FD591C9}" srcId="{ADC268A5-6D94-43EC-A225-81698668CF0E}" destId="{6386E832-66D2-462D-8F25-75E039FBE6E4}" srcOrd="0" destOrd="0" parTransId="{A0D66B6B-2603-4915-A65E-38C144C61CFF}" sibTransId="{EE629B34-6330-4917-9746-E104AED4CF19}"/>
    <dgm:cxn modelId="{D750992B-8FB5-4631-890D-9C0797A05505}" type="presOf" srcId="{3B2BFDC3-6558-4201-91FD-B9273175139F}" destId="{AEB79D77-4C1C-405D-81B2-13C1291A2685}" srcOrd="0" destOrd="0" presId="urn:microsoft.com/office/officeart/2005/8/layout/process5"/>
    <dgm:cxn modelId="{DD9D5135-999B-42F8-86F1-CD108B85C3CC}" type="presOf" srcId="{43F21C7E-47B1-4762-9DEC-0AFDEAEFF95D}" destId="{42FC21E2-B57C-481F-80DA-3A1A49187FB2}" srcOrd="0" destOrd="0" presId="urn:microsoft.com/office/officeart/2005/8/layout/process5"/>
    <dgm:cxn modelId="{28CE4560-F553-47DD-BD03-5E10D9C20E8D}" type="presOf" srcId="{E2777DCD-047C-481F-8F4F-B70AE49A1E13}" destId="{329BCE3D-40B4-452E-8808-8E62DDCF9726}" srcOrd="0" destOrd="0" presId="urn:microsoft.com/office/officeart/2005/8/layout/process5"/>
    <dgm:cxn modelId="{2EB0BB42-D110-4169-965D-34E4DAF95B4E}" srcId="{ADC268A5-6D94-43EC-A225-81698668CF0E}" destId="{5D8A26A5-46AF-48C9-A5D5-EB3FC65DD0EF}" srcOrd="5" destOrd="0" parTransId="{6258A9C0-993E-4D12-906B-F054555E9BC1}" sibTransId="{B51E0D5B-874A-46FE-A748-C7242C07F70C}"/>
    <dgm:cxn modelId="{5956F76B-4165-4AD4-B955-476C786B1E7A}" type="presOf" srcId="{93FEC5EB-C04B-4201-BF8C-5D9315A54A7D}" destId="{198D9A7D-8538-4BB5-9211-852FF98FB310}" srcOrd="0" destOrd="0" presId="urn:microsoft.com/office/officeart/2005/8/layout/process5"/>
    <dgm:cxn modelId="{98B33F4C-CC64-4C33-9693-4E56F00933CA}" srcId="{ADC268A5-6D94-43EC-A225-81698668CF0E}" destId="{21B32986-6E1D-49E1-9A72-E44C46522A4B}" srcOrd="1" destOrd="0" parTransId="{16017EDB-CBD2-4B10-A4FE-632BF085DF3F}" sibTransId="{A4269A2E-47F5-4615-8E31-B668E870CCEC}"/>
    <dgm:cxn modelId="{834D996E-6946-44C7-9E0F-68487070E997}" srcId="{ADC268A5-6D94-43EC-A225-81698668CF0E}" destId="{96555BB2-6CDA-49DF-9695-DA93595ABC83}" srcOrd="6" destOrd="0" parTransId="{DE792263-FE7D-4AE4-BF68-2A05CFB3F5F5}" sibTransId="{2161C9CB-931D-4A85-AB56-1372A9B5121A}"/>
    <dgm:cxn modelId="{B74CD650-6903-48BA-B03E-552854EC6E49}" type="presOf" srcId="{6386E832-66D2-462D-8F25-75E039FBE6E4}" destId="{1470575D-C3C7-4349-A637-1D75D599D312}" srcOrd="0" destOrd="0" presId="urn:microsoft.com/office/officeart/2005/8/layout/process5"/>
    <dgm:cxn modelId="{CBFFC057-9313-4E1A-A692-56CA37EDA154}" type="presOf" srcId="{2161C9CB-931D-4A85-AB56-1372A9B5121A}" destId="{48719BB3-653F-42A6-BE11-DBFB7F5771C6}" srcOrd="0" destOrd="0" presId="urn:microsoft.com/office/officeart/2005/8/layout/process5"/>
    <dgm:cxn modelId="{BDAF247A-9B64-4272-AB0F-D17397B37CB0}" type="presOf" srcId="{ADC268A5-6D94-43EC-A225-81698668CF0E}" destId="{5D27A78C-8122-4E62-BF77-2E1169286478}" srcOrd="0" destOrd="0" presId="urn:microsoft.com/office/officeart/2005/8/layout/process5"/>
    <dgm:cxn modelId="{11C16986-93B3-4D0C-9170-3549C85354F8}" srcId="{ADC268A5-6D94-43EC-A225-81698668CF0E}" destId="{570A6268-CA71-4B50-A07B-C24133B5FA20}" srcOrd="7" destOrd="0" parTransId="{1914279D-01C9-4653-A976-5AB226D1219F}" sibTransId="{93FEC5EB-C04B-4201-BF8C-5D9315A54A7D}"/>
    <dgm:cxn modelId="{12B0F887-7A2B-4F1B-9A28-2B6D15BADDBE}" type="presOf" srcId="{21B32986-6E1D-49E1-9A72-E44C46522A4B}" destId="{EE27C974-6997-4DD9-AF78-217E9BD67949}" srcOrd="0" destOrd="0" presId="urn:microsoft.com/office/officeart/2005/8/layout/process5"/>
    <dgm:cxn modelId="{26A77C8F-6F50-4DCA-8B82-EB16776211B1}" type="presOf" srcId="{2161C9CB-931D-4A85-AB56-1372A9B5121A}" destId="{EB19CBBC-BCC2-4F7B-89FA-899854701F18}" srcOrd="1" destOrd="0" presId="urn:microsoft.com/office/officeart/2005/8/layout/process5"/>
    <dgm:cxn modelId="{5B6D0492-EE15-48B4-9051-35480D96F214}" type="presOf" srcId="{93FEC5EB-C04B-4201-BF8C-5D9315A54A7D}" destId="{EB6DED35-8AD7-4437-B2AB-CE2BD20423C6}" srcOrd="1" destOrd="0" presId="urn:microsoft.com/office/officeart/2005/8/layout/process5"/>
    <dgm:cxn modelId="{0748F692-1916-43BA-AC41-0EBE6E8FD783}" srcId="{ADC268A5-6D94-43EC-A225-81698668CF0E}" destId="{43F21C7E-47B1-4762-9DEC-0AFDEAEFF95D}" srcOrd="8" destOrd="0" parTransId="{F530E1CC-1D37-4E90-A6BB-AC65E324B1A4}" sibTransId="{E4628C92-D5C1-40AA-A7E4-4C40E18B4272}"/>
    <dgm:cxn modelId="{F8A08898-CC82-43C3-A0A5-5F137A49C761}" type="presOf" srcId="{5D8A26A5-46AF-48C9-A5D5-EB3FC65DD0EF}" destId="{0A2860BE-9A7E-4C52-B32A-BBD849D1E8B9}" srcOrd="0" destOrd="0" presId="urn:microsoft.com/office/officeart/2005/8/layout/process5"/>
    <dgm:cxn modelId="{B408119D-386C-4D49-9C7A-925F27108BCA}" srcId="{ADC268A5-6D94-43EC-A225-81698668CF0E}" destId="{E2777DCD-047C-481F-8F4F-B70AE49A1E13}" srcOrd="3" destOrd="0" parTransId="{30325234-8ECB-436E-B098-90A2B01B3A94}" sibTransId="{3B2BFDC3-6558-4201-91FD-B9273175139F}"/>
    <dgm:cxn modelId="{624D9F9E-9BFE-4DCA-9EC0-A676C73D9810}" type="presOf" srcId="{EE629B34-6330-4917-9746-E104AED4CF19}" destId="{585128A7-D475-464B-9A7C-A47F3B7AE075}" srcOrd="1" destOrd="0" presId="urn:microsoft.com/office/officeart/2005/8/layout/process5"/>
    <dgm:cxn modelId="{D9F199A0-9030-4C99-B525-6D39FC5501D5}" srcId="{ADC268A5-6D94-43EC-A225-81698668CF0E}" destId="{9C832B7D-88BF-4B44-8ECF-2818E414BEEB}" srcOrd="4" destOrd="0" parTransId="{DD35FBE0-DB4D-4280-BB7D-BC1DC7F317B5}" sibTransId="{8A147E50-24F8-4000-9E09-E0EAA32339CC}"/>
    <dgm:cxn modelId="{0EBA90A2-CFEA-4C2D-A811-7BE7A3BFF1E3}" type="presOf" srcId="{96555BB2-6CDA-49DF-9695-DA93595ABC83}" destId="{DD479B41-1106-4E06-998C-B166369DF678}" srcOrd="0" destOrd="0" presId="urn:microsoft.com/office/officeart/2005/8/layout/process5"/>
    <dgm:cxn modelId="{AE194FA5-72E2-460A-882B-D368AEEFB5E5}" type="presOf" srcId="{DB8FB09E-467E-40F4-B808-68B1D26E8F86}" destId="{4664446E-D855-41B7-9B69-24A6746505AF}" srcOrd="0" destOrd="0" presId="urn:microsoft.com/office/officeart/2005/8/layout/process5"/>
    <dgm:cxn modelId="{CE3702A7-CEEB-46A8-BFE6-4C1B79B62AE3}" type="presOf" srcId="{8C296C26-427C-488A-A1B0-1D4F0E1C77EE}" destId="{88163437-A54D-45BB-92BE-C20F6AC0D8C3}" srcOrd="0" destOrd="0" presId="urn:microsoft.com/office/officeart/2005/8/layout/process5"/>
    <dgm:cxn modelId="{DB8AB2AE-4A08-439A-972D-F7269FCE1F62}" type="presOf" srcId="{570A6268-CA71-4B50-A07B-C24133B5FA20}" destId="{9E9B0BBA-1797-4EA6-8F4D-5B96F833FA25}" srcOrd="0" destOrd="0" presId="urn:microsoft.com/office/officeart/2005/8/layout/process5"/>
    <dgm:cxn modelId="{01F11EC8-0896-4B59-A83B-7E993C9D3790}" type="presOf" srcId="{8A147E50-24F8-4000-9E09-E0EAA32339CC}" destId="{28C96C42-719F-420A-820B-B367762FDA8A}" srcOrd="1" destOrd="0" presId="urn:microsoft.com/office/officeart/2005/8/layout/process5"/>
    <dgm:cxn modelId="{69A364C9-8A06-4E0D-AD2E-8884A9423BA0}" type="presOf" srcId="{8A147E50-24F8-4000-9E09-E0EAA32339CC}" destId="{0E3D4347-85B4-4911-8720-2A2501B669F2}" srcOrd="0" destOrd="0" presId="urn:microsoft.com/office/officeart/2005/8/layout/process5"/>
    <dgm:cxn modelId="{A56EACCD-EA9F-487D-9E79-30D53F9C95B1}" type="presOf" srcId="{B51E0D5B-874A-46FE-A748-C7242C07F70C}" destId="{04D5AAC1-2DEC-4A9C-9417-785A68687001}" srcOrd="0" destOrd="0" presId="urn:microsoft.com/office/officeart/2005/8/layout/process5"/>
    <dgm:cxn modelId="{708FCCD2-B0C4-4D1C-8DCD-28DAAE58F135}" type="presOf" srcId="{8C296C26-427C-488A-A1B0-1D4F0E1C77EE}" destId="{FBFF08D3-517A-4619-838C-48BBB8BC0AC7}" srcOrd="1" destOrd="0" presId="urn:microsoft.com/office/officeart/2005/8/layout/process5"/>
    <dgm:cxn modelId="{0B9ECFD5-EE2B-44D6-9668-F10BE0BD3D4C}" type="presOf" srcId="{EE629B34-6330-4917-9746-E104AED4CF19}" destId="{7E4C408F-2771-4BC2-8FE4-4024889BF191}" srcOrd="0" destOrd="0" presId="urn:microsoft.com/office/officeart/2005/8/layout/process5"/>
    <dgm:cxn modelId="{F2F29AD9-E3F0-43FE-8CF3-15F1EA87AEB2}" type="presOf" srcId="{A4269A2E-47F5-4615-8E31-B668E870CCEC}" destId="{3DB16EB9-1562-46BC-B247-36B479FF9DC4}" srcOrd="0" destOrd="0" presId="urn:microsoft.com/office/officeart/2005/8/layout/process5"/>
    <dgm:cxn modelId="{709C04EF-9912-419C-9CDE-39704637030B}" type="presOf" srcId="{B51E0D5B-874A-46FE-A748-C7242C07F70C}" destId="{5E81C028-3A9F-49AF-9B2F-6BFC44D0CFCE}" srcOrd="1" destOrd="0" presId="urn:microsoft.com/office/officeart/2005/8/layout/process5"/>
    <dgm:cxn modelId="{F5B5D5F6-2B67-4EAD-B83C-FC24B6738F33}" type="presOf" srcId="{3B2BFDC3-6558-4201-91FD-B9273175139F}" destId="{0B4F584F-857D-4731-B758-17791B2CD990}" srcOrd="1" destOrd="0" presId="urn:microsoft.com/office/officeart/2005/8/layout/process5"/>
    <dgm:cxn modelId="{E2744EFC-C0FD-455A-81C6-D6ECE1DF18EA}" srcId="{ADC268A5-6D94-43EC-A225-81698668CF0E}" destId="{DB8FB09E-467E-40F4-B808-68B1D26E8F86}" srcOrd="2" destOrd="0" parTransId="{8CB28DF1-F58C-45E6-A3AA-B5B867FF08A1}" sibTransId="{8C296C26-427C-488A-A1B0-1D4F0E1C77EE}"/>
    <dgm:cxn modelId="{CE83B7FD-6A42-48BA-822D-F345732A8557}" type="presOf" srcId="{9C832B7D-88BF-4B44-8ECF-2818E414BEEB}" destId="{10E43407-3653-4B5D-9B2D-50C7814782E3}" srcOrd="0" destOrd="0" presId="urn:microsoft.com/office/officeart/2005/8/layout/process5"/>
    <dgm:cxn modelId="{D1C9B26D-8973-4285-812A-C35A15330C79}" type="presParOf" srcId="{5D27A78C-8122-4E62-BF77-2E1169286478}" destId="{1470575D-C3C7-4349-A637-1D75D599D312}" srcOrd="0" destOrd="0" presId="urn:microsoft.com/office/officeart/2005/8/layout/process5"/>
    <dgm:cxn modelId="{95C15B5F-35C3-4119-86F0-A25240764BA2}" type="presParOf" srcId="{5D27A78C-8122-4E62-BF77-2E1169286478}" destId="{7E4C408F-2771-4BC2-8FE4-4024889BF191}" srcOrd="1" destOrd="0" presId="urn:microsoft.com/office/officeart/2005/8/layout/process5"/>
    <dgm:cxn modelId="{98702CAD-E19C-4BB0-80AC-2A5443936434}" type="presParOf" srcId="{7E4C408F-2771-4BC2-8FE4-4024889BF191}" destId="{585128A7-D475-464B-9A7C-A47F3B7AE075}" srcOrd="0" destOrd="0" presId="urn:microsoft.com/office/officeart/2005/8/layout/process5"/>
    <dgm:cxn modelId="{F60E88C8-3F6E-4008-902E-D0A5755B4B93}" type="presParOf" srcId="{5D27A78C-8122-4E62-BF77-2E1169286478}" destId="{EE27C974-6997-4DD9-AF78-217E9BD67949}" srcOrd="2" destOrd="0" presId="urn:microsoft.com/office/officeart/2005/8/layout/process5"/>
    <dgm:cxn modelId="{A8C12D5E-BF52-4204-85F1-D365D16BDCC4}" type="presParOf" srcId="{5D27A78C-8122-4E62-BF77-2E1169286478}" destId="{3DB16EB9-1562-46BC-B247-36B479FF9DC4}" srcOrd="3" destOrd="0" presId="urn:microsoft.com/office/officeart/2005/8/layout/process5"/>
    <dgm:cxn modelId="{A0CAF6A3-8EE7-4F51-91D3-EB0BB6247B9F}" type="presParOf" srcId="{3DB16EB9-1562-46BC-B247-36B479FF9DC4}" destId="{4509B2AC-2937-4F81-AC47-BBA285568178}" srcOrd="0" destOrd="0" presId="urn:microsoft.com/office/officeart/2005/8/layout/process5"/>
    <dgm:cxn modelId="{FDF46FCF-165C-4829-9B8E-70798B9F2D82}" type="presParOf" srcId="{5D27A78C-8122-4E62-BF77-2E1169286478}" destId="{4664446E-D855-41B7-9B69-24A6746505AF}" srcOrd="4" destOrd="0" presId="urn:microsoft.com/office/officeart/2005/8/layout/process5"/>
    <dgm:cxn modelId="{0ED663FA-4C0D-4A43-B354-36A76440B978}" type="presParOf" srcId="{5D27A78C-8122-4E62-BF77-2E1169286478}" destId="{88163437-A54D-45BB-92BE-C20F6AC0D8C3}" srcOrd="5" destOrd="0" presId="urn:microsoft.com/office/officeart/2005/8/layout/process5"/>
    <dgm:cxn modelId="{26D1C5BF-F6D2-4A4B-803E-442ED67D29C4}" type="presParOf" srcId="{88163437-A54D-45BB-92BE-C20F6AC0D8C3}" destId="{FBFF08D3-517A-4619-838C-48BBB8BC0AC7}" srcOrd="0" destOrd="0" presId="urn:microsoft.com/office/officeart/2005/8/layout/process5"/>
    <dgm:cxn modelId="{39840C7D-1A3F-45A7-8B1B-602E1E9690CE}" type="presParOf" srcId="{5D27A78C-8122-4E62-BF77-2E1169286478}" destId="{329BCE3D-40B4-452E-8808-8E62DDCF9726}" srcOrd="6" destOrd="0" presId="urn:microsoft.com/office/officeart/2005/8/layout/process5"/>
    <dgm:cxn modelId="{B7C7DF3F-F86A-4913-A44D-A732F2D743DF}" type="presParOf" srcId="{5D27A78C-8122-4E62-BF77-2E1169286478}" destId="{AEB79D77-4C1C-405D-81B2-13C1291A2685}" srcOrd="7" destOrd="0" presId="urn:microsoft.com/office/officeart/2005/8/layout/process5"/>
    <dgm:cxn modelId="{D1BF1C00-2376-4394-82BC-B941B731D047}" type="presParOf" srcId="{AEB79D77-4C1C-405D-81B2-13C1291A2685}" destId="{0B4F584F-857D-4731-B758-17791B2CD990}" srcOrd="0" destOrd="0" presId="urn:microsoft.com/office/officeart/2005/8/layout/process5"/>
    <dgm:cxn modelId="{F8B1ADC1-1C27-4020-8E5F-D7FC94A5AACA}" type="presParOf" srcId="{5D27A78C-8122-4E62-BF77-2E1169286478}" destId="{10E43407-3653-4B5D-9B2D-50C7814782E3}" srcOrd="8" destOrd="0" presId="urn:microsoft.com/office/officeart/2005/8/layout/process5"/>
    <dgm:cxn modelId="{64E343B1-232D-4096-8AD9-316C590291E5}" type="presParOf" srcId="{5D27A78C-8122-4E62-BF77-2E1169286478}" destId="{0E3D4347-85B4-4911-8720-2A2501B669F2}" srcOrd="9" destOrd="0" presId="urn:microsoft.com/office/officeart/2005/8/layout/process5"/>
    <dgm:cxn modelId="{7E5CBB82-1EBE-4912-AF91-6C5E5BEE9FB4}" type="presParOf" srcId="{0E3D4347-85B4-4911-8720-2A2501B669F2}" destId="{28C96C42-719F-420A-820B-B367762FDA8A}" srcOrd="0" destOrd="0" presId="urn:microsoft.com/office/officeart/2005/8/layout/process5"/>
    <dgm:cxn modelId="{67BD79E4-7B5D-49BD-8340-E767F6D13408}" type="presParOf" srcId="{5D27A78C-8122-4E62-BF77-2E1169286478}" destId="{0A2860BE-9A7E-4C52-B32A-BBD849D1E8B9}" srcOrd="10" destOrd="0" presId="urn:microsoft.com/office/officeart/2005/8/layout/process5"/>
    <dgm:cxn modelId="{4B778B55-74E4-428D-B84C-B331E8CDF933}" type="presParOf" srcId="{5D27A78C-8122-4E62-BF77-2E1169286478}" destId="{04D5AAC1-2DEC-4A9C-9417-785A68687001}" srcOrd="11" destOrd="0" presId="urn:microsoft.com/office/officeart/2005/8/layout/process5"/>
    <dgm:cxn modelId="{B3F01F03-E624-4661-81CA-E662AFA8623F}" type="presParOf" srcId="{04D5AAC1-2DEC-4A9C-9417-785A68687001}" destId="{5E81C028-3A9F-49AF-9B2F-6BFC44D0CFCE}" srcOrd="0" destOrd="0" presId="urn:microsoft.com/office/officeart/2005/8/layout/process5"/>
    <dgm:cxn modelId="{BF15C6F3-D2DB-4677-9B48-BB6843B47D7C}" type="presParOf" srcId="{5D27A78C-8122-4E62-BF77-2E1169286478}" destId="{DD479B41-1106-4E06-998C-B166369DF678}" srcOrd="12" destOrd="0" presId="urn:microsoft.com/office/officeart/2005/8/layout/process5"/>
    <dgm:cxn modelId="{AD2B22D6-3924-4B12-8A24-73F9D14A0DF8}" type="presParOf" srcId="{5D27A78C-8122-4E62-BF77-2E1169286478}" destId="{48719BB3-653F-42A6-BE11-DBFB7F5771C6}" srcOrd="13" destOrd="0" presId="urn:microsoft.com/office/officeart/2005/8/layout/process5"/>
    <dgm:cxn modelId="{6BEC57FD-77FC-40B3-A00C-1E8E0FA473B0}" type="presParOf" srcId="{48719BB3-653F-42A6-BE11-DBFB7F5771C6}" destId="{EB19CBBC-BCC2-4F7B-89FA-899854701F18}" srcOrd="0" destOrd="0" presId="urn:microsoft.com/office/officeart/2005/8/layout/process5"/>
    <dgm:cxn modelId="{6A0191ED-EC85-45EA-8C6A-1B783EC6F32A}" type="presParOf" srcId="{5D27A78C-8122-4E62-BF77-2E1169286478}" destId="{9E9B0BBA-1797-4EA6-8F4D-5B96F833FA25}" srcOrd="14" destOrd="0" presId="urn:microsoft.com/office/officeart/2005/8/layout/process5"/>
    <dgm:cxn modelId="{873DAEAA-1A9C-4462-9FF8-9FC1F7F03B49}" type="presParOf" srcId="{5D27A78C-8122-4E62-BF77-2E1169286478}" destId="{198D9A7D-8538-4BB5-9211-852FF98FB310}" srcOrd="15" destOrd="0" presId="urn:microsoft.com/office/officeart/2005/8/layout/process5"/>
    <dgm:cxn modelId="{2748FFC0-358B-42EE-8330-F7CC426715C1}" type="presParOf" srcId="{198D9A7D-8538-4BB5-9211-852FF98FB310}" destId="{EB6DED35-8AD7-4437-B2AB-CE2BD20423C6}" srcOrd="0" destOrd="0" presId="urn:microsoft.com/office/officeart/2005/8/layout/process5"/>
    <dgm:cxn modelId="{79D4585D-2C4B-4E35-935A-DEC6C8DFA505}" type="presParOf" srcId="{5D27A78C-8122-4E62-BF77-2E1169286478}" destId="{42FC21E2-B57C-481F-80DA-3A1A49187FB2}"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F89D5-3522-4D2C-846A-FAFDB8768BD3}">
      <dsp:nvSpPr>
        <dsp:cNvPr id="0" name=""/>
        <dsp:cNvSpPr/>
      </dsp:nvSpPr>
      <dsp:spPr>
        <a:xfrm>
          <a:off x="496780" y="344"/>
          <a:ext cx="1670273" cy="1002163"/>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latin typeface="Times New Roman" panose="02020603050405020304" pitchFamily="18" charset="0"/>
              <a:cs typeface="Times New Roman" panose="02020603050405020304" pitchFamily="18" charset="0"/>
            </a:rPr>
            <a:t>Load the Flood Dataset and Import Necessary Libraries</a:t>
          </a:r>
        </a:p>
      </dsp:txBody>
      <dsp:txXfrm>
        <a:off x="526132" y="29696"/>
        <a:ext cx="1611569" cy="943459"/>
      </dsp:txXfrm>
    </dsp:sp>
    <dsp:sp modelId="{0E87A58C-C713-4BD6-89D9-7684E600B2CA}">
      <dsp:nvSpPr>
        <dsp:cNvPr id="0" name=""/>
        <dsp:cNvSpPr/>
      </dsp:nvSpPr>
      <dsp:spPr>
        <a:xfrm>
          <a:off x="2314038" y="294312"/>
          <a:ext cx="354097" cy="414227"/>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314038" y="377157"/>
        <a:ext cx="247868" cy="248537"/>
      </dsp:txXfrm>
    </dsp:sp>
    <dsp:sp modelId="{E6923BA0-931B-4D84-B829-E790F163ED15}">
      <dsp:nvSpPr>
        <dsp:cNvPr id="0" name=""/>
        <dsp:cNvSpPr/>
      </dsp:nvSpPr>
      <dsp:spPr>
        <a:xfrm>
          <a:off x="2835163" y="344"/>
          <a:ext cx="1670273" cy="1002163"/>
        </a:xfrm>
        <a:prstGeom prst="roundRect">
          <a:avLst>
            <a:gd name="adj" fmla="val 10000"/>
          </a:avLst>
        </a:prstGeom>
        <a:solidFill>
          <a:schemeClr val="accent2">
            <a:hueOff val="-859689"/>
            <a:satOff val="-8314"/>
            <a:lumOff val="184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Preprocess and Preparing the data</a:t>
          </a:r>
        </a:p>
      </dsp:txBody>
      <dsp:txXfrm>
        <a:off x="2864515" y="29696"/>
        <a:ext cx="1611569" cy="943459"/>
      </dsp:txXfrm>
    </dsp:sp>
    <dsp:sp modelId="{A296A947-6BCF-4890-86A1-7B86E31C0A47}">
      <dsp:nvSpPr>
        <dsp:cNvPr id="0" name=""/>
        <dsp:cNvSpPr/>
      </dsp:nvSpPr>
      <dsp:spPr>
        <a:xfrm>
          <a:off x="4652420" y="294312"/>
          <a:ext cx="354097" cy="414227"/>
        </a:xfrm>
        <a:prstGeom prst="rightArrow">
          <a:avLst>
            <a:gd name="adj1" fmla="val 60000"/>
            <a:gd name="adj2" fmla="val 50000"/>
          </a:avLst>
        </a:prstGeom>
        <a:solidFill>
          <a:schemeClr val="accent2">
            <a:hueOff val="-1002971"/>
            <a:satOff val="-9699"/>
            <a:lumOff val="2157"/>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4652420" y="377157"/>
        <a:ext cx="247868" cy="248537"/>
      </dsp:txXfrm>
    </dsp:sp>
    <dsp:sp modelId="{C72D875E-73FA-4DAA-8123-04447F8EB741}">
      <dsp:nvSpPr>
        <dsp:cNvPr id="0" name=""/>
        <dsp:cNvSpPr/>
      </dsp:nvSpPr>
      <dsp:spPr>
        <a:xfrm>
          <a:off x="5173545" y="344"/>
          <a:ext cx="1670273" cy="1002163"/>
        </a:xfrm>
        <a:prstGeom prst="roundRect">
          <a:avLst>
            <a:gd name="adj" fmla="val 10000"/>
          </a:avLst>
        </a:prstGeom>
        <a:solidFill>
          <a:schemeClr val="accent2">
            <a:hueOff val="-1719379"/>
            <a:satOff val="-16627"/>
            <a:lumOff val="36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a:latin typeface="Times New Roman" panose="02020603050405020304" pitchFamily="18" charset="0"/>
              <a:cs typeface="Times New Roman" panose="02020603050405020304" pitchFamily="18" charset="0"/>
            </a:rPr>
            <a:t>Feature Selection</a:t>
          </a:r>
          <a:endParaRPr lang="en-IN" sz="1800" b="1" kern="1200" dirty="0">
            <a:latin typeface="Times New Roman" panose="02020603050405020304" pitchFamily="18" charset="0"/>
            <a:cs typeface="Times New Roman" panose="02020603050405020304" pitchFamily="18" charset="0"/>
          </a:endParaRPr>
        </a:p>
      </dsp:txBody>
      <dsp:txXfrm>
        <a:off x="5202897" y="29696"/>
        <a:ext cx="1611569" cy="943459"/>
      </dsp:txXfrm>
    </dsp:sp>
    <dsp:sp modelId="{F846FFFD-88D4-4633-B1DF-08DD498F8EAC}">
      <dsp:nvSpPr>
        <dsp:cNvPr id="0" name=""/>
        <dsp:cNvSpPr/>
      </dsp:nvSpPr>
      <dsp:spPr>
        <a:xfrm rot="5400000">
          <a:off x="5831633" y="1119427"/>
          <a:ext cx="354097" cy="414227"/>
        </a:xfrm>
        <a:prstGeom prst="rightArrow">
          <a:avLst>
            <a:gd name="adj1" fmla="val 60000"/>
            <a:gd name="adj2" fmla="val 50000"/>
          </a:avLst>
        </a:prstGeom>
        <a:solidFill>
          <a:schemeClr val="accent2">
            <a:hueOff val="-2005942"/>
            <a:satOff val="-19399"/>
            <a:lumOff val="4314"/>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5400000">
        <a:off x="5884414" y="1149492"/>
        <a:ext cx="248537" cy="247868"/>
      </dsp:txXfrm>
    </dsp:sp>
    <dsp:sp modelId="{C5999B1D-60CF-41D7-9862-C25B0855DE19}">
      <dsp:nvSpPr>
        <dsp:cNvPr id="0" name=""/>
        <dsp:cNvSpPr/>
      </dsp:nvSpPr>
      <dsp:spPr>
        <a:xfrm>
          <a:off x="5173545" y="1670617"/>
          <a:ext cx="1670273" cy="1002163"/>
        </a:xfrm>
        <a:prstGeom prst="roundRect">
          <a:avLst>
            <a:gd name="adj" fmla="val 10000"/>
          </a:avLst>
        </a:prstGeom>
        <a:solidFill>
          <a:schemeClr val="accent2">
            <a:hueOff val="-2579068"/>
            <a:satOff val="-24941"/>
            <a:lumOff val="554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Splitting dataset into training set and testing set</a:t>
          </a:r>
        </a:p>
      </dsp:txBody>
      <dsp:txXfrm>
        <a:off x="5202897" y="1699969"/>
        <a:ext cx="1611569" cy="943459"/>
      </dsp:txXfrm>
    </dsp:sp>
    <dsp:sp modelId="{7122C7F1-1CD0-4038-813E-FA009D025D32}">
      <dsp:nvSpPr>
        <dsp:cNvPr id="0" name=""/>
        <dsp:cNvSpPr/>
      </dsp:nvSpPr>
      <dsp:spPr>
        <a:xfrm rot="10800000">
          <a:off x="4672463" y="1964585"/>
          <a:ext cx="354097" cy="414227"/>
        </a:xfrm>
        <a:prstGeom prst="rightArrow">
          <a:avLst>
            <a:gd name="adj1" fmla="val 60000"/>
            <a:gd name="adj2" fmla="val 50000"/>
          </a:avLst>
        </a:prstGeom>
        <a:solidFill>
          <a:schemeClr val="accent2">
            <a:hueOff val="-3008913"/>
            <a:satOff val="-29098"/>
            <a:lumOff val="647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10800000">
        <a:off x="4778692" y="2047430"/>
        <a:ext cx="247868" cy="248537"/>
      </dsp:txXfrm>
    </dsp:sp>
    <dsp:sp modelId="{1700402F-E439-4AFA-97BD-5DF31CA0DBB6}">
      <dsp:nvSpPr>
        <dsp:cNvPr id="0" name=""/>
        <dsp:cNvSpPr/>
      </dsp:nvSpPr>
      <dsp:spPr>
        <a:xfrm>
          <a:off x="2835163" y="1670617"/>
          <a:ext cx="1670273" cy="1002163"/>
        </a:xfrm>
        <a:prstGeom prst="roundRect">
          <a:avLst>
            <a:gd name="adj" fmla="val 10000"/>
          </a:avLst>
        </a:prstGeom>
        <a:solidFill>
          <a:schemeClr val="accent2">
            <a:hueOff val="-3438758"/>
            <a:satOff val="-33255"/>
            <a:lumOff val="739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Apply XGBoost Model</a:t>
          </a:r>
        </a:p>
      </dsp:txBody>
      <dsp:txXfrm>
        <a:off x="2864515" y="1699969"/>
        <a:ext cx="1611569" cy="943459"/>
      </dsp:txXfrm>
    </dsp:sp>
    <dsp:sp modelId="{BC113BA1-43BB-49B5-86CE-62A5F60D7D1F}">
      <dsp:nvSpPr>
        <dsp:cNvPr id="0" name=""/>
        <dsp:cNvSpPr/>
      </dsp:nvSpPr>
      <dsp:spPr>
        <a:xfrm rot="10800000">
          <a:off x="2334081" y="1964585"/>
          <a:ext cx="354097" cy="414227"/>
        </a:xfrm>
        <a:prstGeom prst="rightArrow">
          <a:avLst>
            <a:gd name="adj1" fmla="val 60000"/>
            <a:gd name="adj2" fmla="val 50000"/>
          </a:avLst>
        </a:prstGeom>
        <a:solidFill>
          <a:schemeClr val="accent2">
            <a:hueOff val="-4011884"/>
            <a:satOff val="-38797"/>
            <a:lumOff val="8627"/>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10800000">
        <a:off x="2440310" y="2047430"/>
        <a:ext cx="247868" cy="248537"/>
      </dsp:txXfrm>
    </dsp:sp>
    <dsp:sp modelId="{86B8701D-2240-4B95-BC1C-C05A5C48A659}">
      <dsp:nvSpPr>
        <dsp:cNvPr id="0" name=""/>
        <dsp:cNvSpPr/>
      </dsp:nvSpPr>
      <dsp:spPr>
        <a:xfrm>
          <a:off x="496780" y="1670617"/>
          <a:ext cx="1670273" cy="1002163"/>
        </a:xfrm>
        <a:prstGeom prst="roundRect">
          <a:avLst>
            <a:gd name="adj" fmla="val 10000"/>
          </a:avLst>
        </a:prstGeom>
        <a:solidFill>
          <a:schemeClr val="accent2">
            <a:hueOff val="-4298447"/>
            <a:satOff val="-41569"/>
            <a:lumOff val="924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Train the Model</a:t>
          </a:r>
        </a:p>
      </dsp:txBody>
      <dsp:txXfrm>
        <a:off x="526132" y="1699969"/>
        <a:ext cx="1611569" cy="943459"/>
      </dsp:txXfrm>
    </dsp:sp>
    <dsp:sp modelId="{E4F8724E-502E-4F59-A5B0-096C3DDEEDB5}">
      <dsp:nvSpPr>
        <dsp:cNvPr id="0" name=""/>
        <dsp:cNvSpPr/>
      </dsp:nvSpPr>
      <dsp:spPr>
        <a:xfrm rot="5400000">
          <a:off x="1154868" y="2789700"/>
          <a:ext cx="354097" cy="414227"/>
        </a:xfrm>
        <a:prstGeom prst="rightArrow">
          <a:avLst>
            <a:gd name="adj1" fmla="val 60000"/>
            <a:gd name="adj2" fmla="val 50000"/>
          </a:avLst>
        </a:prstGeom>
        <a:solidFill>
          <a:schemeClr val="accent2">
            <a:hueOff val="-5014854"/>
            <a:satOff val="-48497"/>
            <a:lumOff val="10784"/>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5400000">
        <a:off x="1207649" y="2819765"/>
        <a:ext cx="248537" cy="247868"/>
      </dsp:txXfrm>
    </dsp:sp>
    <dsp:sp modelId="{29317F5E-DA3C-4E63-A7CB-F8404F6C5091}">
      <dsp:nvSpPr>
        <dsp:cNvPr id="0" name=""/>
        <dsp:cNvSpPr/>
      </dsp:nvSpPr>
      <dsp:spPr>
        <a:xfrm>
          <a:off x="496780" y="3340890"/>
          <a:ext cx="1670273" cy="1002163"/>
        </a:xfrm>
        <a:prstGeom prst="roundRect">
          <a:avLst>
            <a:gd name="adj" fmla="val 10000"/>
          </a:avLst>
        </a:prstGeom>
        <a:solidFill>
          <a:schemeClr val="accent2">
            <a:hueOff val="-5158136"/>
            <a:satOff val="-49882"/>
            <a:lumOff val="1109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Make Predictions</a:t>
          </a:r>
        </a:p>
      </dsp:txBody>
      <dsp:txXfrm>
        <a:off x="526132" y="3370242"/>
        <a:ext cx="1611569" cy="943459"/>
      </dsp:txXfrm>
    </dsp:sp>
    <dsp:sp modelId="{CE0ECB3B-A873-403A-88BF-20289B7A6A92}">
      <dsp:nvSpPr>
        <dsp:cNvPr id="0" name=""/>
        <dsp:cNvSpPr/>
      </dsp:nvSpPr>
      <dsp:spPr>
        <a:xfrm>
          <a:off x="2314038" y="3634858"/>
          <a:ext cx="354097" cy="414227"/>
        </a:xfrm>
        <a:prstGeom prst="rightArrow">
          <a:avLst>
            <a:gd name="adj1" fmla="val 60000"/>
            <a:gd name="adj2" fmla="val 50000"/>
          </a:avLst>
        </a:prstGeom>
        <a:solidFill>
          <a:schemeClr val="accent2">
            <a:hueOff val="-6017825"/>
            <a:satOff val="-58196"/>
            <a:lumOff val="1294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314038" y="3717703"/>
        <a:ext cx="247868" cy="248537"/>
      </dsp:txXfrm>
    </dsp:sp>
    <dsp:sp modelId="{171C6EA0-B274-4C8F-B7B1-D34B6BC05ACA}">
      <dsp:nvSpPr>
        <dsp:cNvPr id="0" name=""/>
        <dsp:cNvSpPr/>
      </dsp:nvSpPr>
      <dsp:spPr>
        <a:xfrm>
          <a:off x="2835163" y="3340890"/>
          <a:ext cx="1670273" cy="1002163"/>
        </a:xfrm>
        <a:prstGeom prst="roundRect">
          <a:avLst>
            <a:gd name="adj" fmla="val 10000"/>
          </a:avLst>
        </a:prstGeom>
        <a:solidFill>
          <a:schemeClr val="accent2">
            <a:hueOff val="-6017825"/>
            <a:satOff val="-58196"/>
            <a:lumOff val="1294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Evaluating the performance using the metric RMSE</a:t>
          </a:r>
        </a:p>
      </dsp:txBody>
      <dsp:txXfrm>
        <a:off x="2864515" y="3370242"/>
        <a:ext cx="1611569" cy="943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75D56-938E-42A2-87C1-5ACD36BE55BA}">
      <dsp:nvSpPr>
        <dsp:cNvPr id="0" name=""/>
        <dsp:cNvSpPr/>
      </dsp:nvSpPr>
      <dsp:spPr>
        <a:xfrm>
          <a:off x="490329" y="1054"/>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Load Flood Dataset</a:t>
          </a:r>
        </a:p>
      </dsp:txBody>
      <dsp:txXfrm>
        <a:off x="521503" y="32228"/>
        <a:ext cx="1711584" cy="1002011"/>
      </dsp:txXfrm>
    </dsp:sp>
    <dsp:sp modelId="{B53EC692-7EEE-49EB-A0D0-AA1033B9A71B}">
      <dsp:nvSpPr>
        <dsp:cNvPr id="0" name=""/>
        <dsp:cNvSpPr/>
      </dsp:nvSpPr>
      <dsp:spPr>
        <a:xfrm>
          <a:off x="2420367" y="313266"/>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a:off x="2420367" y="401253"/>
        <a:ext cx="263251" cy="263961"/>
      </dsp:txXfrm>
    </dsp:sp>
    <dsp:sp modelId="{51ADBE92-1716-49A1-BF62-A1AFE0AAE12A}">
      <dsp:nvSpPr>
        <dsp:cNvPr id="0" name=""/>
        <dsp:cNvSpPr/>
      </dsp:nvSpPr>
      <dsp:spPr>
        <a:xfrm>
          <a:off x="2973833" y="1054"/>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Importing Necessary Libraries</a:t>
          </a:r>
        </a:p>
      </dsp:txBody>
      <dsp:txXfrm>
        <a:off x="3005007" y="32228"/>
        <a:ext cx="1711584" cy="1002011"/>
      </dsp:txXfrm>
    </dsp:sp>
    <dsp:sp modelId="{E2EFDD20-836E-4118-93CC-0400359035FF}">
      <dsp:nvSpPr>
        <dsp:cNvPr id="0" name=""/>
        <dsp:cNvSpPr/>
      </dsp:nvSpPr>
      <dsp:spPr>
        <a:xfrm>
          <a:off x="4903872" y="313266"/>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a:off x="4903872" y="401253"/>
        <a:ext cx="263251" cy="263961"/>
      </dsp:txXfrm>
    </dsp:sp>
    <dsp:sp modelId="{69CDE70F-605B-4563-AD48-53B32836916D}">
      <dsp:nvSpPr>
        <dsp:cNvPr id="0" name=""/>
        <dsp:cNvSpPr/>
      </dsp:nvSpPr>
      <dsp:spPr>
        <a:xfrm>
          <a:off x="5457338" y="1054"/>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Data Preprocessing</a:t>
          </a:r>
        </a:p>
      </dsp:txBody>
      <dsp:txXfrm>
        <a:off x="5488512" y="32228"/>
        <a:ext cx="1711584" cy="1002011"/>
      </dsp:txXfrm>
    </dsp:sp>
    <dsp:sp modelId="{099C743D-320F-4876-8A27-7B574421F912}">
      <dsp:nvSpPr>
        <dsp:cNvPr id="0" name=""/>
        <dsp:cNvSpPr/>
      </dsp:nvSpPr>
      <dsp:spPr>
        <a:xfrm rot="5400000">
          <a:off x="6156268" y="1189589"/>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rot="-5400000">
        <a:off x="6212324" y="1221520"/>
        <a:ext cx="263961" cy="263251"/>
      </dsp:txXfrm>
    </dsp:sp>
    <dsp:sp modelId="{2106B86E-2822-4F57-957B-A359920B55A0}">
      <dsp:nvSpPr>
        <dsp:cNvPr id="0" name=""/>
        <dsp:cNvSpPr/>
      </dsp:nvSpPr>
      <dsp:spPr>
        <a:xfrm>
          <a:off x="5457338" y="1774986"/>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Feature Selection</a:t>
          </a:r>
        </a:p>
      </dsp:txBody>
      <dsp:txXfrm>
        <a:off x="5488512" y="1806160"/>
        <a:ext cx="1711584" cy="1002011"/>
      </dsp:txXfrm>
    </dsp:sp>
    <dsp:sp modelId="{47A11B00-E1FE-4FC8-BB77-9D7B38D6014A}">
      <dsp:nvSpPr>
        <dsp:cNvPr id="0" name=""/>
        <dsp:cNvSpPr/>
      </dsp:nvSpPr>
      <dsp:spPr>
        <a:xfrm rot="10800000">
          <a:off x="4925159" y="2087198"/>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rot="10800000">
        <a:off x="5037981" y="2175185"/>
        <a:ext cx="263251" cy="263961"/>
      </dsp:txXfrm>
    </dsp:sp>
    <dsp:sp modelId="{C462650A-98D0-47CD-BB7A-0E8E333FFA28}">
      <dsp:nvSpPr>
        <dsp:cNvPr id="0" name=""/>
        <dsp:cNvSpPr/>
      </dsp:nvSpPr>
      <dsp:spPr>
        <a:xfrm>
          <a:off x="2973833" y="1774986"/>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Splitting the data into training and testing set</a:t>
          </a:r>
        </a:p>
      </dsp:txBody>
      <dsp:txXfrm>
        <a:off x="3005007" y="1806160"/>
        <a:ext cx="1711584" cy="1002011"/>
      </dsp:txXfrm>
    </dsp:sp>
    <dsp:sp modelId="{3FCA1ACA-D950-49F9-848A-B49BD30819AF}">
      <dsp:nvSpPr>
        <dsp:cNvPr id="0" name=""/>
        <dsp:cNvSpPr/>
      </dsp:nvSpPr>
      <dsp:spPr>
        <a:xfrm rot="10800000">
          <a:off x="2441654" y="2087198"/>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rot="10800000">
        <a:off x="2554476" y="2175185"/>
        <a:ext cx="263251" cy="263961"/>
      </dsp:txXfrm>
    </dsp:sp>
    <dsp:sp modelId="{557E25C2-0F0B-405A-8B35-C0B91597896F}">
      <dsp:nvSpPr>
        <dsp:cNvPr id="0" name=""/>
        <dsp:cNvSpPr/>
      </dsp:nvSpPr>
      <dsp:spPr>
        <a:xfrm>
          <a:off x="490329" y="1774986"/>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Applying the LSTM Model</a:t>
          </a:r>
        </a:p>
      </dsp:txBody>
      <dsp:txXfrm>
        <a:off x="521503" y="1806160"/>
        <a:ext cx="1711584" cy="1002011"/>
      </dsp:txXfrm>
    </dsp:sp>
    <dsp:sp modelId="{1255689F-13E6-4435-BEAE-143BDA8DB5EE}">
      <dsp:nvSpPr>
        <dsp:cNvPr id="0" name=""/>
        <dsp:cNvSpPr/>
      </dsp:nvSpPr>
      <dsp:spPr>
        <a:xfrm rot="5400000">
          <a:off x="1189258" y="2963521"/>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rot="-5400000">
        <a:off x="1245314" y="2995452"/>
        <a:ext cx="263961" cy="263251"/>
      </dsp:txXfrm>
    </dsp:sp>
    <dsp:sp modelId="{595E0DCA-AA6F-47C3-AF84-A23DE75682DB}">
      <dsp:nvSpPr>
        <dsp:cNvPr id="0" name=""/>
        <dsp:cNvSpPr/>
      </dsp:nvSpPr>
      <dsp:spPr>
        <a:xfrm>
          <a:off x="490329" y="3548918"/>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Training the model</a:t>
          </a:r>
        </a:p>
      </dsp:txBody>
      <dsp:txXfrm>
        <a:off x="521503" y="3580092"/>
        <a:ext cx="1711584" cy="1002011"/>
      </dsp:txXfrm>
    </dsp:sp>
    <dsp:sp modelId="{EAEC8506-ACC0-415A-95FC-D15ED1A86237}">
      <dsp:nvSpPr>
        <dsp:cNvPr id="0" name=""/>
        <dsp:cNvSpPr/>
      </dsp:nvSpPr>
      <dsp:spPr>
        <a:xfrm>
          <a:off x="2420367" y="3861130"/>
          <a:ext cx="376073" cy="439935"/>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1" kern="1200"/>
        </a:p>
      </dsp:txBody>
      <dsp:txXfrm>
        <a:off x="2420367" y="3949117"/>
        <a:ext cx="263251" cy="263961"/>
      </dsp:txXfrm>
    </dsp:sp>
    <dsp:sp modelId="{9F7330B4-4D2B-4B00-97DF-3AAA5B28213F}">
      <dsp:nvSpPr>
        <dsp:cNvPr id="0" name=""/>
        <dsp:cNvSpPr/>
      </dsp:nvSpPr>
      <dsp:spPr>
        <a:xfrm>
          <a:off x="2973833" y="3548918"/>
          <a:ext cx="1773932" cy="1064359"/>
        </a:xfrm>
        <a:prstGeom prst="roundRect">
          <a:avLst>
            <a:gd name="adj" fmla="val 10000"/>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Evaluate the performance using the metric RMSE</a:t>
          </a:r>
        </a:p>
      </dsp:txBody>
      <dsp:txXfrm>
        <a:off x="3005007" y="3580092"/>
        <a:ext cx="1711584" cy="10020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0575D-C3C7-4349-A637-1D75D599D312}">
      <dsp:nvSpPr>
        <dsp:cNvPr id="0" name=""/>
        <dsp:cNvSpPr/>
      </dsp:nvSpPr>
      <dsp:spPr>
        <a:xfrm>
          <a:off x="653076" y="113"/>
          <a:ext cx="1628117" cy="976870"/>
        </a:xfrm>
        <a:prstGeom prst="roundRect">
          <a:avLst>
            <a:gd name="adj" fmla="val 10000"/>
          </a:avLst>
        </a:prstGeom>
        <a:solidFill>
          <a:schemeClr val="accent3">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Import the flood dataset</a:t>
          </a:r>
        </a:p>
      </dsp:txBody>
      <dsp:txXfrm>
        <a:off x="681688" y="28725"/>
        <a:ext cx="1570893" cy="919646"/>
      </dsp:txXfrm>
    </dsp:sp>
    <dsp:sp modelId="{7E4C408F-2771-4BC2-8FE4-4024889BF191}">
      <dsp:nvSpPr>
        <dsp:cNvPr id="0" name=""/>
        <dsp:cNvSpPr/>
      </dsp:nvSpPr>
      <dsp:spPr>
        <a:xfrm>
          <a:off x="2424468" y="286662"/>
          <a:ext cx="345160" cy="403773"/>
        </a:xfrm>
        <a:prstGeom prst="rightArrow">
          <a:avLst>
            <a:gd name="adj1" fmla="val 60000"/>
            <a:gd name="adj2" fmla="val 50000"/>
          </a:avLst>
        </a:prstGeom>
        <a:solidFill>
          <a:schemeClr val="accent3">
            <a:shade val="9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424468" y="367417"/>
        <a:ext cx="241612" cy="242263"/>
      </dsp:txXfrm>
    </dsp:sp>
    <dsp:sp modelId="{EE27C974-6997-4DD9-AF78-217E9BD67949}">
      <dsp:nvSpPr>
        <dsp:cNvPr id="0" name=""/>
        <dsp:cNvSpPr/>
      </dsp:nvSpPr>
      <dsp:spPr>
        <a:xfrm>
          <a:off x="2932441" y="113"/>
          <a:ext cx="1628117" cy="976870"/>
        </a:xfrm>
        <a:prstGeom prst="roundRect">
          <a:avLst>
            <a:gd name="adj" fmla="val 10000"/>
          </a:avLst>
        </a:prstGeom>
        <a:solidFill>
          <a:schemeClr val="accent3">
            <a:shade val="80000"/>
            <a:hueOff val="40160"/>
            <a:satOff val="-1614"/>
            <a:lumOff val="345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Importing necessary Libraries</a:t>
          </a:r>
        </a:p>
      </dsp:txBody>
      <dsp:txXfrm>
        <a:off x="2961053" y="28725"/>
        <a:ext cx="1570893" cy="919646"/>
      </dsp:txXfrm>
    </dsp:sp>
    <dsp:sp modelId="{3DB16EB9-1562-46BC-B247-36B479FF9DC4}">
      <dsp:nvSpPr>
        <dsp:cNvPr id="0" name=""/>
        <dsp:cNvSpPr/>
      </dsp:nvSpPr>
      <dsp:spPr>
        <a:xfrm>
          <a:off x="4703833" y="286662"/>
          <a:ext cx="345160" cy="403773"/>
        </a:xfrm>
        <a:prstGeom prst="rightArrow">
          <a:avLst>
            <a:gd name="adj1" fmla="val 60000"/>
            <a:gd name="adj2" fmla="val 50000"/>
          </a:avLst>
        </a:prstGeom>
        <a:solidFill>
          <a:schemeClr val="accent3">
            <a:shade val="90000"/>
            <a:hueOff val="45912"/>
            <a:satOff val="-1808"/>
            <a:lumOff val="359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4703833" y="367417"/>
        <a:ext cx="241612" cy="242263"/>
      </dsp:txXfrm>
    </dsp:sp>
    <dsp:sp modelId="{4664446E-D855-41B7-9B69-24A6746505AF}">
      <dsp:nvSpPr>
        <dsp:cNvPr id="0" name=""/>
        <dsp:cNvSpPr/>
      </dsp:nvSpPr>
      <dsp:spPr>
        <a:xfrm>
          <a:off x="5211805" y="113"/>
          <a:ext cx="1628117" cy="976870"/>
        </a:xfrm>
        <a:prstGeom prst="roundRect">
          <a:avLst>
            <a:gd name="adj" fmla="val 10000"/>
          </a:avLst>
        </a:prstGeom>
        <a:solidFill>
          <a:schemeClr val="accent3">
            <a:shade val="80000"/>
            <a:hueOff val="80320"/>
            <a:satOff val="-3227"/>
            <a:lumOff val="690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Data Preprocessing</a:t>
          </a:r>
        </a:p>
      </dsp:txBody>
      <dsp:txXfrm>
        <a:off x="5240417" y="28725"/>
        <a:ext cx="1570893" cy="919646"/>
      </dsp:txXfrm>
    </dsp:sp>
    <dsp:sp modelId="{88163437-A54D-45BB-92BE-C20F6AC0D8C3}">
      <dsp:nvSpPr>
        <dsp:cNvPr id="0" name=""/>
        <dsp:cNvSpPr/>
      </dsp:nvSpPr>
      <dsp:spPr>
        <a:xfrm rot="5400000">
          <a:off x="5853284" y="1090952"/>
          <a:ext cx="345160" cy="403773"/>
        </a:xfrm>
        <a:prstGeom prst="rightArrow">
          <a:avLst>
            <a:gd name="adj1" fmla="val 60000"/>
            <a:gd name="adj2" fmla="val 50000"/>
          </a:avLst>
        </a:prstGeom>
        <a:solidFill>
          <a:schemeClr val="accent3">
            <a:shade val="90000"/>
            <a:hueOff val="91825"/>
            <a:satOff val="-3615"/>
            <a:lumOff val="719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5400000">
        <a:off x="5904733" y="1120258"/>
        <a:ext cx="242263" cy="241612"/>
      </dsp:txXfrm>
    </dsp:sp>
    <dsp:sp modelId="{329BCE3D-40B4-452E-8808-8E62DDCF9726}">
      <dsp:nvSpPr>
        <dsp:cNvPr id="0" name=""/>
        <dsp:cNvSpPr/>
      </dsp:nvSpPr>
      <dsp:spPr>
        <a:xfrm>
          <a:off x="5211805" y="1628231"/>
          <a:ext cx="1628117" cy="976870"/>
        </a:xfrm>
        <a:prstGeom prst="roundRect">
          <a:avLst>
            <a:gd name="adj" fmla="val 10000"/>
          </a:avLst>
        </a:prstGeom>
        <a:solidFill>
          <a:schemeClr val="accent3">
            <a:shade val="80000"/>
            <a:hueOff val="120480"/>
            <a:satOff val="-4841"/>
            <a:lumOff val="1036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tx1"/>
              </a:solidFill>
              <a:latin typeface="Times New Roman" panose="02020603050405020304" pitchFamily="18" charset="0"/>
              <a:cs typeface="Times New Roman" panose="02020603050405020304" pitchFamily="18" charset="0"/>
            </a:rPr>
            <a:t>Define Measurement Model using Sequential library</a:t>
          </a:r>
        </a:p>
      </dsp:txBody>
      <dsp:txXfrm>
        <a:off x="5240417" y="1656843"/>
        <a:ext cx="1570893" cy="919646"/>
      </dsp:txXfrm>
    </dsp:sp>
    <dsp:sp modelId="{AEB79D77-4C1C-405D-81B2-13C1291A2685}">
      <dsp:nvSpPr>
        <dsp:cNvPr id="0" name=""/>
        <dsp:cNvSpPr/>
      </dsp:nvSpPr>
      <dsp:spPr>
        <a:xfrm rot="10800000">
          <a:off x="4723370" y="1914779"/>
          <a:ext cx="345160" cy="403773"/>
        </a:xfrm>
        <a:prstGeom prst="rightArrow">
          <a:avLst>
            <a:gd name="adj1" fmla="val 60000"/>
            <a:gd name="adj2" fmla="val 50000"/>
          </a:avLst>
        </a:prstGeom>
        <a:solidFill>
          <a:schemeClr val="accent3">
            <a:shade val="90000"/>
            <a:hueOff val="137737"/>
            <a:satOff val="-5423"/>
            <a:lumOff val="10793"/>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10800000">
        <a:off x="4826918" y="1995534"/>
        <a:ext cx="241612" cy="242263"/>
      </dsp:txXfrm>
    </dsp:sp>
    <dsp:sp modelId="{10E43407-3653-4B5D-9B2D-50C7814782E3}">
      <dsp:nvSpPr>
        <dsp:cNvPr id="0" name=""/>
        <dsp:cNvSpPr/>
      </dsp:nvSpPr>
      <dsp:spPr>
        <a:xfrm>
          <a:off x="2932441" y="1628231"/>
          <a:ext cx="1628117" cy="976870"/>
        </a:xfrm>
        <a:prstGeom prst="roundRect">
          <a:avLst>
            <a:gd name="adj" fmla="val 10000"/>
          </a:avLst>
        </a:prstGeom>
        <a:solidFill>
          <a:schemeClr val="accent3">
            <a:shade val="80000"/>
            <a:hueOff val="160640"/>
            <a:satOff val="-6455"/>
            <a:lumOff val="1381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Assess Measurement model</a:t>
          </a:r>
        </a:p>
      </dsp:txBody>
      <dsp:txXfrm>
        <a:off x="2961053" y="1656843"/>
        <a:ext cx="1570893" cy="919646"/>
      </dsp:txXfrm>
    </dsp:sp>
    <dsp:sp modelId="{0E3D4347-85B4-4911-8720-2A2501B669F2}">
      <dsp:nvSpPr>
        <dsp:cNvPr id="0" name=""/>
        <dsp:cNvSpPr/>
      </dsp:nvSpPr>
      <dsp:spPr>
        <a:xfrm rot="10800000">
          <a:off x="2444005" y="1914779"/>
          <a:ext cx="345160" cy="403773"/>
        </a:xfrm>
        <a:prstGeom prst="rightArrow">
          <a:avLst>
            <a:gd name="adj1" fmla="val 60000"/>
            <a:gd name="adj2" fmla="val 50000"/>
          </a:avLst>
        </a:prstGeom>
        <a:solidFill>
          <a:schemeClr val="accent3">
            <a:shade val="90000"/>
            <a:hueOff val="183650"/>
            <a:satOff val="-7230"/>
            <a:lumOff val="1439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10800000">
        <a:off x="2547553" y="1995534"/>
        <a:ext cx="241612" cy="242263"/>
      </dsp:txXfrm>
    </dsp:sp>
    <dsp:sp modelId="{0A2860BE-9A7E-4C52-B32A-BBD849D1E8B9}">
      <dsp:nvSpPr>
        <dsp:cNvPr id="0" name=""/>
        <dsp:cNvSpPr/>
      </dsp:nvSpPr>
      <dsp:spPr>
        <a:xfrm>
          <a:off x="653076" y="1628231"/>
          <a:ext cx="1628117" cy="976870"/>
        </a:xfrm>
        <a:prstGeom prst="roundRect">
          <a:avLst>
            <a:gd name="adj" fmla="val 10000"/>
          </a:avLst>
        </a:prstGeom>
        <a:solidFill>
          <a:schemeClr val="accent3">
            <a:shade val="80000"/>
            <a:hueOff val="200800"/>
            <a:satOff val="-8068"/>
            <a:lumOff val="172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Define Structural Model using Dense library</a:t>
          </a:r>
        </a:p>
      </dsp:txBody>
      <dsp:txXfrm>
        <a:off x="681688" y="1656843"/>
        <a:ext cx="1570893" cy="919646"/>
      </dsp:txXfrm>
    </dsp:sp>
    <dsp:sp modelId="{04D5AAC1-2DEC-4A9C-9417-785A68687001}">
      <dsp:nvSpPr>
        <dsp:cNvPr id="0" name=""/>
        <dsp:cNvSpPr/>
      </dsp:nvSpPr>
      <dsp:spPr>
        <a:xfrm rot="5400000">
          <a:off x="1294554" y="2719070"/>
          <a:ext cx="345160" cy="403773"/>
        </a:xfrm>
        <a:prstGeom prst="rightArrow">
          <a:avLst>
            <a:gd name="adj1" fmla="val 60000"/>
            <a:gd name="adj2" fmla="val 50000"/>
          </a:avLst>
        </a:prstGeom>
        <a:solidFill>
          <a:schemeClr val="accent3">
            <a:shade val="90000"/>
            <a:hueOff val="229562"/>
            <a:satOff val="-9038"/>
            <a:lumOff val="1798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5400000">
        <a:off x="1346003" y="2748376"/>
        <a:ext cx="242263" cy="241612"/>
      </dsp:txXfrm>
    </dsp:sp>
    <dsp:sp modelId="{DD479B41-1106-4E06-998C-B166369DF678}">
      <dsp:nvSpPr>
        <dsp:cNvPr id="0" name=""/>
        <dsp:cNvSpPr/>
      </dsp:nvSpPr>
      <dsp:spPr>
        <a:xfrm>
          <a:off x="653076" y="3256348"/>
          <a:ext cx="1628117" cy="976870"/>
        </a:xfrm>
        <a:prstGeom prst="roundRect">
          <a:avLst>
            <a:gd name="adj" fmla="val 10000"/>
          </a:avLst>
        </a:prstGeom>
        <a:solidFill>
          <a:schemeClr val="accent3">
            <a:shade val="80000"/>
            <a:hueOff val="240960"/>
            <a:satOff val="-9682"/>
            <a:lumOff val="2072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Evaluate Structural Model</a:t>
          </a:r>
        </a:p>
      </dsp:txBody>
      <dsp:txXfrm>
        <a:off x="681688" y="3284960"/>
        <a:ext cx="1570893" cy="919646"/>
      </dsp:txXfrm>
    </dsp:sp>
    <dsp:sp modelId="{48719BB3-653F-42A6-BE11-DBFB7F5771C6}">
      <dsp:nvSpPr>
        <dsp:cNvPr id="0" name=""/>
        <dsp:cNvSpPr/>
      </dsp:nvSpPr>
      <dsp:spPr>
        <a:xfrm>
          <a:off x="2424468" y="3542897"/>
          <a:ext cx="345160" cy="403773"/>
        </a:xfrm>
        <a:prstGeom prst="rightArrow">
          <a:avLst>
            <a:gd name="adj1" fmla="val 60000"/>
            <a:gd name="adj2" fmla="val 50000"/>
          </a:avLst>
        </a:prstGeom>
        <a:solidFill>
          <a:schemeClr val="accent3">
            <a:shade val="90000"/>
            <a:hueOff val="275474"/>
            <a:satOff val="-10845"/>
            <a:lumOff val="2158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424468" y="3623652"/>
        <a:ext cx="241612" cy="242263"/>
      </dsp:txXfrm>
    </dsp:sp>
    <dsp:sp modelId="{9E9B0BBA-1797-4EA6-8F4D-5B96F833FA25}">
      <dsp:nvSpPr>
        <dsp:cNvPr id="0" name=""/>
        <dsp:cNvSpPr/>
      </dsp:nvSpPr>
      <dsp:spPr>
        <a:xfrm>
          <a:off x="2932441" y="3256348"/>
          <a:ext cx="1628117" cy="976870"/>
        </a:xfrm>
        <a:prstGeom prst="roundRect">
          <a:avLst>
            <a:gd name="adj" fmla="val 10000"/>
          </a:avLst>
        </a:prstGeom>
        <a:solidFill>
          <a:schemeClr val="accent3">
            <a:shade val="80000"/>
            <a:hueOff val="281120"/>
            <a:satOff val="-11295"/>
            <a:lumOff val="2417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Validate the model</a:t>
          </a:r>
        </a:p>
      </dsp:txBody>
      <dsp:txXfrm>
        <a:off x="2961053" y="3284960"/>
        <a:ext cx="1570893" cy="919646"/>
      </dsp:txXfrm>
    </dsp:sp>
    <dsp:sp modelId="{198D9A7D-8538-4BB5-9211-852FF98FB310}">
      <dsp:nvSpPr>
        <dsp:cNvPr id="0" name=""/>
        <dsp:cNvSpPr/>
      </dsp:nvSpPr>
      <dsp:spPr>
        <a:xfrm>
          <a:off x="4703833" y="3542897"/>
          <a:ext cx="345160" cy="403773"/>
        </a:xfrm>
        <a:prstGeom prst="rightArrow">
          <a:avLst>
            <a:gd name="adj1" fmla="val 60000"/>
            <a:gd name="adj2" fmla="val 50000"/>
          </a:avLst>
        </a:prstGeom>
        <a:solidFill>
          <a:schemeClr val="accent3">
            <a:shade val="90000"/>
            <a:hueOff val="321387"/>
            <a:satOff val="-12653"/>
            <a:lumOff val="25183"/>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4703833" y="3623652"/>
        <a:ext cx="241612" cy="242263"/>
      </dsp:txXfrm>
    </dsp:sp>
    <dsp:sp modelId="{42FC21E2-B57C-481F-80DA-3A1A49187FB2}">
      <dsp:nvSpPr>
        <dsp:cNvPr id="0" name=""/>
        <dsp:cNvSpPr/>
      </dsp:nvSpPr>
      <dsp:spPr>
        <a:xfrm>
          <a:off x="5211805" y="3256348"/>
          <a:ext cx="1628117" cy="976870"/>
        </a:xfrm>
        <a:prstGeom prst="roundRect">
          <a:avLst>
            <a:gd name="adj" fmla="val 10000"/>
          </a:avLst>
        </a:prstGeom>
        <a:solidFill>
          <a:schemeClr val="accent3">
            <a:shade val="80000"/>
            <a:hueOff val="321280"/>
            <a:satOff val="-12909"/>
            <a:lumOff val="276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Interpret and Report Results</a:t>
          </a:r>
        </a:p>
      </dsp:txBody>
      <dsp:txXfrm>
        <a:off x="5240417" y="3284960"/>
        <a:ext cx="1570893" cy="9196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7/02/2024</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7/02/2024</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3.jpe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6.xml"/><Relationship Id="rId4" Type="http://schemas.openxmlformats.org/officeDocument/2006/relationships/slideLayout" Target="../slideLayouts/slideLayout2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theme" Target="../theme/theme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9.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0"/>
            <a:ext cx="9067800" cy="769166"/>
          </a:xfrm>
        </p:spPr>
        <p:txBody>
          <a:bodyPr/>
          <a:lstStyle/>
          <a:p>
            <a:r>
              <a:rPr lang="en-US" dirty="0"/>
              <a:t>         M21DG0303 - Minor Project </a:t>
            </a:r>
            <a:br>
              <a:rPr lang="en-US" dirty="0"/>
            </a:br>
            <a:r>
              <a:rPr lang="en-US" dirty="0"/>
              <a:t>   </a:t>
            </a:r>
            <a:r>
              <a:rPr lang="en-US" sz="3000" dirty="0"/>
              <a:t>Master of Science in Data Science - M.Sc.(DS)</a:t>
            </a:r>
            <a:br>
              <a:rPr lang="en-US" sz="3000" dirty="0"/>
            </a:br>
            <a:r>
              <a:rPr lang="en-US" sz="3000" dirty="0"/>
              <a:t>                    III Semester – 2024 </a:t>
            </a:r>
            <a:br>
              <a:rPr lang="en-US" dirty="0"/>
            </a:br>
            <a:r>
              <a:rPr lang="en-US" dirty="0"/>
              <a:t>       </a:t>
            </a:r>
          </a:p>
        </p:txBody>
      </p:sp>
      <p:sp>
        <p:nvSpPr>
          <p:cNvPr id="3" name="Text Placeholder 2"/>
          <p:cNvSpPr>
            <a:spLocks noGrp="1"/>
          </p:cNvSpPr>
          <p:nvPr>
            <p:ph type="body" sz="quarter" idx="10"/>
          </p:nvPr>
        </p:nvSpPr>
        <p:spPr>
          <a:xfrm>
            <a:off x="228600" y="5334000"/>
            <a:ext cx="9448800" cy="990600"/>
          </a:xfrm>
        </p:spPr>
        <p:txBody>
          <a:bodyPr/>
          <a:lstStyle/>
          <a:p>
            <a:r>
              <a:rPr lang="en-US" dirty="0"/>
              <a:t>School of Computer Science and Applications </a:t>
            </a:r>
          </a:p>
        </p:txBody>
      </p:sp>
      <p:pic>
        <p:nvPicPr>
          <p:cNvPr id="5" name="Picture 7" descr="C:\Users\Admin\Downloads\Engineering-&amp;-Tech.png"/>
          <p:cNvPicPr>
            <a:picLocks noChangeAspect="1" noChangeArrowheads="1"/>
          </p:cNvPicPr>
          <p:nvPr/>
        </p:nvPicPr>
        <p:blipFill>
          <a:blip r:embed="rId2"/>
          <a:srcRect/>
          <a:stretch>
            <a:fillRect/>
          </a:stretch>
        </p:blipFill>
        <p:spPr bwMode="auto">
          <a:xfrm>
            <a:off x="9601200" y="2959649"/>
            <a:ext cx="1905000" cy="1905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717" y="3588565"/>
            <a:ext cx="9067800" cy="1276083"/>
          </a:xfrm>
        </p:spPr>
        <p:txBody>
          <a:bodyPr/>
          <a:lstStyle/>
          <a:p>
            <a:r>
              <a:rPr lang="en-US" sz="3600" b="1" dirty="0">
                <a:latin typeface="Times New Roman" panose="02020603050405020304" pitchFamily="18" charset="0"/>
                <a:ea typeface="Tahoma" panose="020B0604030504040204" pitchFamily="34" charset="0"/>
                <a:cs typeface="Times New Roman" panose="02020603050405020304" pitchFamily="18" charset="0"/>
              </a:rPr>
              <a:t>ANALYZING FLOOD DATASET USING MACHINE LEARNING ALGORITHMS</a:t>
            </a:r>
            <a:br>
              <a:rPr lang="en-US" dirty="0"/>
            </a:br>
            <a:r>
              <a:rPr lang="en-US" dirty="0"/>
              <a:t>   </a:t>
            </a:r>
            <a:br>
              <a:rPr lang="en-US" dirty="0"/>
            </a:br>
            <a:r>
              <a:rPr lang="en-US" dirty="0"/>
              <a:t>       </a:t>
            </a:r>
          </a:p>
        </p:txBody>
      </p:sp>
      <p:sp>
        <p:nvSpPr>
          <p:cNvPr id="3" name="Text Placeholder 2"/>
          <p:cNvSpPr>
            <a:spLocks noGrp="1"/>
          </p:cNvSpPr>
          <p:nvPr>
            <p:ph type="body" sz="quarter" idx="10"/>
          </p:nvPr>
        </p:nvSpPr>
        <p:spPr>
          <a:xfrm>
            <a:off x="699117" y="4579166"/>
            <a:ext cx="8763000" cy="1593034"/>
          </a:xfrm>
        </p:spPr>
        <p:txBody>
          <a:bodyPr/>
          <a:lstStyle/>
          <a:p>
            <a:r>
              <a:rPr lang="en-US" sz="2000" dirty="0">
                <a:latin typeface="Times New Roman" panose="02020603050405020304" pitchFamily="18" charset="0"/>
                <a:cs typeface="Times New Roman" panose="02020603050405020304" pitchFamily="18" charset="0"/>
              </a:rPr>
              <a:t>Presented by: AMITH B R (R22DG065)</a:t>
            </a:r>
          </a:p>
          <a:p>
            <a:r>
              <a:rPr lang="en-US" sz="2000" dirty="0">
                <a:latin typeface="Times New Roman" panose="02020603050405020304" pitchFamily="18" charset="0"/>
                <a:cs typeface="Times New Roman" panose="02020603050405020304" pitchFamily="18" charset="0"/>
              </a:rPr>
              <a:t>                   BHOOMIKA B A (R22DG008)</a:t>
            </a:r>
          </a:p>
          <a:p>
            <a:r>
              <a:rPr lang="en-US" sz="2000" dirty="0">
                <a:latin typeface="Times New Roman" panose="02020603050405020304" pitchFamily="18" charset="0"/>
                <a:cs typeface="Times New Roman" panose="02020603050405020304" pitchFamily="18" charset="0"/>
              </a:rPr>
              <a:t>Under the Guidance of: ABHAY KUMAR SRIVASTAV</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Assistant Professor</a:t>
            </a:r>
          </a:p>
        </p:txBody>
      </p:sp>
      <p:pic>
        <p:nvPicPr>
          <p:cNvPr id="5" name="Picture 7" descr="C:\Users\Admin\Downloads\Engineering-&amp;-Tech.png"/>
          <p:cNvPicPr>
            <a:picLocks noChangeAspect="1" noChangeArrowheads="1"/>
          </p:cNvPicPr>
          <p:nvPr/>
        </p:nvPicPr>
        <p:blipFill>
          <a:blip r:embed="rId2"/>
          <a:srcRect/>
          <a:stretch>
            <a:fillRect/>
          </a:stretch>
        </p:blipFill>
        <p:spPr bwMode="auto">
          <a:xfrm>
            <a:off x="9601200" y="2959649"/>
            <a:ext cx="1905000" cy="1905000"/>
          </a:xfrm>
          <a:prstGeom prst="rect">
            <a:avLst/>
          </a:prstGeom>
          <a:noFill/>
        </p:spPr>
      </p:pic>
    </p:spTree>
    <p:extLst>
      <p:ext uri="{BB962C8B-B14F-4D97-AF65-F5344CB8AC3E}">
        <p14:creationId xmlns:p14="http://schemas.microsoft.com/office/powerpoint/2010/main" val="2860540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3</a:t>
            </a:fld>
            <a:endParaRPr lang="en-NZ" dirty="0"/>
          </a:p>
        </p:txBody>
      </p:sp>
      <p:sp>
        <p:nvSpPr>
          <p:cNvPr id="3" name="Title 2"/>
          <p:cNvSpPr>
            <a:spLocks noGrp="1"/>
          </p:cNvSpPr>
          <p:nvPr>
            <p:ph type="title"/>
          </p:nvPr>
        </p:nvSpPr>
        <p:spPr>
          <a:xfrm>
            <a:off x="228600" y="150179"/>
            <a:ext cx="10058400" cy="611821"/>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AGENDA</a:t>
            </a:r>
          </a:p>
        </p:txBody>
      </p:sp>
      <p:sp>
        <p:nvSpPr>
          <p:cNvPr id="6" name="Content Placeholder 2"/>
          <p:cNvSpPr>
            <a:spLocks noGrp="1"/>
          </p:cNvSpPr>
          <p:nvPr>
            <p:ph type="body" sz="quarter" idx="17"/>
          </p:nvPr>
        </p:nvSpPr>
        <p:spPr>
          <a:xfrm>
            <a:off x="457200" y="762000"/>
            <a:ext cx="12500126" cy="5334000"/>
          </a:xfrm>
        </p:spPr>
        <p:txBody>
          <a:bodyPr>
            <a:normAutofit fontScale="25000" lnSpcReduction="20000"/>
          </a:bodyPr>
          <a:lstStyle/>
          <a:p>
            <a:pPr>
              <a:lnSpc>
                <a:spcPct val="150000"/>
              </a:lnSpc>
              <a:spcAft>
                <a:spcPts val="600"/>
              </a:spcAft>
            </a:pPr>
            <a:endParaRPr lang="en-US" dirty="0"/>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Abstract </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Introduction   </a:t>
            </a:r>
          </a:p>
          <a:p>
            <a:pPr marL="242888" lvl="1" indent="0">
              <a:lnSpc>
                <a:spcPct val="150000"/>
              </a:lnSpc>
              <a:spcAft>
                <a:spcPts val="600"/>
              </a:spcAft>
              <a:buNone/>
            </a:pPr>
            <a:r>
              <a:rPr lang="en-US" sz="7200" b="1" dirty="0">
                <a:solidFill>
                  <a:schemeClr val="tx1"/>
                </a:solidFill>
                <a:latin typeface="Times New Roman" panose="02020603050405020304" pitchFamily="18" charset="0"/>
                <a:cs typeface="Times New Roman" panose="02020603050405020304" pitchFamily="18" charset="0"/>
              </a:rPr>
              <a:t>	I.  Problem Statement </a:t>
            </a:r>
          </a:p>
          <a:p>
            <a:pPr marL="242888" lvl="1" indent="0">
              <a:lnSpc>
                <a:spcPct val="150000"/>
              </a:lnSpc>
              <a:spcAft>
                <a:spcPts val="600"/>
              </a:spcAft>
              <a:buNone/>
            </a:pPr>
            <a:r>
              <a:rPr lang="en-US" sz="7200" b="1" dirty="0">
                <a:solidFill>
                  <a:schemeClr val="tx1"/>
                </a:solidFill>
                <a:latin typeface="Times New Roman" panose="02020603050405020304" pitchFamily="18" charset="0"/>
                <a:cs typeface="Times New Roman" panose="02020603050405020304" pitchFamily="18" charset="0"/>
              </a:rPr>
              <a:t>	II. Motivation</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Software Requirements </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Dataset and Description</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Data Preparation</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Model Planning</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Model Building</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Results</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Conclusion and Future Enhancements</a:t>
            </a:r>
          </a:p>
          <a:p>
            <a:pPr>
              <a:lnSpc>
                <a:spcPct val="150000"/>
              </a:lnSpc>
              <a:spcAft>
                <a:spcPts val="600"/>
              </a:spcAft>
            </a:pPr>
            <a:r>
              <a:rPr lang="en-US" sz="7200" b="1" dirty="0">
                <a:solidFill>
                  <a:schemeClr val="tx1"/>
                </a:solidFill>
                <a:latin typeface="Times New Roman" panose="02020603050405020304" pitchFamily="18" charset="0"/>
                <a:cs typeface="Times New Roman" panose="02020603050405020304" pitchFamily="18" charset="0"/>
              </a:rPr>
              <a:t>References</a:t>
            </a:r>
          </a:p>
          <a:p>
            <a:pPr marL="0" indent="0">
              <a:buNone/>
            </a:pPr>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4</a:t>
            </a:fld>
            <a:endParaRPr lang="en-NZ" dirty="0"/>
          </a:p>
        </p:txBody>
      </p:sp>
      <p:sp>
        <p:nvSpPr>
          <p:cNvPr id="3" name="Title 2">
            <a:extLst>
              <a:ext uri="{FF2B5EF4-FFF2-40B4-BE49-F238E27FC236}">
                <a16:creationId xmlns:a16="http://schemas.microsoft.com/office/drawing/2014/main" id="{AD6C92FE-9A1C-5038-74D2-ED2019B1BA7A}"/>
              </a:ext>
            </a:extLst>
          </p:cNvPr>
          <p:cNvSpPr>
            <a:spLocks noGrp="1"/>
          </p:cNvSpPr>
          <p:nvPr>
            <p:ph type="title"/>
          </p:nvPr>
        </p:nvSpPr>
        <p:spPr>
          <a:xfrm>
            <a:off x="695400" y="395786"/>
            <a:ext cx="10801201" cy="838202"/>
          </a:xfrm>
        </p:spPr>
        <p:txBody>
          <a:bodyPr/>
          <a:lstStyle/>
          <a:p>
            <a:pPr algn="ctr"/>
            <a:r>
              <a:rPr lang="en-IN" sz="3200" b="1" dirty="0">
                <a:solidFill>
                  <a:schemeClr val="tx1"/>
                </a:solidFill>
                <a:latin typeface="Times New Roman" panose="02020603050405020304" pitchFamily="18" charset="0"/>
                <a:cs typeface="Times New Roman" panose="02020603050405020304" pitchFamily="18" charset="0"/>
              </a:rPr>
              <a:t>ABSTRACT</a:t>
            </a:r>
          </a:p>
        </p:txBody>
      </p:sp>
      <p:sp>
        <p:nvSpPr>
          <p:cNvPr id="4" name="Text Placeholder 3">
            <a:extLst>
              <a:ext uri="{FF2B5EF4-FFF2-40B4-BE49-F238E27FC236}">
                <a16:creationId xmlns:a16="http://schemas.microsoft.com/office/drawing/2014/main" id="{8841E638-550E-36D0-2D72-9B708BF170A1}"/>
              </a:ext>
            </a:extLst>
          </p:cNvPr>
          <p:cNvSpPr>
            <a:spLocks noGrp="1"/>
          </p:cNvSpPr>
          <p:nvPr>
            <p:ph type="body" sz="quarter" idx="17"/>
          </p:nvPr>
        </p:nvSpPr>
        <p:spPr>
          <a:xfrm>
            <a:off x="695400" y="1371600"/>
            <a:ext cx="10801201" cy="5006280"/>
          </a:xfrm>
        </p:spPr>
        <p:txBody>
          <a:bodyPr/>
          <a:lstStyle/>
          <a:p>
            <a:pPr marL="0" indent="0" algn="just">
              <a:buNone/>
            </a:pPr>
            <a:r>
              <a:rPr lang="en-US" b="0" i="0" u="none" strike="noStrike" baseline="0" dirty="0">
                <a:solidFill>
                  <a:srgbClr val="000000"/>
                </a:solidFill>
                <a:latin typeface="Times New Roman" panose="02020603050405020304" pitchFamily="18" charset="0"/>
                <a:cs typeface="Times New Roman" panose="02020603050405020304" pitchFamily="18" charset="0"/>
              </a:rPr>
              <a:t>Flood is a natural disaster that poses significant threats to both human lives and infrastructure making it a pressing global concern. With climate change, urbanization and land use changes amplifying the frequency and intensity of extreme weather events, the need for accurate and timely flood prediction has never been more critical. There will be need of development of robust and accurate predictive models. The dataset used in our study is the Flood Dataset which we have collected data from different </a:t>
            </a:r>
            <a:r>
              <a:rPr lang="en-US" b="0" i="0" u="none" strike="noStrike" baseline="0" dirty="0">
                <a:solidFill>
                  <a:schemeClr val="tx1"/>
                </a:solidFill>
                <a:latin typeface="Times New Roman" panose="02020603050405020304" pitchFamily="18" charset="0"/>
                <a:cs typeface="Times New Roman" panose="02020603050405020304" pitchFamily="18" charset="0"/>
              </a:rPr>
              <a:t>government</a:t>
            </a:r>
            <a:r>
              <a:rPr lang="en-US" b="0" i="0" u="none" strike="noStrike" baseline="0" dirty="0">
                <a:solidFill>
                  <a:srgbClr val="000000"/>
                </a:solidFill>
                <a:latin typeface="Times New Roman" panose="02020603050405020304" pitchFamily="18" charset="0"/>
                <a:cs typeface="Times New Roman" panose="02020603050405020304" pitchFamily="18" charset="0"/>
              </a:rPr>
              <a:t> websites. The primary objective of this study is to develop robust models capable of accurately predicting the occurrence of flood. The Partial Least Squares-Structural Equation Modelling (PLS-SEM), Long Short-Term Memory (LSTM) and XG Boost Regressor models are utilized for feature extraction and prediction tasks. The analysis conducted demonstrates the effectiveness of the proposed methodology having a Root Mean Squared Error relatively low with the XG Boost Regressor compared to other models. Hence, we can tell that the XG Boost Regressor is a good fit model for our data.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606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5</a:t>
            </a:fld>
            <a:endParaRPr lang="en-NZ" dirty="0"/>
          </a:p>
        </p:txBody>
      </p:sp>
      <p:sp>
        <p:nvSpPr>
          <p:cNvPr id="3" name="Title 2">
            <a:extLst>
              <a:ext uri="{FF2B5EF4-FFF2-40B4-BE49-F238E27FC236}">
                <a16:creationId xmlns:a16="http://schemas.microsoft.com/office/drawing/2014/main" id="{0E99E162-441E-AE90-02A0-0E1115BFC45F}"/>
              </a:ext>
            </a:extLst>
          </p:cNvPr>
          <p:cNvSpPr>
            <a:spLocks noGrp="1"/>
          </p:cNvSpPr>
          <p:nvPr>
            <p:ph type="title"/>
          </p:nvPr>
        </p:nvSpPr>
        <p:spPr>
          <a:xfrm>
            <a:off x="695400" y="395786"/>
            <a:ext cx="10801201" cy="838202"/>
          </a:xfrm>
        </p:spPr>
        <p:txBody>
          <a:bodyPr/>
          <a:lstStyle/>
          <a:p>
            <a:pPr algn="ctr"/>
            <a:r>
              <a:rPr lang="en-IN" sz="3200" b="1" dirty="0">
                <a:solidFill>
                  <a:schemeClr val="tx1"/>
                </a:solidFill>
                <a:latin typeface="Times New Roman" panose="02020603050405020304" pitchFamily="18" charset="0"/>
                <a:cs typeface="Times New Roman" panose="02020603050405020304" pitchFamily="18" charset="0"/>
              </a:rPr>
              <a:t>INTRODUCTION</a:t>
            </a:r>
          </a:p>
        </p:txBody>
      </p:sp>
      <p:sp>
        <p:nvSpPr>
          <p:cNvPr id="4" name="Text Placeholder 3">
            <a:extLst>
              <a:ext uri="{FF2B5EF4-FFF2-40B4-BE49-F238E27FC236}">
                <a16:creationId xmlns:a16="http://schemas.microsoft.com/office/drawing/2014/main" id="{D1CF6B04-88E9-6EC3-EDCA-E988C331EC79}"/>
              </a:ext>
            </a:extLst>
          </p:cNvPr>
          <p:cNvSpPr>
            <a:spLocks noGrp="1"/>
          </p:cNvSpPr>
          <p:nvPr>
            <p:ph type="body" sz="quarter" idx="17"/>
          </p:nvPr>
        </p:nvSpPr>
        <p:spPr>
          <a:xfrm>
            <a:off x="695400" y="1371600"/>
            <a:ext cx="10801201" cy="4722816"/>
          </a:xfrm>
        </p:spPr>
        <p:txBody>
          <a:bodyPr/>
          <a:lstStyle/>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A flood is an overflow of water onto land that is usually dry. </a:t>
            </a: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This overflow can occur for various reasons and may range from localized, minor events to large scale disasters with widespread impacts. </a:t>
            </a: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Flooding can be caused by natural processes such as heavy rainfall, snowmelt, storm surges from hurricanes or tropical cyclones and overflow of rivers, lakes, or coastal areas. Additionally, human activities such as urbanization, deforestation and changes in land use can contribute to flooding. </a:t>
            </a: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Machine Learning is a subset of Artificial Intelligence which improves systems to learn from the data, identify the patterns and make predictions without complicated programming. It can leverage real-time data from various sources. </a:t>
            </a: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In our project we have used various machine learning techniques such as Partial Least Squares-Structural Equation Modeling (PLS-SEM), Long Short-Term Memory (LSTM) and XG Boost to predict floods. </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rPr>
              <a:t>By implementing these models, we can stop the huge loss of lives and damage of infrastructure.</a:t>
            </a:r>
            <a:endParaRPr lang="en-US" sz="2000" b="0" i="0" u="none" strike="noStrike" baseline="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2204324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6</a:t>
            </a:fld>
            <a:endParaRPr lang="en-NZ" dirty="0"/>
          </a:p>
        </p:txBody>
      </p:sp>
      <p:sp>
        <p:nvSpPr>
          <p:cNvPr id="4" name="Text Placeholder 3">
            <a:extLst>
              <a:ext uri="{FF2B5EF4-FFF2-40B4-BE49-F238E27FC236}">
                <a16:creationId xmlns:a16="http://schemas.microsoft.com/office/drawing/2014/main" id="{B9CB1815-B00F-398D-CFE3-CCCDA3063A68}"/>
              </a:ext>
            </a:extLst>
          </p:cNvPr>
          <p:cNvSpPr>
            <a:spLocks noGrp="1"/>
          </p:cNvSpPr>
          <p:nvPr>
            <p:ph type="body" sz="quarter" idx="17"/>
          </p:nvPr>
        </p:nvSpPr>
        <p:spPr>
          <a:xfrm>
            <a:off x="695400" y="762000"/>
            <a:ext cx="10801201" cy="5332416"/>
          </a:xfrm>
        </p:spPr>
        <p:txBody>
          <a:bodyPr/>
          <a:lstStyle/>
          <a:p>
            <a:pPr marL="0" indent="0" algn="just">
              <a:buNone/>
            </a:pPr>
            <a:r>
              <a:rPr lang="en-US" b="1" i="0" u="none" strike="noStrike" baseline="0" dirty="0">
                <a:solidFill>
                  <a:srgbClr val="000000"/>
                </a:solidFill>
                <a:latin typeface="Times New Roman" panose="02020603050405020304" pitchFamily="18" charset="0"/>
              </a:rPr>
              <a:t>I. PROBLEM STATEMENT</a:t>
            </a:r>
          </a:p>
          <a:p>
            <a:pPr marL="0" indent="0" algn="just">
              <a:buNone/>
            </a:pPr>
            <a:r>
              <a:rPr lang="en-US" sz="2000" dirty="0">
                <a:solidFill>
                  <a:srgbClr val="000000"/>
                </a:solidFill>
                <a:latin typeface="Times New Roman" panose="02020603050405020304" pitchFamily="18" charset="0"/>
              </a:rPr>
              <a:t>	</a:t>
            </a:r>
            <a:r>
              <a:rPr lang="en-US" sz="2200" b="0" i="0" u="none" strike="noStrike" baseline="0" dirty="0">
                <a:solidFill>
                  <a:srgbClr val="000000"/>
                </a:solidFill>
                <a:latin typeface="Times New Roman" panose="02020603050405020304" pitchFamily="18" charset="0"/>
              </a:rPr>
              <a:t>The problem of flood prediction can be addressed using various machine learning techniques. The main objective is to develop a model that can accurately predict the occurrence of a flood in a particular area based on rainfall data. </a:t>
            </a:r>
          </a:p>
          <a:p>
            <a:pPr marL="0" indent="0" algn="just">
              <a:buNone/>
            </a:pPr>
            <a:endParaRPr lang="en-US" sz="2200" b="0" i="0" u="none" strike="noStrike" baseline="0" dirty="0">
              <a:solidFill>
                <a:srgbClr val="000000"/>
              </a:solidFill>
              <a:latin typeface="Times New Roman" panose="02020603050405020304" pitchFamily="18" charset="0"/>
            </a:endParaRPr>
          </a:p>
          <a:p>
            <a:pPr marL="0" indent="0" algn="just">
              <a:buNone/>
            </a:pPr>
            <a:r>
              <a:rPr lang="en-IN" b="1" dirty="0">
                <a:solidFill>
                  <a:srgbClr val="000000"/>
                </a:solidFill>
                <a:latin typeface="Times New Roman" panose="02020603050405020304" pitchFamily="18" charset="0"/>
              </a:rPr>
              <a:t>II. MOTIVATION</a:t>
            </a:r>
          </a:p>
          <a:p>
            <a:pPr marL="0" indent="0" algn="just">
              <a:buNone/>
            </a:pPr>
            <a:r>
              <a:rPr lang="en-IN" sz="2200" dirty="0">
                <a:solidFill>
                  <a:srgbClr val="000000"/>
                </a:solidFill>
                <a:latin typeface="Times New Roman" panose="02020603050405020304" pitchFamily="18" charset="0"/>
              </a:rPr>
              <a:t>	Early prediction of flood can enable timely evacuation and preparation reducing the risk to human lives and property damage. By providing accurate and timely information to residents and emergency responders can enhance public safety during the flood.</a:t>
            </a:r>
            <a:endParaRPr lang="en-US" sz="2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99657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7</a:t>
            </a:fld>
            <a:endParaRPr lang="en-NZ" dirty="0"/>
          </a:p>
        </p:txBody>
      </p:sp>
      <p:sp>
        <p:nvSpPr>
          <p:cNvPr id="3" name="Title 2">
            <a:extLst>
              <a:ext uri="{FF2B5EF4-FFF2-40B4-BE49-F238E27FC236}">
                <a16:creationId xmlns:a16="http://schemas.microsoft.com/office/drawing/2014/main" id="{8039F7CF-411E-82A8-B6F1-73057BEEE80A}"/>
              </a:ext>
            </a:extLst>
          </p:cNvPr>
          <p:cNvSpPr>
            <a:spLocks noGrp="1"/>
          </p:cNvSpPr>
          <p:nvPr>
            <p:ph type="title"/>
          </p:nvPr>
        </p:nvSpPr>
        <p:spPr>
          <a:xfrm>
            <a:off x="695400" y="395786"/>
            <a:ext cx="10506000"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SOFTWARE REQUIREMENTS</a:t>
            </a:r>
          </a:p>
        </p:txBody>
      </p:sp>
      <p:sp>
        <p:nvSpPr>
          <p:cNvPr id="4" name="Text Placeholder 3">
            <a:extLst>
              <a:ext uri="{FF2B5EF4-FFF2-40B4-BE49-F238E27FC236}">
                <a16:creationId xmlns:a16="http://schemas.microsoft.com/office/drawing/2014/main" id="{E8B23412-267C-7422-6904-B6DF4E161FD9}"/>
              </a:ext>
            </a:extLst>
          </p:cNvPr>
          <p:cNvSpPr>
            <a:spLocks noGrp="1"/>
          </p:cNvSpPr>
          <p:nvPr>
            <p:ph type="body" sz="quarter" idx="17"/>
          </p:nvPr>
        </p:nvSpPr>
        <p:spPr>
          <a:xfrm>
            <a:off x="695400" y="1371600"/>
            <a:ext cx="10801201" cy="4419600"/>
          </a:xfrm>
        </p:spPr>
        <p:txBody>
          <a:bodyPr/>
          <a:lstStyle/>
          <a:p>
            <a:pPr marL="342900" indent="-342900" algn="just">
              <a:buFont typeface="Arial" panose="020B0604020202020204" pitchFamily="34" charset="0"/>
              <a:buChar char="•"/>
            </a:pPr>
            <a:r>
              <a:rPr lang="en-IN" sz="2600" b="1" dirty="0">
                <a:solidFill>
                  <a:schemeClr val="tx1"/>
                </a:solidFill>
                <a:latin typeface="Times New Roman" panose="02020603050405020304" pitchFamily="18" charset="0"/>
                <a:cs typeface="Times New Roman" panose="02020603050405020304" pitchFamily="18" charset="0"/>
              </a:rPr>
              <a:t>Operating System: </a:t>
            </a:r>
            <a:r>
              <a:rPr lang="en-IN" dirty="0">
                <a:solidFill>
                  <a:schemeClr val="tx1"/>
                </a:solidFill>
                <a:latin typeface="Times New Roman" panose="02020603050405020304" pitchFamily="18" charset="0"/>
                <a:cs typeface="Times New Roman" panose="02020603050405020304" pitchFamily="18" charset="0"/>
              </a:rPr>
              <a:t>Windows 11 OS with 64-bit architecture.</a:t>
            </a:r>
          </a:p>
          <a:p>
            <a:pPr marL="342900" indent="-342900" algn="just">
              <a:buFont typeface="Arial" panose="020B0604020202020204" pitchFamily="34" charset="0"/>
              <a:buChar char="•"/>
            </a:pPr>
            <a:r>
              <a:rPr lang="en-IN" sz="2600" b="1" dirty="0">
                <a:solidFill>
                  <a:schemeClr val="tx1"/>
                </a:solidFill>
                <a:latin typeface="Times New Roman" panose="02020603050405020304" pitchFamily="18" charset="0"/>
                <a:cs typeface="Times New Roman" panose="02020603050405020304" pitchFamily="18" charset="0"/>
              </a:rPr>
              <a:t>Programming Language: PYTHON</a:t>
            </a:r>
          </a:p>
          <a:p>
            <a:pPr marL="0" indent="0" algn="just">
              <a:buNone/>
            </a:pPr>
            <a:r>
              <a:rPr lang="en-IN" sz="2600"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Python is a computer programming language often used to build websites and software, automate tasks, and conduct data analysis.</a:t>
            </a:r>
            <a:r>
              <a:rPr lang="en-IN" dirty="0">
                <a:solidFill>
                  <a:schemeClr val="tx1"/>
                </a:solidFill>
                <a:latin typeface="Times New Roman" panose="02020603050405020304" pitchFamily="18" charset="0"/>
                <a:cs typeface="Times New Roman" panose="02020603050405020304" pitchFamily="18" charset="0"/>
              </a:rPr>
              <a:t> It</a:t>
            </a:r>
            <a:r>
              <a:rPr lang="en-US" dirty="0">
                <a:solidFill>
                  <a:schemeClr val="tx1"/>
                </a:solidFill>
                <a:latin typeface="Times New Roman" panose="02020603050405020304" pitchFamily="18" charset="0"/>
                <a:cs typeface="Times New Roman" panose="02020603050405020304" pitchFamily="18" charset="0"/>
              </a:rPr>
              <a:t> is an interpreted, object-oriented, high-level programming language with dynamic semantics. </a:t>
            </a:r>
          </a:p>
          <a:p>
            <a:pPr marL="285750" indent="-285750" algn="just">
              <a:buFont typeface="Arial" panose="020B0604020202020204" pitchFamily="34" charset="0"/>
              <a:buChar char="•"/>
            </a:pPr>
            <a:r>
              <a:rPr lang="en-US" sz="2600" b="1" dirty="0">
                <a:solidFill>
                  <a:schemeClr val="tx1"/>
                </a:solidFill>
                <a:latin typeface="Times New Roman" panose="02020603050405020304" pitchFamily="18" charset="0"/>
                <a:cs typeface="Times New Roman" panose="02020603050405020304" pitchFamily="18" charset="0"/>
              </a:rPr>
              <a:t>Integrated Development Environment (IDE): JUPYTER NOTEBOOK </a:t>
            </a:r>
          </a:p>
          <a:p>
            <a:pPr marL="0" indent="0" algn="just">
              <a:buNone/>
            </a:pPr>
            <a:r>
              <a:rPr lang="en-US" sz="2600"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The Jupyter Notebook is the original web application for creating and sharing computational documents. It offers a simple, streamlined, document-centric experience. It is a fully open-source product and users can use every functionality available for free. </a:t>
            </a:r>
          </a:p>
          <a:p>
            <a:pPr marL="342900" indent="-342900">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29174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8</a:t>
            </a:fld>
            <a:endParaRPr lang="en-NZ" dirty="0"/>
          </a:p>
        </p:txBody>
      </p:sp>
      <p:sp>
        <p:nvSpPr>
          <p:cNvPr id="3" name="Title 2">
            <a:extLst>
              <a:ext uri="{FF2B5EF4-FFF2-40B4-BE49-F238E27FC236}">
                <a16:creationId xmlns:a16="http://schemas.microsoft.com/office/drawing/2014/main" id="{FCB8CB7A-824D-DEA0-AB2D-64C2D0C424E1}"/>
              </a:ext>
            </a:extLst>
          </p:cNvPr>
          <p:cNvSpPr>
            <a:spLocks noGrp="1"/>
          </p:cNvSpPr>
          <p:nvPr>
            <p:ph type="title"/>
          </p:nvPr>
        </p:nvSpPr>
        <p:spPr>
          <a:xfrm>
            <a:off x="695400" y="395786"/>
            <a:ext cx="10801201"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SOFTWARE REQUIREMENTS</a:t>
            </a:r>
            <a:endParaRPr lang="en-IN" sz="3000" dirty="0"/>
          </a:p>
        </p:txBody>
      </p:sp>
      <p:sp>
        <p:nvSpPr>
          <p:cNvPr id="4" name="Text Placeholder 3">
            <a:extLst>
              <a:ext uri="{FF2B5EF4-FFF2-40B4-BE49-F238E27FC236}">
                <a16:creationId xmlns:a16="http://schemas.microsoft.com/office/drawing/2014/main" id="{9DB0CB79-62CE-6D7A-9EA1-087DDA1E804C}"/>
              </a:ext>
            </a:extLst>
          </p:cNvPr>
          <p:cNvSpPr>
            <a:spLocks noGrp="1"/>
          </p:cNvSpPr>
          <p:nvPr>
            <p:ph type="body" sz="quarter" idx="17"/>
          </p:nvPr>
        </p:nvSpPr>
        <p:spPr>
          <a:xfrm>
            <a:off x="695400" y="1371600"/>
            <a:ext cx="10801201" cy="4495800"/>
          </a:xfrm>
        </p:spPr>
        <p:txBody>
          <a:bodyPr/>
          <a:lstStyle/>
          <a:p>
            <a:pPr marL="285750" indent="-285750">
              <a:buFont typeface="Arial" panose="020B0604020202020204" pitchFamily="34" charset="0"/>
              <a:buChar char="•"/>
            </a:pPr>
            <a:r>
              <a:rPr lang="en-IN" sz="2600" b="1" i="0" u="none" strike="noStrike" baseline="0" dirty="0">
                <a:solidFill>
                  <a:srgbClr val="000000"/>
                </a:solidFill>
                <a:latin typeface="Times New Roman" panose="02020603050405020304" pitchFamily="18" charset="0"/>
              </a:rPr>
              <a:t>Machine Learning Frameworks: </a:t>
            </a:r>
            <a:r>
              <a:rPr lang="en-US" sz="2600" b="1" i="0" u="none" strike="noStrike" baseline="0" dirty="0">
                <a:solidFill>
                  <a:srgbClr val="000000"/>
                </a:solidFill>
                <a:latin typeface="Times New Roman" panose="02020603050405020304" pitchFamily="18" charset="0"/>
              </a:rPr>
              <a:t>TensorFlow, Keras and sklearn. </a:t>
            </a:r>
            <a:endParaRPr lang="en-IN" sz="2600" b="1" i="0" u="none" strike="noStrike" baseline="0" dirty="0">
              <a:solidFill>
                <a:srgbClr val="000000"/>
              </a:solidFill>
              <a:latin typeface="Times New Roman" panose="02020603050405020304" pitchFamily="18" charset="0"/>
            </a:endParaRPr>
          </a:p>
          <a:p>
            <a:pPr marL="0" indent="0" algn="just">
              <a:buNone/>
            </a:pPr>
            <a:r>
              <a:rPr lang="en-US" sz="1800" b="0" i="0"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Machine Learning Frameworks are the tools that lets software developers, data scientists and machine learning engineers build machine learning models. We have used the frameworks such as TensorFlow, Keras and Sklearn.</a:t>
            </a:r>
          </a:p>
          <a:p>
            <a:pPr marL="0" indent="0" algn="just">
              <a:buNone/>
            </a:pPr>
            <a:endParaRPr lang="en-IN" dirty="0"/>
          </a:p>
        </p:txBody>
      </p:sp>
    </p:spTree>
    <p:extLst>
      <p:ext uri="{BB962C8B-B14F-4D97-AF65-F5344CB8AC3E}">
        <p14:creationId xmlns:p14="http://schemas.microsoft.com/office/powerpoint/2010/main" val="817065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9</a:t>
            </a:fld>
            <a:endParaRPr lang="en-NZ" dirty="0"/>
          </a:p>
        </p:txBody>
      </p:sp>
      <p:sp>
        <p:nvSpPr>
          <p:cNvPr id="3" name="Title 2"/>
          <p:cNvSpPr>
            <a:spLocks noGrp="1"/>
          </p:cNvSpPr>
          <p:nvPr>
            <p:ph type="title"/>
          </p:nvPr>
        </p:nvSpPr>
        <p:spPr>
          <a:xfrm>
            <a:off x="695400" y="395786"/>
            <a:ext cx="10671745" cy="838202"/>
          </a:xfrm>
        </p:spPr>
        <p:txBody>
          <a:bodyPr/>
          <a:lstStyle/>
          <a:p>
            <a:pPr algn="ctr">
              <a:lnSpc>
                <a:spcPct val="0"/>
              </a:lnSpc>
            </a:pPr>
            <a:r>
              <a:rPr lang="en-US" sz="3000" b="1" dirty="0">
                <a:latin typeface="Times New Roman" panose="02020603050405020304" pitchFamily="18" charset="0"/>
                <a:cs typeface="Times New Roman" panose="02020603050405020304" pitchFamily="18" charset="0"/>
              </a:rPr>
              <a:t>    </a:t>
            </a:r>
            <a:r>
              <a:rPr lang="en-IN" sz="3000" b="1" dirty="0">
                <a:solidFill>
                  <a:schemeClr val="tx1"/>
                </a:solidFill>
                <a:latin typeface="Times New Roman" panose="02020603050405020304" pitchFamily="18" charset="0"/>
                <a:cs typeface="Times New Roman" panose="02020603050405020304" pitchFamily="18" charset="0"/>
              </a:rPr>
              <a:t>Dataset and description</a:t>
            </a:r>
            <a:r>
              <a:rPr lang="en-US" sz="3000" b="1" dirty="0">
                <a:latin typeface="Times New Roman" panose="02020603050405020304" pitchFamily="18" charset="0"/>
                <a:cs typeface="Times New Roman" panose="02020603050405020304" pitchFamily="18" charset="0"/>
              </a:rPr>
              <a:t> </a:t>
            </a:r>
            <a:br>
              <a:rPr lang="en-US" sz="3000" b="1" dirty="0">
                <a:latin typeface="Times New Roman" panose="02020603050405020304" pitchFamily="18" charset="0"/>
                <a:cs typeface="Times New Roman" panose="02020603050405020304" pitchFamily="18" charset="0"/>
              </a:rPr>
            </a:br>
            <a:endParaRPr lang="en-IN" sz="30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quarter" idx="17"/>
          </p:nvPr>
        </p:nvSpPr>
        <p:spPr>
          <a:xfrm>
            <a:off x="695400" y="1295400"/>
            <a:ext cx="10801201" cy="4799016"/>
          </a:xfrm>
        </p:spPr>
        <p:txBody>
          <a:bodyPr/>
          <a:lstStyle/>
          <a:p>
            <a:pPr marL="0" lvl="0" indent="0" algn="just">
              <a:buNone/>
            </a:pPr>
            <a:r>
              <a:rPr lang="en-US" sz="2200" dirty="0">
                <a:solidFill>
                  <a:schemeClr val="tx1"/>
                </a:solidFill>
                <a:latin typeface="Times New Roman" panose="02020603050405020304" pitchFamily="18" charset="0"/>
                <a:cs typeface="Times New Roman" panose="02020603050405020304" pitchFamily="18" charset="0"/>
              </a:rPr>
              <a:t>The dataset has been prepared by collecting data from websites such as Indian Meteorological Department, Google, Kaggle And Some other Government Websites.</a:t>
            </a:r>
          </a:p>
          <a:p>
            <a:pPr marL="0" lvl="0" indent="0" algn="just">
              <a:buNone/>
            </a:pPr>
            <a:r>
              <a:rPr lang="en-US" sz="2200" dirty="0">
                <a:solidFill>
                  <a:schemeClr val="tx1"/>
                </a:solidFill>
                <a:latin typeface="Times New Roman" panose="02020603050405020304" pitchFamily="18" charset="0"/>
                <a:cs typeface="Times New Roman" panose="02020603050405020304" pitchFamily="18" charset="0"/>
              </a:rPr>
              <a:t>	In our dataset there are 18 columns and 792 rows which constitute to 14,256 values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providing an overview of the occurrence of floods from year 1996 to 2016. </a:t>
            </a:r>
            <a:r>
              <a:rPr lang="en-US" sz="2200" dirty="0">
                <a:solidFill>
                  <a:srgbClr val="000000"/>
                </a:solidFill>
                <a:latin typeface="Times New Roman" panose="02020603050405020304" pitchFamily="18" charset="0"/>
                <a:cs typeface="Times New Roman" panose="02020603050405020304" pitchFamily="18" charset="0"/>
              </a:rPr>
              <a:t>It has the following features mentioned below.</a:t>
            </a: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err="1">
                <a:solidFill>
                  <a:schemeClr val="tx1"/>
                </a:solidFill>
                <a:latin typeface="Times New Roman" panose="02020603050405020304" pitchFamily="18" charset="0"/>
                <a:cs typeface="Times New Roman" panose="02020603050405020304" pitchFamily="18" charset="0"/>
              </a:rPr>
              <a:t>Station_Name</a:t>
            </a:r>
            <a:r>
              <a:rPr lang="en-US"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Different</a:t>
            </a:r>
            <a:r>
              <a:rPr lang="en-US"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Geographical region of India.</a:t>
            </a:r>
            <a:endParaRPr lang="en-IN"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Max_Temp: </a:t>
            </a:r>
            <a:r>
              <a:rPr lang="en-US" sz="2200" dirty="0">
                <a:solidFill>
                  <a:schemeClr val="tx1"/>
                </a:solidFill>
                <a:latin typeface="Times New Roman" panose="02020603050405020304" pitchFamily="18" charset="0"/>
                <a:cs typeface="Times New Roman" panose="02020603050405020304" pitchFamily="18" charset="0"/>
              </a:rPr>
              <a:t>The maximum temperature recorded.</a:t>
            </a:r>
          </a:p>
          <a:p>
            <a:pPr marL="342900" indent="-342900" algn="just">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Min_Temp: </a:t>
            </a:r>
            <a:r>
              <a:rPr lang="en-US" sz="2200" dirty="0">
                <a:solidFill>
                  <a:schemeClr val="tx1"/>
                </a:solidFill>
                <a:latin typeface="Times New Roman" panose="02020603050405020304" pitchFamily="18" charset="0"/>
                <a:cs typeface="Times New Roman" panose="02020603050405020304" pitchFamily="18" charset="0"/>
              </a:rPr>
              <a:t>The minimum temperature recorded.</a:t>
            </a:r>
          </a:p>
          <a:p>
            <a:pPr marL="342900" indent="-342900" algn="just">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Rainfall: </a:t>
            </a:r>
            <a:r>
              <a:rPr lang="en-US" sz="2200" dirty="0">
                <a:solidFill>
                  <a:schemeClr val="tx1"/>
                </a:solidFill>
                <a:latin typeface="Times New Roman" panose="02020603050405020304" pitchFamily="18" charset="0"/>
                <a:cs typeface="Times New Roman" panose="02020603050405020304" pitchFamily="18" charset="0"/>
              </a:rPr>
              <a:t>The total annual rainfall measured in millimeters.</a:t>
            </a:r>
          </a:p>
          <a:p>
            <a:pPr marL="342900" lvl="0" indent="-342900" algn="just">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Wind Speed: </a:t>
            </a:r>
            <a:r>
              <a:rPr lang="en-US" sz="2200" dirty="0">
                <a:solidFill>
                  <a:schemeClr val="tx1"/>
                </a:solidFill>
                <a:latin typeface="Times New Roman" panose="02020603050405020304" pitchFamily="18" charset="0"/>
                <a:cs typeface="Times New Roman" panose="02020603050405020304" pitchFamily="18" charset="0"/>
              </a:rPr>
              <a:t>The rate at which air is moving horizontally.</a:t>
            </a:r>
          </a:p>
          <a:p>
            <a:pPr marL="0" lvl="0" indent="0">
              <a:buNone/>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591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10</a:t>
            </a:fld>
            <a:endParaRPr lang="en-NZ" dirty="0"/>
          </a:p>
        </p:txBody>
      </p:sp>
      <p:sp>
        <p:nvSpPr>
          <p:cNvPr id="4" name="Text Placeholder 3"/>
          <p:cNvSpPr>
            <a:spLocks noGrp="1"/>
          </p:cNvSpPr>
          <p:nvPr>
            <p:ph type="body" sz="quarter" idx="17"/>
          </p:nvPr>
        </p:nvSpPr>
        <p:spPr>
          <a:xfrm>
            <a:off x="695400" y="838200"/>
            <a:ext cx="10801201" cy="5256216"/>
          </a:xfrm>
        </p:spPr>
        <p:txBody>
          <a:bodyPr/>
          <a:lstStyle/>
          <a:p>
            <a:pPr marL="342900" indent="-342900">
              <a:buFont typeface="Arial" panose="020B0604020202020204" pitchFamily="34" charset="0"/>
              <a:buChar char="•"/>
            </a:pPr>
            <a:r>
              <a:rPr lang="en-IN" b="1" dirty="0">
                <a:solidFill>
                  <a:srgbClr val="000000"/>
                </a:solidFill>
                <a:latin typeface="Times New Roman" panose="02020603050405020304" pitchFamily="18" charset="0"/>
              </a:rPr>
              <a:t>Bright_Sunshine </a:t>
            </a:r>
            <a:r>
              <a:rPr lang="en-IN" dirty="0">
                <a:solidFill>
                  <a:srgbClr val="000000"/>
                </a:solidFill>
                <a:latin typeface="Times New Roman" panose="02020603050405020304" pitchFamily="18" charset="0"/>
              </a:rPr>
              <a:t>: The duration of the period for which the direct solar   irradiance.</a:t>
            </a:r>
          </a:p>
          <a:p>
            <a:pPr marL="342900" indent="-342900">
              <a:buFont typeface="Arial" panose="020B0604020202020204" pitchFamily="34" charset="0"/>
              <a:buChar char="•"/>
            </a:pPr>
            <a:r>
              <a:rPr lang="en-US" b="1" dirty="0">
                <a:solidFill>
                  <a:srgbClr val="000000"/>
                </a:solidFill>
                <a:latin typeface="Times New Roman" panose="02020603050405020304" pitchFamily="18" charset="0"/>
              </a:rPr>
              <a:t>Relative_Humidity : </a:t>
            </a:r>
            <a:r>
              <a:rPr lang="en-US" dirty="0">
                <a:solidFill>
                  <a:srgbClr val="000000"/>
                </a:solidFill>
                <a:latin typeface="Times New Roman" panose="02020603050405020304" pitchFamily="18" charset="0"/>
              </a:rPr>
              <a:t>The amount of atmospheric moisture present relative to the amount that would be present if the air were saturated</a:t>
            </a:r>
            <a:r>
              <a:rPr lang="en-US" b="1" dirty="0">
                <a:solidFill>
                  <a:srgbClr val="000000"/>
                </a:solidFill>
                <a:latin typeface="Times New Roman" panose="02020603050405020304" pitchFamily="18" charset="0"/>
              </a:rPr>
              <a:t>.</a:t>
            </a:r>
            <a:endParaRPr lang="en-IN" b="1" dirty="0">
              <a:solidFill>
                <a:srgbClr val="000000"/>
              </a:solidFill>
              <a:latin typeface="Times New Roman" panose="02020603050405020304" pitchFamily="18" charset="0"/>
            </a:endParaRPr>
          </a:p>
          <a:p>
            <a:pPr marL="342900" lvl="0" indent="-342900">
              <a:buFont typeface="Arial" panose="020B0604020202020204" pitchFamily="34" charset="0"/>
              <a:buChar char="•"/>
            </a:pPr>
            <a:r>
              <a:rPr lang="en-US" b="1" dirty="0">
                <a:solidFill>
                  <a:srgbClr val="000000"/>
                </a:solidFill>
                <a:latin typeface="Times New Roman" panose="02020603050405020304" pitchFamily="18" charset="0"/>
              </a:rPr>
              <a:t>Latitude: </a:t>
            </a:r>
            <a:r>
              <a:rPr lang="en-US" dirty="0">
                <a:solidFill>
                  <a:srgbClr val="000000"/>
                </a:solidFill>
                <a:latin typeface="Times New Roman" panose="02020603050405020304" pitchFamily="18" charset="0"/>
              </a:rPr>
              <a:t>The geographic coordinate that specifies the north-south position of location.</a:t>
            </a:r>
            <a:endParaRPr lang="en-US" dirty="0"/>
          </a:p>
          <a:p>
            <a:pPr marL="342900" indent="-342900">
              <a:buFont typeface="Arial" panose="020B0604020202020204" pitchFamily="34" charset="0"/>
              <a:buChar char="•"/>
            </a:pPr>
            <a:r>
              <a:rPr lang="en-US" b="1" dirty="0">
                <a:solidFill>
                  <a:srgbClr val="000000"/>
                </a:solidFill>
                <a:latin typeface="Times New Roman" panose="02020603050405020304" pitchFamily="18" charset="0"/>
              </a:rPr>
              <a:t>Longitude: </a:t>
            </a:r>
            <a:r>
              <a:rPr lang="en-US" dirty="0">
                <a:solidFill>
                  <a:srgbClr val="000000"/>
                </a:solidFill>
                <a:latin typeface="Times New Roman" panose="02020603050405020304" pitchFamily="18" charset="0"/>
              </a:rPr>
              <a:t>The geographic coordinate that specifies the east-west position of location</a:t>
            </a:r>
            <a:r>
              <a:rPr lang="en-US" dirty="0"/>
              <a:t>.</a:t>
            </a:r>
            <a:endParaRPr lang="en-US" dirty="0">
              <a:solidFill>
                <a:srgbClr val="000000"/>
              </a:solidFill>
              <a:latin typeface="Times New Roman" panose="02020603050405020304" pitchFamily="18" charset="0"/>
            </a:endParaRPr>
          </a:p>
          <a:p>
            <a:pPr marL="342900" indent="-342900">
              <a:buFont typeface="Arial" panose="020B0604020202020204" pitchFamily="34" charset="0"/>
              <a:buChar char="•"/>
            </a:pPr>
            <a:r>
              <a:rPr lang="en-US" b="1" dirty="0">
                <a:solidFill>
                  <a:srgbClr val="000000"/>
                </a:solidFill>
                <a:latin typeface="Times New Roman" panose="02020603050405020304" pitchFamily="18" charset="0"/>
              </a:rPr>
              <a:t>Flood: </a:t>
            </a:r>
            <a:r>
              <a:rPr lang="en-US" dirty="0">
                <a:solidFill>
                  <a:srgbClr val="000000"/>
                </a:solidFill>
                <a:latin typeface="Times New Roman" panose="02020603050405020304" pitchFamily="18" charset="0"/>
              </a:rPr>
              <a:t>Whether there will be occurrence flood or no.</a:t>
            </a:r>
          </a:p>
          <a:p>
            <a:pPr marL="0" indent="0">
              <a:buNone/>
            </a:pPr>
            <a:endParaRPr lang="en-IN" dirty="0"/>
          </a:p>
        </p:txBody>
      </p:sp>
    </p:spTree>
    <p:extLst>
      <p:ext uri="{BB962C8B-B14F-4D97-AF65-F5344CB8AC3E}">
        <p14:creationId xmlns:p14="http://schemas.microsoft.com/office/powerpoint/2010/main" val="253759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11</a:t>
            </a:fld>
            <a:endParaRPr lang="en-NZ" dirty="0"/>
          </a:p>
        </p:txBody>
      </p:sp>
      <p:sp>
        <p:nvSpPr>
          <p:cNvPr id="7" name="Text Placeholder 6">
            <a:extLst>
              <a:ext uri="{FF2B5EF4-FFF2-40B4-BE49-F238E27FC236}">
                <a16:creationId xmlns:a16="http://schemas.microsoft.com/office/drawing/2014/main" id="{E18BFD29-04FF-AA0D-7CBD-CAB52A4D1E1F}"/>
              </a:ext>
            </a:extLst>
          </p:cNvPr>
          <p:cNvSpPr>
            <a:spLocks noGrp="1"/>
          </p:cNvSpPr>
          <p:nvPr>
            <p:ph type="body" sz="quarter" idx="17"/>
          </p:nvPr>
        </p:nvSpPr>
        <p:spPr>
          <a:xfrm>
            <a:off x="457200" y="396874"/>
            <a:ext cx="11039401" cy="5697541"/>
          </a:xfrm>
        </p:spPr>
        <p:txBody>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This is the dataset we have used for our analysis.</a:t>
            </a:r>
          </a:p>
        </p:txBody>
      </p:sp>
      <p:pic>
        <p:nvPicPr>
          <p:cNvPr id="5" name="Picture 4"/>
          <p:cNvPicPr>
            <a:picLocks noChangeAspect="1"/>
          </p:cNvPicPr>
          <p:nvPr/>
        </p:nvPicPr>
        <p:blipFill>
          <a:blip r:embed="rId2"/>
          <a:stretch>
            <a:fillRect/>
          </a:stretch>
        </p:blipFill>
        <p:spPr>
          <a:xfrm>
            <a:off x="533400" y="1066800"/>
            <a:ext cx="10833746" cy="5027617"/>
          </a:xfrm>
          <a:prstGeom prst="rect">
            <a:avLst/>
          </a:prstGeom>
        </p:spPr>
      </p:pic>
    </p:spTree>
    <p:extLst>
      <p:ext uri="{BB962C8B-B14F-4D97-AF65-F5344CB8AC3E}">
        <p14:creationId xmlns:p14="http://schemas.microsoft.com/office/powerpoint/2010/main" val="311677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AA72E6-0B11-8D96-7715-C1BCF8F12489}"/>
              </a:ext>
            </a:extLst>
          </p:cNvPr>
          <p:cNvSpPr>
            <a:spLocks noGrp="1"/>
          </p:cNvSpPr>
          <p:nvPr>
            <p:ph type="sldNum" sz="quarter" idx="14"/>
          </p:nvPr>
        </p:nvSpPr>
        <p:spPr/>
        <p:txBody>
          <a:bodyPr/>
          <a:lstStyle/>
          <a:p>
            <a:fld id="{45A3C14A-F937-4231-B6F1-40B429FAFB2F}" type="slidenum">
              <a:rPr lang="en-NZ" smtClean="0"/>
              <a:pPr/>
              <a:t>12</a:t>
            </a:fld>
            <a:endParaRPr lang="en-NZ" dirty="0"/>
          </a:p>
        </p:txBody>
      </p:sp>
      <p:sp>
        <p:nvSpPr>
          <p:cNvPr id="3" name="Title 2">
            <a:extLst>
              <a:ext uri="{FF2B5EF4-FFF2-40B4-BE49-F238E27FC236}">
                <a16:creationId xmlns:a16="http://schemas.microsoft.com/office/drawing/2014/main" id="{82F1F87C-15E1-EE12-A23B-C4F3110582CB}"/>
              </a:ext>
            </a:extLst>
          </p:cNvPr>
          <p:cNvSpPr>
            <a:spLocks noGrp="1"/>
          </p:cNvSpPr>
          <p:nvPr>
            <p:ph type="title"/>
          </p:nvPr>
        </p:nvSpPr>
        <p:spPr>
          <a:xfrm>
            <a:off x="695400" y="395786"/>
            <a:ext cx="10671746" cy="838202"/>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DATATYPES IN OUR DATASET</a:t>
            </a:r>
          </a:p>
        </p:txBody>
      </p:sp>
      <p:sp>
        <p:nvSpPr>
          <p:cNvPr id="4" name="Text Placeholder 3">
            <a:extLst>
              <a:ext uri="{FF2B5EF4-FFF2-40B4-BE49-F238E27FC236}">
                <a16:creationId xmlns:a16="http://schemas.microsoft.com/office/drawing/2014/main" id="{BFB9F50A-BA84-155B-00E9-C8F283BD7599}"/>
              </a:ext>
            </a:extLst>
          </p:cNvPr>
          <p:cNvSpPr>
            <a:spLocks noGrp="1"/>
          </p:cNvSpPr>
          <p:nvPr>
            <p:ph type="body" sz="quarter" idx="17"/>
          </p:nvPr>
        </p:nvSpPr>
        <p:spPr>
          <a:xfrm>
            <a:off x="162000" y="1525584"/>
            <a:ext cx="10801201" cy="4494216"/>
          </a:xfrm>
        </p:spPr>
        <p:txBody>
          <a:bodyPr/>
          <a:lstStyle/>
          <a:p>
            <a:pPr marL="0" indent="0" algn="ctr">
              <a:buNone/>
            </a:pPr>
            <a:r>
              <a:rPr lang="en-IN" dirty="0"/>
              <a:t>               </a:t>
            </a:r>
          </a:p>
        </p:txBody>
      </p:sp>
      <p:pic>
        <p:nvPicPr>
          <p:cNvPr id="6" name="Picture 5">
            <a:extLst>
              <a:ext uri="{FF2B5EF4-FFF2-40B4-BE49-F238E27FC236}">
                <a16:creationId xmlns:a16="http://schemas.microsoft.com/office/drawing/2014/main" id="{2252C15C-E567-F231-31B7-4FEC5D90C179}"/>
              </a:ext>
            </a:extLst>
          </p:cNvPr>
          <p:cNvPicPr>
            <a:picLocks noChangeAspect="1"/>
          </p:cNvPicPr>
          <p:nvPr/>
        </p:nvPicPr>
        <p:blipFill>
          <a:blip r:embed="rId2"/>
          <a:stretch>
            <a:fillRect/>
          </a:stretch>
        </p:blipFill>
        <p:spPr>
          <a:xfrm>
            <a:off x="4114800" y="1524000"/>
            <a:ext cx="4136009" cy="4268784"/>
          </a:xfrm>
          <a:prstGeom prst="rect">
            <a:avLst/>
          </a:prstGeom>
        </p:spPr>
      </p:pic>
    </p:spTree>
    <p:extLst>
      <p:ext uri="{BB962C8B-B14F-4D97-AF65-F5344CB8AC3E}">
        <p14:creationId xmlns:p14="http://schemas.microsoft.com/office/powerpoint/2010/main" val="2614157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B99CA4-5AE4-6A9A-CA75-835ACF10E094}"/>
              </a:ext>
            </a:extLst>
          </p:cNvPr>
          <p:cNvSpPr>
            <a:spLocks noGrp="1"/>
          </p:cNvSpPr>
          <p:nvPr>
            <p:ph type="sldNum" sz="quarter" idx="14"/>
          </p:nvPr>
        </p:nvSpPr>
        <p:spPr/>
        <p:txBody>
          <a:bodyPr/>
          <a:lstStyle/>
          <a:p>
            <a:fld id="{45A3C14A-F937-4231-B6F1-40B429FAFB2F}" type="slidenum">
              <a:rPr lang="en-NZ" smtClean="0"/>
              <a:pPr/>
              <a:t>13</a:t>
            </a:fld>
            <a:endParaRPr lang="en-NZ" dirty="0"/>
          </a:p>
        </p:txBody>
      </p:sp>
      <p:sp>
        <p:nvSpPr>
          <p:cNvPr id="3" name="Title 2">
            <a:extLst>
              <a:ext uri="{FF2B5EF4-FFF2-40B4-BE49-F238E27FC236}">
                <a16:creationId xmlns:a16="http://schemas.microsoft.com/office/drawing/2014/main" id="{811F4894-2245-3A36-D7A4-FBF7582551C5}"/>
              </a:ext>
            </a:extLst>
          </p:cNvPr>
          <p:cNvSpPr>
            <a:spLocks noGrp="1"/>
          </p:cNvSpPr>
          <p:nvPr>
            <p:ph type="title"/>
          </p:nvPr>
        </p:nvSpPr>
        <p:spPr>
          <a:xfrm>
            <a:off x="695400" y="395786"/>
            <a:ext cx="10671746" cy="518614"/>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PREPARATION</a:t>
            </a:r>
          </a:p>
        </p:txBody>
      </p:sp>
      <p:sp>
        <p:nvSpPr>
          <p:cNvPr id="4" name="Text Placeholder 3">
            <a:extLst>
              <a:ext uri="{FF2B5EF4-FFF2-40B4-BE49-F238E27FC236}">
                <a16:creationId xmlns:a16="http://schemas.microsoft.com/office/drawing/2014/main" id="{525BF212-D41F-7AF9-4FB6-3A906836D427}"/>
              </a:ext>
            </a:extLst>
          </p:cNvPr>
          <p:cNvSpPr>
            <a:spLocks noGrp="1"/>
          </p:cNvSpPr>
          <p:nvPr>
            <p:ph type="body" sz="quarter" idx="17"/>
          </p:nvPr>
        </p:nvSpPr>
        <p:spPr>
          <a:xfrm>
            <a:off x="695400" y="1233988"/>
            <a:ext cx="10801201" cy="4709612"/>
          </a:xfrm>
        </p:spPr>
        <p:txBody>
          <a:bodyPr/>
          <a:lstStyle/>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
        <p:nvSpPr>
          <p:cNvPr id="6" name="Slide Number Placeholder 1">
            <a:extLst>
              <a:ext uri="{FF2B5EF4-FFF2-40B4-BE49-F238E27FC236}">
                <a16:creationId xmlns:a16="http://schemas.microsoft.com/office/drawing/2014/main" id="{39F6CA29-8909-5236-19DE-26E544EBB83E}"/>
              </a:ext>
            </a:extLst>
          </p:cNvPr>
          <p:cNvSpPr txBox="1">
            <a:spLocks/>
          </p:cNvSpPr>
          <p:nvPr/>
        </p:nvSpPr>
        <p:spPr bwMode="gray">
          <a:xfrm>
            <a:off x="11367146" y="6096000"/>
            <a:ext cx="596254" cy="365125"/>
          </a:xfrm>
          <a:prstGeom prst="rect">
            <a:avLst/>
          </a:prstGeom>
        </p:spPr>
        <p:txBody>
          <a:bodyPr anchor="ctr"/>
          <a:lstStyle>
            <a:defPPr>
              <a:defRPr lang="en-US"/>
            </a:defPPr>
            <a:lvl1pPr marL="0" algn="ctr" defTabSz="914400" rtl="0" eaLnBrk="1" latinLnBrk="0" hangingPunct="1">
              <a:defRPr sz="1800" b="0" i="0" kern="1200">
                <a:solidFill>
                  <a:schemeClr val="tx1"/>
                </a:solidFill>
                <a:latin typeface="Roboto Medium" pitchFamily="2" charset="0"/>
                <a:ea typeface="Roboto Medium"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A3C14A-F937-4231-B6F1-40B429FAFB2F}" type="slidenum">
              <a:rPr lang="en-NZ" smtClean="0"/>
              <a:pPr/>
              <a:t>13</a:t>
            </a:fld>
            <a:endParaRPr lang="en-NZ" dirty="0"/>
          </a:p>
        </p:txBody>
      </p:sp>
      <p:sp>
        <p:nvSpPr>
          <p:cNvPr id="7" name="Text Placeholder 8">
            <a:extLst>
              <a:ext uri="{FF2B5EF4-FFF2-40B4-BE49-F238E27FC236}">
                <a16:creationId xmlns:a16="http://schemas.microsoft.com/office/drawing/2014/main" id="{25F8E5A0-B570-8C5A-E961-A226E29CE84A}"/>
              </a:ext>
            </a:extLst>
          </p:cNvPr>
          <p:cNvSpPr txBox="1">
            <a:spLocks/>
          </p:cNvSpPr>
          <p:nvPr/>
        </p:nvSpPr>
        <p:spPr>
          <a:xfrm>
            <a:off x="695400" y="990600"/>
            <a:ext cx="10801201" cy="5103816"/>
          </a:xfrm>
          <a:prstGeom prst="rect">
            <a:avLst/>
          </a:prstGeom>
        </p:spPr>
        <p:txBody>
          <a:bodyPr/>
          <a:lstStyle>
            <a:lvl1pPr marL="457200" indent="-457200" algn="l" defTabSz="914400" rtl="0" eaLnBrk="1" latinLnBrk="0" hangingPunct="1">
              <a:lnSpc>
                <a:spcPct val="90000"/>
              </a:lnSpc>
              <a:spcBef>
                <a:spcPts val="0"/>
              </a:spcBef>
              <a:spcAft>
                <a:spcPts val="1400"/>
              </a:spcAft>
              <a:buFont typeface="+mj-lt"/>
              <a:buAutoNum type="arabicPeriod"/>
              <a:defRPr sz="2400" kern="12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lgn="l" defTabSz="914400" rtl="0" eaLnBrk="1" latinLnBrk="0" hangingPunct="1">
              <a:lnSpc>
                <a:spcPct val="90000"/>
              </a:lnSpc>
              <a:spcBef>
                <a:spcPts val="0"/>
              </a:spcBef>
              <a:spcAft>
                <a:spcPts val="1400"/>
              </a:spcAft>
              <a:buFont typeface="+mj-lt"/>
              <a:buAutoNum type="arabicPeriod"/>
              <a:tabLst/>
              <a:defRPr sz="2400" kern="12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lgn="l" defTabSz="914400" rtl="0" eaLnBrk="1" latinLnBrk="0" hangingPunct="1">
              <a:lnSpc>
                <a:spcPct val="90000"/>
              </a:lnSpc>
              <a:spcBef>
                <a:spcPts val="0"/>
              </a:spcBef>
              <a:spcAft>
                <a:spcPts val="1400"/>
              </a:spcAft>
              <a:buFont typeface="Arial" panose="020B0604020202020204" pitchFamily="34" charset="0"/>
              <a:buNone/>
              <a:tabLst/>
              <a:defRPr sz="2000" kern="1200">
                <a:solidFill>
                  <a:schemeClr val="bg1"/>
                </a:solidFill>
                <a:latin typeface="+mn-lt"/>
                <a:ea typeface="+mn-ea"/>
                <a:cs typeface="+mn-cs"/>
              </a:defRPr>
            </a:lvl3pPr>
            <a:lvl4pPr marL="890588" indent="0" algn="l" defTabSz="914400" rtl="0" eaLnBrk="1" latinLnBrk="0" hangingPunct="1">
              <a:lnSpc>
                <a:spcPct val="90000"/>
              </a:lnSpc>
              <a:spcBef>
                <a:spcPts val="0"/>
              </a:spcBef>
              <a:spcAft>
                <a:spcPts val="1400"/>
              </a:spcAft>
              <a:buFont typeface="Arial" panose="020B0604020202020204" pitchFamily="34" charset="0"/>
              <a:buNone/>
              <a:tabLst/>
              <a:defRPr sz="1800" kern="1200">
                <a:solidFill>
                  <a:schemeClr val="bg1"/>
                </a:solidFill>
                <a:latin typeface="+mn-lt"/>
                <a:ea typeface="+mn-ea"/>
                <a:cs typeface="+mn-cs"/>
              </a:defRPr>
            </a:lvl4pPr>
            <a:lvl5pPr marL="1093787" indent="0" algn="l" defTabSz="914400" rtl="0" eaLnBrk="1" latinLnBrk="0" hangingPunct="1">
              <a:lnSpc>
                <a:spcPct val="90000"/>
              </a:lnSpc>
              <a:spcBef>
                <a:spcPts val="0"/>
              </a:spcBef>
              <a:spcAft>
                <a:spcPts val="1400"/>
              </a:spcAft>
              <a:buFont typeface="Arial" panose="020B0604020202020204" pitchFamily="34" charset="0"/>
              <a:buNone/>
              <a:tabLst/>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Data Preparation is a crucial step in the data analysis process, it involves cleaning, transforming and organizing the raw data into a format suitable for analysis.</a:t>
            </a:r>
          </a:p>
          <a:p>
            <a:pPr marL="0" indent="0" algn="just">
              <a:buNone/>
            </a:pPr>
            <a:r>
              <a:rPr lang="en-IN" sz="2300" b="1" dirty="0">
                <a:solidFill>
                  <a:schemeClr val="tx1"/>
                </a:solidFill>
                <a:latin typeface="Times New Roman" panose="02020603050405020304" pitchFamily="18" charset="0"/>
                <a:cs typeface="Times New Roman" panose="02020603050405020304" pitchFamily="18" charset="0"/>
              </a:rPr>
              <a:t>1. Data Cleaning</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Data Cleaning is a process of identifying and correcting </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errors, inconsistencies and inaccuracies in raw datasets.</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In our dataset we can see that we have 685 missing </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values for the flood column and hence we will remove</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that column as we are predicting the occurrence of </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flood through rainfall.</a:t>
            </a:r>
          </a:p>
          <a:p>
            <a:pPr marL="0" indent="0" algn="just">
              <a:buFont typeface="+mj-lt"/>
              <a:buNone/>
            </a:pPr>
            <a:r>
              <a:rPr lang="en-IN" sz="2200" dirty="0">
                <a:solidFill>
                  <a:schemeClr val="tx1"/>
                </a:solidFill>
                <a:latin typeface="Times New Roman" panose="02020603050405020304" pitchFamily="18" charset="0"/>
                <a:cs typeface="Times New Roman" panose="02020603050405020304" pitchFamily="18" charset="0"/>
              </a:rPr>
              <a:t>There are no duplicate values in the dataset.</a:t>
            </a:r>
          </a:p>
        </p:txBody>
      </p:sp>
      <p:pic>
        <p:nvPicPr>
          <p:cNvPr id="8" name="Picture 7">
            <a:extLst>
              <a:ext uri="{FF2B5EF4-FFF2-40B4-BE49-F238E27FC236}">
                <a16:creationId xmlns:a16="http://schemas.microsoft.com/office/drawing/2014/main" id="{60888D2D-61FC-2A8F-ED96-3E74CB1A804B}"/>
              </a:ext>
            </a:extLst>
          </p:cNvPr>
          <p:cNvPicPr>
            <a:picLocks noChangeAspect="1"/>
          </p:cNvPicPr>
          <p:nvPr/>
        </p:nvPicPr>
        <p:blipFill>
          <a:blip r:embed="rId2"/>
          <a:stretch>
            <a:fillRect/>
          </a:stretch>
        </p:blipFill>
        <p:spPr>
          <a:xfrm>
            <a:off x="8345583" y="2286000"/>
            <a:ext cx="3048000" cy="3420172"/>
          </a:xfrm>
          <a:prstGeom prst="rect">
            <a:avLst/>
          </a:prstGeom>
        </p:spPr>
      </p:pic>
    </p:spTree>
    <p:extLst>
      <p:ext uri="{BB962C8B-B14F-4D97-AF65-F5344CB8AC3E}">
        <p14:creationId xmlns:p14="http://schemas.microsoft.com/office/powerpoint/2010/main" val="2696774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AE732E-010E-375E-14E6-20BC2250FDF8}"/>
              </a:ext>
            </a:extLst>
          </p:cNvPr>
          <p:cNvSpPr>
            <a:spLocks noGrp="1"/>
          </p:cNvSpPr>
          <p:nvPr>
            <p:ph type="sldNum" sz="quarter" idx="14"/>
          </p:nvPr>
        </p:nvSpPr>
        <p:spPr/>
        <p:txBody>
          <a:bodyPr/>
          <a:lstStyle/>
          <a:p>
            <a:fld id="{45A3C14A-F937-4231-B6F1-40B429FAFB2F}" type="slidenum">
              <a:rPr lang="en-NZ" smtClean="0"/>
              <a:pPr/>
              <a:t>14</a:t>
            </a:fld>
            <a:endParaRPr lang="en-NZ" dirty="0"/>
          </a:p>
        </p:txBody>
      </p:sp>
      <p:sp>
        <p:nvSpPr>
          <p:cNvPr id="4" name="Text Placeholder 3">
            <a:extLst>
              <a:ext uri="{FF2B5EF4-FFF2-40B4-BE49-F238E27FC236}">
                <a16:creationId xmlns:a16="http://schemas.microsoft.com/office/drawing/2014/main" id="{5C743ED0-09C3-0815-A7FD-52CB58B03587}"/>
              </a:ext>
            </a:extLst>
          </p:cNvPr>
          <p:cNvSpPr>
            <a:spLocks noGrp="1"/>
          </p:cNvSpPr>
          <p:nvPr>
            <p:ph type="body" sz="quarter" idx="17"/>
          </p:nvPr>
        </p:nvSpPr>
        <p:spPr>
          <a:xfrm>
            <a:off x="695400" y="304800"/>
            <a:ext cx="10801201" cy="5789616"/>
          </a:xfrm>
        </p:spPr>
        <p:txBody>
          <a:bodyPr/>
          <a:lstStyle/>
          <a:p>
            <a:pPr marL="0" indent="0">
              <a:buNone/>
            </a:pPr>
            <a:r>
              <a:rPr lang="en-IN" sz="2300" b="1" dirty="0">
                <a:solidFill>
                  <a:schemeClr val="tx1"/>
                </a:solidFill>
                <a:latin typeface="Times New Roman" panose="02020603050405020304" pitchFamily="18" charset="0"/>
                <a:cs typeface="Times New Roman" panose="02020603050405020304" pitchFamily="18" charset="0"/>
              </a:rPr>
              <a:t>2. Data Transformation</a:t>
            </a:r>
          </a:p>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Data Transformation is a process of </a:t>
            </a:r>
            <a:r>
              <a:rPr lang="en-US" sz="2200" dirty="0">
                <a:solidFill>
                  <a:schemeClr val="tx1"/>
                </a:solidFill>
                <a:latin typeface="Times New Roman" panose="02020603050405020304" pitchFamily="18" charset="0"/>
                <a:cs typeface="Times New Roman" panose="02020603050405020304" pitchFamily="18" charset="0"/>
              </a:rPr>
              <a:t>modifying the original data to make it more understandable and compatible.</a:t>
            </a:r>
          </a:p>
          <a:p>
            <a:pPr algn="just"/>
            <a:r>
              <a:rPr lang="en-US" sz="2200" b="1" dirty="0">
                <a:solidFill>
                  <a:schemeClr val="tx1"/>
                </a:solidFill>
                <a:latin typeface="Times New Roman" panose="02020603050405020304" pitchFamily="18" charset="0"/>
                <a:cs typeface="Times New Roman" panose="02020603050405020304" pitchFamily="18" charset="0"/>
              </a:rPr>
              <a:t>Normalization:</a:t>
            </a:r>
            <a:r>
              <a:rPr lang="en-US" sz="2200" dirty="0">
                <a:solidFill>
                  <a:schemeClr val="tx1"/>
                </a:solidFill>
                <a:latin typeface="Times New Roman" panose="02020603050405020304" pitchFamily="18" charset="0"/>
                <a:cs typeface="Times New Roman" panose="02020603050405020304" pitchFamily="18" charset="0"/>
              </a:rPr>
              <a:t> It is the process of translating data into the range [0, 1].</a:t>
            </a:r>
          </a:p>
          <a:p>
            <a:pPr algn="just"/>
            <a:r>
              <a:rPr lang="en-US" sz="2200" b="1" dirty="0">
                <a:solidFill>
                  <a:schemeClr val="tx1"/>
                </a:solidFill>
                <a:latin typeface="Times New Roman" panose="02020603050405020304" pitchFamily="18" charset="0"/>
                <a:cs typeface="Times New Roman" panose="02020603050405020304" pitchFamily="18" charset="0"/>
              </a:rPr>
              <a:t>Reshaping:</a:t>
            </a:r>
            <a:r>
              <a:rPr lang="en-US" sz="2200" dirty="0">
                <a:solidFill>
                  <a:schemeClr val="tx1"/>
                </a:solidFill>
                <a:latin typeface="Times New Roman" panose="02020603050405020304" pitchFamily="18" charset="0"/>
                <a:cs typeface="Times New Roman" panose="02020603050405020304" pitchFamily="18" charset="0"/>
              </a:rPr>
              <a:t> It involves changing the structure of the data to make it suitable for specific analysis. </a:t>
            </a:r>
          </a:p>
          <a:p>
            <a:pPr algn="just"/>
            <a:r>
              <a:rPr lang="en-US" sz="2200" b="1" dirty="0">
                <a:solidFill>
                  <a:schemeClr val="tx1"/>
                </a:solidFill>
                <a:latin typeface="Times New Roman" panose="02020603050405020304" pitchFamily="18" charset="0"/>
                <a:cs typeface="Times New Roman" panose="02020603050405020304" pitchFamily="18" charset="0"/>
              </a:rPr>
              <a:t>Encoding: </a:t>
            </a:r>
            <a:r>
              <a:rPr lang="en-US" sz="2200" dirty="0">
                <a:solidFill>
                  <a:schemeClr val="tx1"/>
                </a:solidFill>
                <a:latin typeface="Times New Roman" panose="02020603050405020304" pitchFamily="18" charset="0"/>
                <a:cs typeface="Times New Roman" panose="02020603050405020304" pitchFamily="18" charset="0"/>
              </a:rPr>
              <a:t>It is a process of converting categorical variables into a numerical format suitable for machine learning algorithms.</a:t>
            </a:r>
          </a:p>
        </p:txBody>
      </p:sp>
    </p:spTree>
    <p:extLst>
      <p:ext uri="{BB962C8B-B14F-4D97-AF65-F5344CB8AC3E}">
        <p14:creationId xmlns:p14="http://schemas.microsoft.com/office/powerpoint/2010/main" val="2441095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449128-8967-4F7A-1245-397B0A54A3C6}"/>
              </a:ext>
            </a:extLst>
          </p:cNvPr>
          <p:cNvSpPr>
            <a:spLocks noGrp="1"/>
          </p:cNvSpPr>
          <p:nvPr>
            <p:ph type="sldNum" sz="quarter" idx="14"/>
          </p:nvPr>
        </p:nvSpPr>
        <p:spPr/>
        <p:txBody>
          <a:bodyPr/>
          <a:lstStyle/>
          <a:p>
            <a:fld id="{45A3C14A-F937-4231-B6F1-40B429FAFB2F}" type="slidenum">
              <a:rPr lang="en-NZ" smtClean="0"/>
              <a:pPr/>
              <a:t>15</a:t>
            </a:fld>
            <a:endParaRPr lang="en-NZ" dirty="0"/>
          </a:p>
        </p:txBody>
      </p:sp>
      <p:sp>
        <p:nvSpPr>
          <p:cNvPr id="4" name="Text Placeholder 3">
            <a:extLst>
              <a:ext uri="{FF2B5EF4-FFF2-40B4-BE49-F238E27FC236}">
                <a16:creationId xmlns:a16="http://schemas.microsoft.com/office/drawing/2014/main" id="{961F73BC-8700-DB49-ADF8-0EC172A2D94A}"/>
              </a:ext>
            </a:extLst>
          </p:cNvPr>
          <p:cNvSpPr>
            <a:spLocks noGrp="1"/>
          </p:cNvSpPr>
          <p:nvPr>
            <p:ph type="body" sz="quarter" idx="17"/>
          </p:nvPr>
        </p:nvSpPr>
        <p:spPr>
          <a:xfrm>
            <a:off x="695400" y="396875"/>
            <a:ext cx="10801201" cy="5697541"/>
          </a:xfrm>
        </p:spPr>
        <p:txBody>
          <a:bodyPr/>
          <a:lstStyle/>
          <a:p>
            <a:pPr marL="0" indent="0" algn="just">
              <a:buNone/>
            </a:pPr>
            <a:r>
              <a:rPr lang="en-IN" sz="2300" b="1" dirty="0">
                <a:solidFill>
                  <a:schemeClr val="tx1"/>
                </a:solidFill>
                <a:latin typeface="Times New Roman" panose="02020603050405020304" pitchFamily="18" charset="0"/>
                <a:cs typeface="Times New Roman" panose="02020603050405020304" pitchFamily="18" charset="0"/>
              </a:rPr>
              <a:t>3. Handling Outliers </a:t>
            </a:r>
          </a:p>
          <a:p>
            <a:pPr marL="0" indent="0" algn="just">
              <a:buNone/>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An outlier detection is used to detect anomalous observations or samples that do not fit the normal statistical distribution of a dataset. Box plot is normally used to detect outliers. In Our dataset there are some outliers in the Rainfall column. We have transformed the values by using data transformation techniques.</a:t>
            </a:r>
          </a:p>
          <a:p>
            <a:pPr marL="0" indent="0">
              <a:buNone/>
            </a:pPr>
            <a:endParaRPr lang="en-IN" dirty="0"/>
          </a:p>
        </p:txBody>
      </p:sp>
      <p:pic>
        <p:nvPicPr>
          <p:cNvPr id="6" name="Picture 5">
            <a:extLst>
              <a:ext uri="{FF2B5EF4-FFF2-40B4-BE49-F238E27FC236}">
                <a16:creationId xmlns:a16="http://schemas.microsoft.com/office/drawing/2014/main" id="{5DA19AF0-70F1-A39E-9244-CEABF79C16C7}"/>
              </a:ext>
            </a:extLst>
          </p:cNvPr>
          <p:cNvPicPr>
            <a:picLocks noChangeAspect="1"/>
          </p:cNvPicPr>
          <p:nvPr/>
        </p:nvPicPr>
        <p:blipFill>
          <a:blip r:embed="rId2"/>
          <a:stretch>
            <a:fillRect/>
          </a:stretch>
        </p:blipFill>
        <p:spPr>
          <a:xfrm>
            <a:off x="4318715" y="2286000"/>
            <a:ext cx="4573029" cy="3421487"/>
          </a:xfrm>
          <a:prstGeom prst="rect">
            <a:avLst/>
          </a:prstGeom>
        </p:spPr>
      </p:pic>
    </p:spTree>
    <p:extLst>
      <p:ext uri="{BB962C8B-B14F-4D97-AF65-F5344CB8AC3E}">
        <p14:creationId xmlns:p14="http://schemas.microsoft.com/office/powerpoint/2010/main" val="2480844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48D60F-E33F-B26E-6694-CDECDCC970B2}"/>
              </a:ext>
            </a:extLst>
          </p:cNvPr>
          <p:cNvSpPr>
            <a:spLocks noGrp="1"/>
          </p:cNvSpPr>
          <p:nvPr>
            <p:ph type="sldNum" sz="quarter" idx="14"/>
          </p:nvPr>
        </p:nvSpPr>
        <p:spPr/>
        <p:txBody>
          <a:bodyPr/>
          <a:lstStyle/>
          <a:p>
            <a:fld id="{45A3C14A-F937-4231-B6F1-40B429FAFB2F}" type="slidenum">
              <a:rPr lang="en-NZ" smtClean="0"/>
              <a:pPr/>
              <a:t>16</a:t>
            </a:fld>
            <a:endParaRPr lang="en-NZ" dirty="0"/>
          </a:p>
        </p:txBody>
      </p:sp>
      <p:sp>
        <p:nvSpPr>
          <p:cNvPr id="4" name="Text Placeholder 3">
            <a:extLst>
              <a:ext uri="{FF2B5EF4-FFF2-40B4-BE49-F238E27FC236}">
                <a16:creationId xmlns:a16="http://schemas.microsoft.com/office/drawing/2014/main" id="{AFEB2BE2-525A-281F-4C00-AAA1C3985761}"/>
              </a:ext>
            </a:extLst>
          </p:cNvPr>
          <p:cNvSpPr>
            <a:spLocks noGrp="1"/>
          </p:cNvSpPr>
          <p:nvPr>
            <p:ph type="body" sz="quarter" idx="17"/>
          </p:nvPr>
        </p:nvSpPr>
        <p:spPr>
          <a:xfrm>
            <a:off x="695400" y="396875"/>
            <a:ext cx="10801201" cy="5697541"/>
          </a:xfrm>
        </p:spPr>
        <p:txBody>
          <a:bodyPr/>
          <a:lstStyle/>
          <a:p>
            <a:pPr marL="0" indent="0" algn="just">
              <a:buNone/>
            </a:pPr>
            <a:r>
              <a:rPr lang="en-IN" sz="2200" b="1" dirty="0">
                <a:solidFill>
                  <a:schemeClr val="tx1"/>
                </a:solidFill>
                <a:latin typeface="Times New Roman" panose="02020603050405020304" pitchFamily="18" charset="0"/>
                <a:cs typeface="Times New Roman" panose="02020603050405020304" pitchFamily="18" charset="0"/>
              </a:rPr>
              <a:t>4. Data Splitting</a:t>
            </a:r>
          </a:p>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The process of dividing the dataset into training and test sets for model training and evaluation. </a:t>
            </a:r>
            <a:r>
              <a:rPr lang="en-US" sz="2200" b="0" i="0" u="none" strike="noStrike" baseline="0" dirty="0">
                <a:solidFill>
                  <a:schemeClr val="tx1"/>
                </a:solidFill>
                <a:latin typeface="Times New Roman" panose="02020603050405020304" pitchFamily="18" charset="0"/>
                <a:cs typeface="Times New Roman" panose="02020603050405020304" pitchFamily="18" charset="0"/>
              </a:rPr>
              <a:t>Generally, we split the dataset into 70:30 or 80:20. In our dataset we have taken 80:20 it means, 80 percent data taken to train and 30 percent data taken to test. For this task, we will import train_test_split from model_selection library of scikit. </a:t>
            </a:r>
          </a:p>
          <a:p>
            <a:pPr marL="0" indent="0" algn="just">
              <a:buNone/>
            </a:pPr>
            <a:endParaRPr lang="en-US" sz="2200" b="0" i="0" u="none" strike="noStrike" baseline="0" dirty="0">
              <a:solidFill>
                <a:schemeClr val="tx1"/>
              </a:solidFill>
              <a:latin typeface="Times New Roman" panose="02020603050405020304" pitchFamily="18" charset="0"/>
              <a:cs typeface="Times New Roman" panose="02020603050405020304" pitchFamily="18" charset="0"/>
            </a:endParaRPr>
          </a:p>
          <a:p>
            <a:pPr algn="just">
              <a:buAutoNum type="arabicPeriod" startAt="5"/>
            </a:pPr>
            <a:r>
              <a:rPr lang="en-IN" sz="2200" b="1" dirty="0">
                <a:solidFill>
                  <a:schemeClr val="tx1"/>
                </a:solidFill>
                <a:latin typeface="Times New Roman" panose="02020603050405020304" pitchFamily="18" charset="0"/>
                <a:cs typeface="Times New Roman" panose="02020603050405020304" pitchFamily="18" charset="0"/>
              </a:rPr>
              <a:t>Feature Scaling</a:t>
            </a:r>
          </a:p>
          <a:p>
            <a:pPr marL="0" indent="0" algn="just">
              <a:buNone/>
            </a:pPr>
            <a:r>
              <a:rPr lang="en-US" sz="2200" b="1" dirty="0">
                <a:solidFill>
                  <a:schemeClr val="tx1"/>
                </a:solidFill>
                <a:latin typeface="Times New Roman" panose="02020603050405020304" pitchFamily="18" charset="0"/>
                <a:cs typeface="Times New Roman" panose="02020603050405020304" pitchFamily="18" charset="0"/>
              </a:rPr>
              <a:t>Standardization:</a:t>
            </a:r>
            <a:r>
              <a:rPr lang="en-US" sz="2200" dirty="0">
                <a:solidFill>
                  <a:schemeClr val="tx1"/>
                </a:solidFill>
                <a:latin typeface="Times New Roman" panose="02020603050405020304" pitchFamily="18" charset="0"/>
                <a:cs typeface="Times New Roman" panose="02020603050405020304" pitchFamily="18" charset="0"/>
              </a:rPr>
              <a:t> It is a method of feature scaling in which data values are rescaled to fit the distribution between 0 and 1 using mean and standard deviation as the base to find specific values. </a:t>
            </a:r>
          </a:p>
          <a:p>
            <a:pPr marL="0" indent="0" algn="just">
              <a:buNone/>
            </a:pPr>
            <a:r>
              <a:rPr lang="en-US" sz="2200" b="1" dirty="0">
                <a:solidFill>
                  <a:schemeClr val="tx1"/>
                </a:solidFill>
                <a:latin typeface="Times New Roman" panose="02020603050405020304" pitchFamily="18" charset="0"/>
                <a:cs typeface="Times New Roman" panose="02020603050405020304" pitchFamily="18" charset="0"/>
              </a:rPr>
              <a:t>Min-Max Scalar Technique:</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MinMax</a:t>
            </a:r>
            <a:r>
              <a:rPr lang="en-US" sz="2200" dirty="0">
                <a:solidFill>
                  <a:schemeClr val="tx1"/>
                </a:solidFill>
                <a:latin typeface="Times New Roman" panose="02020603050405020304" pitchFamily="18" charset="0"/>
                <a:cs typeface="Times New Roman" panose="02020603050405020304" pitchFamily="18" charset="0"/>
              </a:rPr>
              <a:t> Scaler shrinks the data within the given range, usually of 0 to 1.</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7090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309C54-76D3-5230-FD5F-D0DC86CBB8A4}"/>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4" name="Text Placeholder 3">
            <a:extLst>
              <a:ext uri="{FF2B5EF4-FFF2-40B4-BE49-F238E27FC236}">
                <a16:creationId xmlns:a16="http://schemas.microsoft.com/office/drawing/2014/main" id="{2D9824EB-8567-7BB7-B930-5A3737C497A7}"/>
              </a:ext>
            </a:extLst>
          </p:cNvPr>
          <p:cNvSpPr>
            <a:spLocks noGrp="1"/>
          </p:cNvSpPr>
          <p:nvPr>
            <p:ph type="body" sz="quarter" idx="17"/>
          </p:nvPr>
        </p:nvSpPr>
        <p:spPr>
          <a:xfrm>
            <a:off x="695400" y="609600"/>
            <a:ext cx="10801201" cy="5484816"/>
          </a:xfrm>
        </p:spPr>
        <p:txBody>
          <a:bodyPr/>
          <a:lstStyle/>
          <a:p>
            <a:pPr marL="0" indent="0" algn="just">
              <a:buNone/>
            </a:pPr>
            <a:r>
              <a:rPr lang="en-IN" sz="2200" b="1" dirty="0">
                <a:solidFill>
                  <a:schemeClr val="tx1"/>
                </a:solidFill>
                <a:latin typeface="Times New Roman" panose="02020603050405020304" pitchFamily="18" charset="0"/>
                <a:cs typeface="Times New Roman" panose="02020603050405020304" pitchFamily="18" charset="0"/>
              </a:rPr>
              <a:t>6. Exploratory Data Analysis (EDA)</a:t>
            </a:r>
          </a:p>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It is a process where we can understand the distribution of variables, identify patterns and gain insights before moving on to further analysis.</a:t>
            </a:r>
          </a:p>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Through this plot we can know how the data </a:t>
            </a:r>
          </a:p>
          <a:p>
            <a:pPr marL="0" indent="0" algn="just">
              <a:buNone/>
            </a:pPr>
            <a:r>
              <a:rPr lang="en-IN" sz="2200" dirty="0">
                <a:solidFill>
                  <a:schemeClr val="tx1"/>
                </a:solidFill>
                <a:latin typeface="Times New Roman" panose="02020603050405020304" pitchFamily="18" charset="0"/>
                <a:cs typeface="Times New Roman" panose="02020603050405020304" pitchFamily="18" charset="0"/>
              </a:rPr>
              <a:t>is distributed </a:t>
            </a:r>
            <a:r>
              <a:rPr lang="en-US" sz="2200" b="0" i="0" u="none" strike="noStrike" baseline="0" dirty="0">
                <a:solidFill>
                  <a:schemeClr val="tx1"/>
                </a:solidFill>
                <a:latin typeface="Times New Roman" panose="02020603050405020304" pitchFamily="18" charset="0"/>
                <a:cs typeface="Times New Roman" panose="02020603050405020304" pitchFamily="18" charset="0"/>
              </a:rPr>
              <a:t>or clustered around certain values </a:t>
            </a:r>
          </a:p>
          <a:p>
            <a:pPr marL="0" indent="0" algn="just">
              <a:buNone/>
            </a:pPr>
            <a:r>
              <a:rPr lang="en-US" sz="2200" b="0" i="0" u="none" strike="noStrike" baseline="0" dirty="0">
                <a:solidFill>
                  <a:schemeClr val="tx1"/>
                </a:solidFill>
                <a:latin typeface="Times New Roman" panose="02020603050405020304" pitchFamily="18" charset="0"/>
                <a:cs typeface="Times New Roman" panose="02020603050405020304" pitchFamily="18" charset="0"/>
              </a:rPr>
              <a:t>or ranges. </a:t>
            </a:r>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pic>
        <p:nvPicPr>
          <p:cNvPr id="6" name="Picture 5">
            <a:extLst>
              <a:ext uri="{FF2B5EF4-FFF2-40B4-BE49-F238E27FC236}">
                <a16:creationId xmlns:a16="http://schemas.microsoft.com/office/drawing/2014/main" id="{7B74F42D-2C01-B6C8-DC5F-3912B76A85DB}"/>
              </a:ext>
            </a:extLst>
          </p:cNvPr>
          <p:cNvPicPr>
            <a:picLocks noChangeAspect="1"/>
          </p:cNvPicPr>
          <p:nvPr/>
        </p:nvPicPr>
        <p:blipFill>
          <a:blip r:embed="rId2"/>
          <a:stretch>
            <a:fillRect/>
          </a:stretch>
        </p:blipFill>
        <p:spPr>
          <a:xfrm>
            <a:off x="6324601" y="1676400"/>
            <a:ext cx="4267200" cy="4410446"/>
          </a:xfrm>
          <a:prstGeom prst="rect">
            <a:avLst/>
          </a:prstGeom>
        </p:spPr>
      </p:pic>
    </p:spTree>
    <p:extLst>
      <p:ext uri="{BB962C8B-B14F-4D97-AF65-F5344CB8AC3E}">
        <p14:creationId xmlns:p14="http://schemas.microsoft.com/office/powerpoint/2010/main" val="1842786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451BF52C-4EF4-758D-1BC6-B5D840FC941C}"/>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r>
              <a:rPr lang="en-US" sz="4300" b="1" kern="1200" cap="none" dirty="0">
                <a:solidFill>
                  <a:srgbClr val="FFFFFF"/>
                </a:solidFill>
                <a:latin typeface="Times New Roman" panose="02020603050405020304" pitchFamily="18" charset="0"/>
                <a:ea typeface="+mj-ea"/>
                <a:cs typeface="Times New Roman" panose="02020603050405020304" pitchFamily="18" charset="0"/>
              </a:rPr>
              <a:t>Distribution</a:t>
            </a:r>
            <a:r>
              <a:rPr lang="en-US" sz="4400" b="1" kern="1200" cap="none" dirty="0">
                <a:solidFill>
                  <a:srgbClr val="FFFFFF"/>
                </a:solidFill>
                <a:latin typeface="Times New Roman" panose="02020603050405020304" pitchFamily="18" charset="0"/>
                <a:ea typeface="+mj-ea"/>
                <a:cs typeface="Times New Roman" panose="02020603050405020304" pitchFamily="18" charset="0"/>
              </a:rPr>
              <a:t> Of The Rainfall Data That Is How Often There Is Rainfall</a:t>
            </a:r>
          </a:p>
        </p:txBody>
      </p:sp>
      <p:pic>
        <p:nvPicPr>
          <p:cNvPr id="9" name="Picture Placeholder 8">
            <a:extLst>
              <a:ext uri="{FF2B5EF4-FFF2-40B4-BE49-F238E27FC236}">
                <a16:creationId xmlns:a16="http://schemas.microsoft.com/office/drawing/2014/main" id="{31F41D7F-C617-0548-B877-A4405B62833F}"/>
              </a:ext>
            </a:extLst>
          </p:cNvPr>
          <p:cNvPicPr>
            <a:picLocks noGrp="1" noChangeAspect="1"/>
          </p:cNvPicPr>
          <p:nvPr>
            <p:ph type="pic" sz="quarter" idx="15"/>
          </p:nvPr>
        </p:nvPicPr>
        <p:blipFill>
          <a:blip r:embed="rId2"/>
          <a:srcRect l="11469" r="11469"/>
          <a:stretch/>
        </p:blipFill>
        <p:spPr>
          <a:xfrm>
            <a:off x="6111483" y="640080"/>
            <a:ext cx="5428503" cy="5578816"/>
          </a:xfrm>
          <a:prstGeom prst="rect">
            <a:avLst/>
          </a:prstGeom>
        </p:spPr>
      </p:pic>
      <p:sp>
        <p:nvSpPr>
          <p:cNvPr id="2" name="Slide Number Placeholder 1">
            <a:extLst>
              <a:ext uri="{FF2B5EF4-FFF2-40B4-BE49-F238E27FC236}">
                <a16:creationId xmlns:a16="http://schemas.microsoft.com/office/drawing/2014/main" id="{8B48A8A1-6899-7CED-74DE-F507E12B5DFC}"/>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lgn="r">
              <a:spcAft>
                <a:spcPts val="600"/>
              </a:spcAft>
            </a:pPr>
            <a:fld id="{45A3C14A-F937-4231-B6F1-40B429FAFB2F}" type="slidenum">
              <a:rPr lang="en-US" sz="1200" smtClean="0">
                <a:solidFill>
                  <a:schemeClr val="tx1">
                    <a:tint val="75000"/>
                  </a:schemeClr>
                </a:solidFill>
                <a:latin typeface="+mn-lt"/>
                <a:ea typeface="+mn-ea"/>
              </a:rPr>
              <a:pPr algn="r">
                <a:spcAft>
                  <a:spcPts val="600"/>
                </a:spcAft>
              </a:pPr>
              <a:t>18</a:t>
            </a:fld>
            <a:endParaRPr lang="en-US" sz="1200">
              <a:solidFill>
                <a:schemeClr val="tx1">
                  <a:tint val="75000"/>
                </a:schemeClr>
              </a:solidFill>
              <a:latin typeface="+mn-lt"/>
              <a:ea typeface="+mn-ea"/>
            </a:endParaRPr>
          </a:p>
        </p:txBody>
      </p:sp>
    </p:spTree>
    <p:extLst>
      <p:ext uri="{BB962C8B-B14F-4D97-AF65-F5344CB8AC3E}">
        <p14:creationId xmlns:p14="http://schemas.microsoft.com/office/powerpoint/2010/main" val="863394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08179F7-59F6-3E2F-8791-27064BC36764}"/>
              </a:ext>
            </a:extLst>
          </p:cNvPr>
          <p:cNvSpPr>
            <a:spLocks noGrp="1"/>
          </p:cNvSpPr>
          <p:nvPr>
            <p:ph type="title"/>
          </p:nvPr>
        </p:nvSpPr>
        <p:spPr>
          <a:xfrm>
            <a:off x="621629" y="640080"/>
            <a:ext cx="4225290" cy="5578816"/>
          </a:xfrm>
        </p:spPr>
        <p:txBody>
          <a:bodyPr vert="horz" lIns="91440" tIns="45720" rIns="91440" bIns="45720" rtlCol="0" anchor="ctr">
            <a:normAutofit fontScale="90000"/>
          </a:bodyPr>
          <a:lstStyle/>
          <a:p>
            <a:pPr algn="ctr"/>
            <a:r>
              <a:rPr lang="en-US" sz="4400" cap="none" dirty="0">
                <a:solidFill>
                  <a:srgbClr val="FFFFFF"/>
                </a:solidFill>
                <a:latin typeface="Times New Roman" panose="02020603050405020304" pitchFamily="18" charset="0"/>
                <a:ea typeface="+mj-ea"/>
                <a:cs typeface="Times New Roman" panose="02020603050405020304" pitchFamily="18" charset="0"/>
              </a:rPr>
              <a:t>Relationship Between Maximum And Minimum Temperature Where Darker Shade Is Max Temp And Lighter Shade Is Min Temp</a:t>
            </a:r>
            <a:endParaRPr lang="en-US" sz="4400" kern="1200" cap="none" dirty="0">
              <a:solidFill>
                <a:srgbClr val="FFFFFF"/>
              </a:solidFill>
              <a:latin typeface="Times New Roman" panose="02020603050405020304" pitchFamily="18" charset="0"/>
              <a:ea typeface="+mj-ea"/>
              <a:cs typeface="Times New Roman" panose="02020603050405020304" pitchFamily="18" charset="0"/>
            </a:endParaRPr>
          </a:p>
        </p:txBody>
      </p:sp>
      <p:sp>
        <p:nvSpPr>
          <p:cNvPr id="5" name="Slide Number Placeholder 4">
            <a:extLst>
              <a:ext uri="{FF2B5EF4-FFF2-40B4-BE49-F238E27FC236}">
                <a16:creationId xmlns:a16="http://schemas.microsoft.com/office/drawing/2014/main" id="{715AA403-747D-7BB3-8C9E-7A9E7DCD8A42}"/>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lgn="r">
              <a:spcAft>
                <a:spcPts val="600"/>
              </a:spcAft>
            </a:pPr>
            <a:fld id="{45A3C14A-F937-4231-B6F1-40B429FAFB2F}" type="slidenum">
              <a:rPr lang="en-US" sz="1200" smtClean="0">
                <a:solidFill>
                  <a:schemeClr val="tx1">
                    <a:tint val="75000"/>
                  </a:schemeClr>
                </a:solidFill>
                <a:latin typeface="+mn-lt"/>
                <a:ea typeface="+mn-ea"/>
              </a:rPr>
              <a:pPr algn="r">
                <a:spcAft>
                  <a:spcPts val="600"/>
                </a:spcAft>
              </a:pPr>
              <a:t>19</a:t>
            </a:fld>
            <a:endParaRPr lang="en-US" sz="1200">
              <a:solidFill>
                <a:schemeClr val="tx1">
                  <a:tint val="75000"/>
                </a:schemeClr>
              </a:solidFill>
              <a:latin typeface="+mn-lt"/>
              <a:ea typeface="+mn-ea"/>
            </a:endParaRPr>
          </a:p>
        </p:txBody>
      </p:sp>
      <p:pic>
        <p:nvPicPr>
          <p:cNvPr id="13" name="Picture Placeholder 12" descr="A blue dotted diagram with numbers&#10;&#10;Description automatically generated">
            <a:extLst>
              <a:ext uri="{FF2B5EF4-FFF2-40B4-BE49-F238E27FC236}">
                <a16:creationId xmlns:a16="http://schemas.microsoft.com/office/drawing/2014/main" id="{6D5BEA2E-C8E0-9B30-79CB-8A7B9FE219F0}"/>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1737" r="11737"/>
          <a:stretch>
            <a:fillRect/>
          </a:stretch>
        </p:blipFill>
        <p:spPr>
          <a:xfrm>
            <a:off x="6090177" y="381000"/>
            <a:ext cx="5568423" cy="5715000"/>
          </a:xfrm>
        </p:spPr>
      </p:pic>
    </p:spTree>
    <p:extLst>
      <p:ext uri="{BB962C8B-B14F-4D97-AF65-F5344CB8AC3E}">
        <p14:creationId xmlns:p14="http://schemas.microsoft.com/office/powerpoint/2010/main" val="1854462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0545502-8E0A-2DB8-C899-66CA81D8AB1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MODEL PLANNING</a:t>
            </a:r>
          </a:p>
        </p:txBody>
      </p:sp>
      <p:pic>
        <p:nvPicPr>
          <p:cNvPr id="18" name="Picture 17" descr="A diagram of data processing&#10;&#10;Description automatically generated">
            <a:extLst>
              <a:ext uri="{FF2B5EF4-FFF2-40B4-BE49-F238E27FC236}">
                <a16:creationId xmlns:a16="http://schemas.microsoft.com/office/drawing/2014/main" id="{AC7A0BA1-E33E-6AED-A190-829FF9242A07}"/>
              </a:ext>
            </a:extLst>
          </p:cNvPr>
          <p:cNvPicPr>
            <a:picLocks noChangeAspect="1"/>
          </p:cNvPicPr>
          <p:nvPr/>
        </p:nvPicPr>
        <p:blipFill>
          <a:blip r:embed="rId2"/>
          <a:stretch>
            <a:fillRect/>
          </a:stretch>
        </p:blipFill>
        <p:spPr>
          <a:xfrm>
            <a:off x="4777316" y="1486861"/>
            <a:ext cx="6780700" cy="3881949"/>
          </a:xfrm>
          <a:prstGeom prst="rect">
            <a:avLst/>
          </a:prstGeom>
        </p:spPr>
      </p:pic>
      <p:sp>
        <p:nvSpPr>
          <p:cNvPr id="5" name="Slide Number Placeholder 4">
            <a:extLst>
              <a:ext uri="{FF2B5EF4-FFF2-40B4-BE49-F238E27FC236}">
                <a16:creationId xmlns:a16="http://schemas.microsoft.com/office/drawing/2014/main" id="{42EFD80B-EC9C-781D-FA4C-472D1DF7881C}"/>
              </a:ext>
            </a:extLst>
          </p:cNvPr>
          <p:cNvSpPr>
            <a:spLocks noGrp="1"/>
          </p:cNvSpPr>
          <p:nvPr>
            <p:ph type="sldNum" sz="quarter" idx="14"/>
          </p:nvPr>
        </p:nvSpPr>
        <p:spPr>
          <a:xfrm>
            <a:off x="11034184" y="6356350"/>
            <a:ext cx="514349" cy="365125"/>
          </a:xfrm>
        </p:spPr>
        <p:txBody>
          <a:bodyPr vert="horz" lIns="91440" tIns="45720" rIns="91440" bIns="45720" rtlCol="0" anchor="ctr">
            <a:normAutofit/>
          </a:bodyPr>
          <a:lstStyle/>
          <a:p>
            <a:pPr algn="r">
              <a:spcAft>
                <a:spcPts val="600"/>
              </a:spcAft>
            </a:pPr>
            <a:fld id="{45A3C14A-F937-4231-B6F1-40B429FAFB2F}" type="slidenum">
              <a:rPr lang="en-US" sz="1200" smtClean="0">
                <a:solidFill>
                  <a:schemeClr val="tx1">
                    <a:alpha val="80000"/>
                  </a:schemeClr>
                </a:solidFill>
                <a:latin typeface="+mn-lt"/>
                <a:ea typeface="+mn-ea"/>
              </a:rPr>
              <a:pPr algn="r">
                <a:spcAft>
                  <a:spcPts val="600"/>
                </a:spcAft>
              </a:pPr>
              <a:t>20</a:t>
            </a:fld>
            <a:endParaRPr lang="en-US" sz="1200">
              <a:solidFill>
                <a:schemeClr val="tx1">
                  <a:alpha val="80000"/>
                </a:schemeClr>
              </a:solidFill>
              <a:latin typeface="+mn-lt"/>
              <a:ea typeface="+mn-ea"/>
            </a:endParaRPr>
          </a:p>
        </p:txBody>
      </p:sp>
    </p:spTree>
    <p:extLst>
      <p:ext uri="{BB962C8B-B14F-4D97-AF65-F5344CB8AC3E}">
        <p14:creationId xmlns:p14="http://schemas.microsoft.com/office/powerpoint/2010/main" val="4076386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D2A8EA-F782-425C-29CD-5F49F038C61A}"/>
              </a:ext>
            </a:extLst>
          </p:cNvPr>
          <p:cNvSpPr>
            <a:spLocks noGrp="1"/>
          </p:cNvSpPr>
          <p:nvPr>
            <p:ph type="sldNum" sz="quarter" idx="14"/>
          </p:nvPr>
        </p:nvSpPr>
        <p:spPr/>
        <p:txBody>
          <a:bodyPr/>
          <a:lstStyle/>
          <a:p>
            <a:fld id="{45A3C14A-F937-4231-B6F1-40B429FAFB2F}" type="slidenum">
              <a:rPr lang="en-NZ" smtClean="0"/>
              <a:pPr/>
              <a:t>21</a:t>
            </a:fld>
            <a:endParaRPr lang="en-NZ" dirty="0"/>
          </a:p>
        </p:txBody>
      </p:sp>
      <p:sp>
        <p:nvSpPr>
          <p:cNvPr id="4" name="Text Placeholder 3">
            <a:extLst>
              <a:ext uri="{FF2B5EF4-FFF2-40B4-BE49-F238E27FC236}">
                <a16:creationId xmlns:a16="http://schemas.microsoft.com/office/drawing/2014/main" id="{F8D83616-1F42-8C80-2EAD-19763E95871E}"/>
              </a:ext>
            </a:extLst>
          </p:cNvPr>
          <p:cNvSpPr>
            <a:spLocks noGrp="1"/>
          </p:cNvSpPr>
          <p:nvPr>
            <p:ph type="body" sz="quarter" idx="17"/>
          </p:nvPr>
        </p:nvSpPr>
        <p:spPr>
          <a:xfrm>
            <a:off x="695400" y="396875"/>
            <a:ext cx="10801201" cy="5697541"/>
          </a:xfrm>
        </p:spPr>
        <p:txBody>
          <a:bodyPr/>
          <a:lstStyle/>
          <a:p>
            <a:pPr algn="just">
              <a:buFont typeface="Wingdings" panose="05000000000000000000" pitchFamily="2" charset="2"/>
              <a:buChar char="Ø"/>
            </a:pPr>
            <a:r>
              <a:rPr lang="en-IN" sz="2100" b="1" dirty="0">
                <a:solidFill>
                  <a:schemeClr val="tx1"/>
                </a:solidFill>
                <a:latin typeface="Times New Roman" panose="02020603050405020304" pitchFamily="18" charset="0"/>
                <a:cs typeface="Times New Roman" panose="02020603050405020304" pitchFamily="18" charset="0"/>
              </a:rPr>
              <a:t>Problem Statement: </a:t>
            </a:r>
          </a:p>
          <a:p>
            <a:pPr marL="0" indent="0" algn="just">
              <a:buNone/>
            </a:pPr>
            <a:r>
              <a:rPr lang="en-US" sz="2100" dirty="0">
                <a:solidFill>
                  <a:schemeClr val="tx1"/>
                </a:solidFill>
                <a:latin typeface="Times New Roman" panose="02020603050405020304" pitchFamily="18" charset="0"/>
                <a:cs typeface="Times New Roman" panose="02020603050405020304" pitchFamily="18" charset="0"/>
              </a:rPr>
              <a:t>This clearly defines the scope of our project that is prediction of floods. In our project we predict flood using various hybrid machine learning models.</a:t>
            </a:r>
          </a:p>
          <a:p>
            <a:pPr algn="just">
              <a:buFont typeface="Wingdings" panose="05000000000000000000" pitchFamily="2" charset="2"/>
              <a:buChar char="Ø"/>
            </a:pPr>
            <a:r>
              <a:rPr lang="en-IN" sz="2100" b="1" dirty="0">
                <a:solidFill>
                  <a:schemeClr val="tx1"/>
                </a:solidFill>
                <a:latin typeface="Times New Roman" panose="02020603050405020304" pitchFamily="18" charset="0"/>
                <a:cs typeface="Times New Roman" panose="02020603050405020304" pitchFamily="18" charset="0"/>
              </a:rPr>
              <a:t>Data Collection: </a:t>
            </a:r>
          </a:p>
          <a:p>
            <a:pPr marL="0" indent="0" algn="just">
              <a:buNone/>
            </a:pPr>
            <a:r>
              <a:rPr lang="en-US" sz="2100" dirty="0">
                <a:solidFill>
                  <a:schemeClr val="tx1"/>
                </a:solidFill>
                <a:latin typeface="Times New Roman" panose="02020603050405020304" pitchFamily="18" charset="0"/>
                <a:cs typeface="Times New Roman" panose="02020603050405020304" pitchFamily="18" charset="0"/>
              </a:rPr>
              <a:t>Gathering historical and real-time data from various sources.</a:t>
            </a:r>
          </a:p>
          <a:p>
            <a:pPr algn="just">
              <a:buFont typeface="Wingdings" panose="05000000000000000000" pitchFamily="2" charset="2"/>
              <a:buChar char="Ø"/>
            </a:pPr>
            <a:r>
              <a:rPr lang="en-IN" sz="2100" b="1" dirty="0">
                <a:solidFill>
                  <a:schemeClr val="tx1"/>
                </a:solidFill>
                <a:latin typeface="Times New Roman" panose="02020603050405020304" pitchFamily="18" charset="0"/>
                <a:cs typeface="Times New Roman" panose="02020603050405020304" pitchFamily="18" charset="0"/>
              </a:rPr>
              <a:t>Importing Necessary Libraries:</a:t>
            </a:r>
          </a:p>
          <a:p>
            <a:pPr marL="0" indent="0" algn="just">
              <a:buNone/>
            </a:pPr>
            <a:r>
              <a:rPr lang="en-IN" sz="2100" dirty="0">
                <a:solidFill>
                  <a:schemeClr val="tx1"/>
                </a:solidFill>
                <a:latin typeface="Times New Roman" panose="02020603050405020304" pitchFamily="18" charset="0"/>
                <a:cs typeface="Times New Roman" panose="02020603050405020304" pitchFamily="18" charset="0"/>
              </a:rPr>
              <a:t>Various libraries have been imported for designing a system for flood prediction using machine learning models. It will handle data processing, machine learning tasks, visualization and more. In our project various libraries are imported like Pandas, NumPy, Matplotlib, LinearRegression, mean_squared_error, MinMaxScaler, IsolationForest, Sequential, Dense, LSTM, make_regression, train_test_split, StandardScaler, PCL, PLS Regression, Sequential, Pickle, XGBRegressor. </a:t>
            </a:r>
          </a:p>
          <a:p>
            <a:pPr marL="342900" indent="-342900">
              <a:buFont typeface="Wingdings" panose="05000000000000000000" pitchFamily="2" charset="2"/>
              <a:buChar char="Ø"/>
            </a:pPr>
            <a:r>
              <a:rPr lang="en-IN" sz="2100" b="1" dirty="0">
                <a:solidFill>
                  <a:schemeClr val="tx1"/>
                </a:solidFill>
                <a:latin typeface="Times New Roman" panose="02020603050405020304" pitchFamily="18" charset="0"/>
                <a:cs typeface="Times New Roman" panose="02020603050405020304" pitchFamily="18" charset="0"/>
              </a:rPr>
              <a:t>Data Profiling: </a:t>
            </a:r>
          </a:p>
          <a:p>
            <a:pPr marL="0" indent="0">
              <a:buNone/>
            </a:pPr>
            <a:r>
              <a:rPr lang="en-US" sz="2100" dirty="0">
                <a:solidFill>
                  <a:schemeClr val="tx1"/>
                </a:solidFill>
                <a:latin typeface="Times New Roman" panose="02020603050405020304" pitchFamily="18" charset="0"/>
                <a:cs typeface="Times New Roman" panose="02020603050405020304" pitchFamily="18" charset="0"/>
              </a:rPr>
              <a:t>Data profiling refers to the process of examining, analyzing, reviewing and summarizing data sets to gain insight into the quality of data. Data quality is a measure of the condition of data based on factors such as its accuracy, completeness, consistency, timeliness and accessibility.</a:t>
            </a:r>
          </a:p>
          <a:p>
            <a:pPr marL="0" indent="0" algn="just">
              <a:buNone/>
            </a:pPr>
            <a:endParaRPr lang="en-IN" sz="21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sz="2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74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9C0002-EC92-A2C6-3303-424247AF9D6E}"/>
              </a:ext>
            </a:extLst>
          </p:cNvPr>
          <p:cNvSpPr>
            <a:spLocks noGrp="1"/>
          </p:cNvSpPr>
          <p:nvPr>
            <p:ph type="sldNum" sz="quarter" idx="14"/>
          </p:nvPr>
        </p:nvSpPr>
        <p:spPr/>
        <p:txBody>
          <a:bodyPr/>
          <a:lstStyle/>
          <a:p>
            <a:fld id="{45A3C14A-F937-4231-B6F1-40B429FAFB2F}" type="slidenum">
              <a:rPr lang="en-NZ" smtClean="0"/>
              <a:pPr/>
              <a:t>22</a:t>
            </a:fld>
            <a:endParaRPr lang="en-NZ" dirty="0"/>
          </a:p>
        </p:txBody>
      </p:sp>
      <p:sp>
        <p:nvSpPr>
          <p:cNvPr id="4" name="Text Placeholder 3">
            <a:extLst>
              <a:ext uri="{FF2B5EF4-FFF2-40B4-BE49-F238E27FC236}">
                <a16:creationId xmlns:a16="http://schemas.microsoft.com/office/drawing/2014/main" id="{B8BC6C2E-C2C2-D8F4-856D-00B7AC7B9577}"/>
              </a:ext>
            </a:extLst>
          </p:cNvPr>
          <p:cNvSpPr>
            <a:spLocks noGrp="1"/>
          </p:cNvSpPr>
          <p:nvPr>
            <p:ph type="body" sz="quarter" idx="17"/>
          </p:nvPr>
        </p:nvSpPr>
        <p:spPr>
          <a:xfrm>
            <a:off x="695400" y="152400"/>
            <a:ext cx="10801201" cy="5942016"/>
          </a:xfrm>
        </p:spPr>
        <p:txBody>
          <a:bodyPr/>
          <a:lstStyle/>
          <a:p>
            <a:pPr>
              <a:buFont typeface="Wingdings" panose="05000000000000000000" pitchFamily="2" charset="2"/>
              <a:buChar char="Ø"/>
            </a:pPr>
            <a:r>
              <a:rPr lang="en-IN" sz="2000" b="1" dirty="0">
                <a:solidFill>
                  <a:schemeClr val="tx1"/>
                </a:solidFill>
                <a:latin typeface="Times New Roman" panose="02020603050405020304" pitchFamily="18" charset="0"/>
                <a:cs typeface="Times New Roman" panose="02020603050405020304" pitchFamily="18" charset="0"/>
              </a:rPr>
              <a:t>Data Preprocessing: </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It cleans and preprocesses the data to handle missing values, outliers and inconsistencies. It Aggregates or interpolates data to a consistent time resolution. It Normalize or standardize numerical features. </a:t>
            </a:r>
          </a:p>
          <a:p>
            <a:pPr marL="342900" indent="-342900" algn="just">
              <a:buFont typeface="Wingdings" panose="05000000000000000000" pitchFamily="2" charset="2"/>
              <a:buChar char="Ø"/>
            </a:pPr>
            <a:r>
              <a:rPr lang="en-IN" sz="2000" b="1" dirty="0">
                <a:solidFill>
                  <a:schemeClr val="tx1"/>
                </a:solidFill>
                <a:latin typeface="Times New Roman" panose="02020603050405020304" pitchFamily="18" charset="0"/>
                <a:cs typeface="Times New Roman" panose="02020603050405020304" pitchFamily="18" charset="0"/>
              </a:rPr>
              <a:t>Feature Engineering: </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This will help to extract relevant features or parameters which are required for flood prediction. Feature engineering is a crucial step in designing a flood prediction system using machine learning models. It involves selecting, transforming, or creating features from the raw data to enhance the model's ability to make accurate predictions. </a:t>
            </a:r>
          </a:p>
          <a:p>
            <a:pPr marL="342900" indent="-342900" algn="just">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Machine Learning Model Selection: </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We can choose the appropriate machine learning algorithms which is suitable for our data to predict floods. Here are some models what we can use for flood prediction. </a:t>
            </a:r>
          </a:p>
          <a:p>
            <a:pPr algn="just"/>
            <a:r>
              <a:rPr lang="en-US" sz="2000" dirty="0">
                <a:solidFill>
                  <a:schemeClr val="tx1"/>
                </a:solidFill>
                <a:latin typeface="Times New Roman" panose="02020603050405020304" pitchFamily="18" charset="0"/>
                <a:cs typeface="Times New Roman" panose="02020603050405020304" pitchFamily="18" charset="0"/>
              </a:rPr>
              <a:t>Regression Models: Linear regression, decision trees, random forests. </a:t>
            </a:r>
          </a:p>
          <a:p>
            <a:pPr algn="just"/>
            <a:r>
              <a:rPr lang="en-US" sz="2000" dirty="0">
                <a:solidFill>
                  <a:schemeClr val="tx1"/>
                </a:solidFill>
                <a:latin typeface="Times New Roman" panose="02020603050405020304" pitchFamily="18" charset="0"/>
                <a:cs typeface="Times New Roman" panose="02020603050405020304" pitchFamily="18" charset="0"/>
              </a:rPr>
              <a:t>Time Series Models: LSTM (Long Short-Term Memory), GRU (Gated Recurrent Unit). </a:t>
            </a:r>
          </a:p>
          <a:p>
            <a:pPr algn="just"/>
            <a:r>
              <a:rPr lang="en-US" sz="2000" dirty="0">
                <a:solidFill>
                  <a:schemeClr val="tx1"/>
                </a:solidFill>
                <a:latin typeface="Times New Roman" panose="02020603050405020304" pitchFamily="18" charset="0"/>
                <a:cs typeface="Times New Roman" panose="02020603050405020304" pitchFamily="18" charset="0"/>
              </a:rPr>
              <a:t>Ensemble Models: Boosting or stacking for improved accuracy. </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In our analysis we have used PLS-SEM Model, LSTM Model and XG Boost Regressor.</a:t>
            </a:r>
          </a:p>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	</a:t>
            </a:r>
          </a:p>
          <a:p>
            <a:pPr marL="0" indent="0" algn="just">
              <a:buNone/>
            </a:pP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a:p>
            <a:endParaRPr lang="en-IN" dirty="0"/>
          </a:p>
        </p:txBody>
      </p:sp>
    </p:spTree>
    <p:extLst>
      <p:ext uri="{BB962C8B-B14F-4D97-AF65-F5344CB8AC3E}">
        <p14:creationId xmlns:p14="http://schemas.microsoft.com/office/powerpoint/2010/main" val="737739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AAB995-6BF5-BEDE-5200-5AA15993AE73}"/>
              </a:ext>
            </a:extLst>
          </p:cNvPr>
          <p:cNvSpPr>
            <a:spLocks noGrp="1"/>
          </p:cNvSpPr>
          <p:nvPr>
            <p:ph type="sldNum" sz="quarter" idx="14"/>
          </p:nvPr>
        </p:nvSpPr>
        <p:spPr/>
        <p:txBody>
          <a:bodyPr/>
          <a:lstStyle/>
          <a:p>
            <a:fld id="{45A3C14A-F937-4231-B6F1-40B429FAFB2F}" type="slidenum">
              <a:rPr lang="en-NZ" smtClean="0"/>
              <a:pPr/>
              <a:t>23</a:t>
            </a:fld>
            <a:endParaRPr lang="en-NZ" dirty="0"/>
          </a:p>
        </p:txBody>
      </p:sp>
      <p:sp>
        <p:nvSpPr>
          <p:cNvPr id="4" name="Text Placeholder 3">
            <a:extLst>
              <a:ext uri="{FF2B5EF4-FFF2-40B4-BE49-F238E27FC236}">
                <a16:creationId xmlns:a16="http://schemas.microsoft.com/office/drawing/2014/main" id="{1A0F2FCE-5046-AC33-83EA-F2DFF4173051}"/>
              </a:ext>
            </a:extLst>
          </p:cNvPr>
          <p:cNvSpPr>
            <a:spLocks noGrp="1"/>
          </p:cNvSpPr>
          <p:nvPr>
            <p:ph type="body" sz="quarter" idx="17"/>
          </p:nvPr>
        </p:nvSpPr>
        <p:spPr>
          <a:xfrm>
            <a:off x="695400" y="396875"/>
            <a:ext cx="10801201" cy="5697541"/>
          </a:xfrm>
        </p:spPr>
        <p:txBody>
          <a:bodyPr/>
          <a:lstStyle/>
          <a:p>
            <a:pPr marL="342900" indent="-342900">
              <a:buFont typeface="Wingdings" panose="05000000000000000000" pitchFamily="2" charset="2"/>
              <a:buChar char="Ø"/>
            </a:pPr>
            <a:endParaRPr lang="en-IN" sz="2100" b="1"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100" b="1" dirty="0">
                <a:solidFill>
                  <a:schemeClr val="tx1"/>
                </a:solidFill>
                <a:latin typeface="Times New Roman" panose="02020603050405020304" pitchFamily="18" charset="0"/>
                <a:cs typeface="Times New Roman" panose="02020603050405020304" pitchFamily="18" charset="0"/>
              </a:rPr>
              <a:t>Model Training: </a:t>
            </a:r>
          </a:p>
          <a:p>
            <a:pPr marL="0" indent="0">
              <a:buNone/>
            </a:pPr>
            <a:r>
              <a:rPr lang="en-US" sz="2100" dirty="0">
                <a:solidFill>
                  <a:schemeClr val="tx1"/>
                </a:solidFill>
                <a:latin typeface="Times New Roman" panose="02020603050405020304" pitchFamily="18" charset="0"/>
                <a:cs typeface="Times New Roman" panose="02020603050405020304" pitchFamily="18" charset="0"/>
              </a:rPr>
              <a:t>We split our dataset into training and testing sets. We train the selected models using the data we have collected. We will use historical data to teach your machine learning models to make accurate predictions. </a:t>
            </a:r>
          </a:p>
          <a:p>
            <a:pPr marL="342900" indent="-342900">
              <a:buFont typeface="Wingdings" panose="05000000000000000000" pitchFamily="2" charset="2"/>
              <a:buChar char="Ø"/>
            </a:pPr>
            <a:r>
              <a:rPr lang="en-US" sz="2100" b="1" dirty="0">
                <a:solidFill>
                  <a:schemeClr val="tx1"/>
                </a:solidFill>
                <a:latin typeface="Times New Roman" panose="02020603050405020304" pitchFamily="18" charset="0"/>
                <a:cs typeface="Times New Roman" panose="02020603050405020304" pitchFamily="18" charset="0"/>
              </a:rPr>
              <a:t>Results:</a:t>
            </a:r>
          </a:p>
          <a:p>
            <a:pPr marL="0" indent="0">
              <a:buNone/>
            </a:pPr>
            <a:r>
              <a:rPr lang="en-US" sz="2100" dirty="0">
                <a:solidFill>
                  <a:schemeClr val="tx1"/>
                </a:solidFill>
                <a:latin typeface="Times New Roman" panose="02020603050405020304" pitchFamily="18" charset="0"/>
                <a:cs typeface="Times New Roman" panose="02020603050405020304" pitchFamily="18" charset="0"/>
              </a:rPr>
              <a:t>For flood prediction models, evaluation metrics should reflect the model's ability to accurately predict and assess the severity of flood events. The choice of metrics depends on the nature of the problem and the specific requirements of the application. </a:t>
            </a:r>
          </a:p>
          <a:p>
            <a:pPr marL="0" indent="0">
              <a:buNone/>
            </a:pPr>
            <a:r>
              <a:rPr lang="en-US" sz="2100" dirty="0">
                <a:solidFill>
                  <a:schemeClr val="tx1"/>
                </a:solidFill>
                <a:latin typeface="Times New Roman" panose="02020603050405020304" pitchFamily="18" charset="0"/>
                <a:cs typeface="Times New Roman" panose="02020603050405020304" pitchFamily="18" charset="0"/>
              </a:rPr>
              <a:t>	In our analysis we have taken the Root Mean Squared Error to evaluate our results. RMSE is a popular evaluation metric for regression problems because it not only calculates how close the prediction is to the actual value on average, but it also indicates the effect of large errors.</a:t>
            </a:r>
          </a:p>
          <a:p>
            <a:pPr marL="0" indent="0">
              <a:buNone/>
            </a:pPr>
            <a:endParaRPr lang="en-IN" dirty="0"/>
          </a:p>
        </p:txBody>
      </p:sp>
    </p:spTree>
    <p:extLst>
      <p:ext uri="{BB962C8B-B14F-4D97-AF65-F5344CB8AC3E}">
        <p14:creationId xmlns:p14="http://schemas.microsoft.com/office/powerpoint/2010/main" val="1330376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CCDFE5-413C-3941-17EE-BA1B7151C0F8}"/>
              </a:ext>
            </a:extLst>
          </p:cNvPr>
          <p:cNvSpPr>
            <a:spLocks noGrp="1"/>
          </p:cNvSpPr>
          <p:nvPr>
            <p:ph type="sldNum" sz="quarter" idx="14"/>
          </p:nvPr>
        </p:nvSpPr>
        <p:spPr/>
        <p:txBody>
          <a:bodyPr/>
          <a:lstStyle/>
          <a:p>
            <a:fld id="{45A3C14A-F937-4231-B6F1-40B429FAFB2F}" type="slidenum">
              <a:rPr lang="en-NZ" smtClean="0"/>
              <a:pPr/>
              <a:t>24</a:t>
            </a:fld>
            <a:endParaRPr lang="en-NZ" dirty="0"/>
          </a:p>
        </p:txBody>
      </p:sp>
      <p:sp>
        <p:nvSpPr>
          <p:cNvPr id="3" name="Title 2">
            <a:extLst>
              <a:ext uri="{FF2B5EF4-FFF2-40B4-BE49-F238E27FC236}">
                <a16:creationId xmlns:a16="http://schemas.microsoft.com/office/drawing/2014/main" id="{418D2CC7-2C68-86CF-E777-6C943CECE180}"/>
              </a:ext>
            </a:extLst>
          </p:cNvPr>
          <p:cNvSpPr>
            <a:spLocks noGrp="1"/>
          </p:cNvSpPr>
          <p:nvPr>
            <p:ph type="title"/>
          </p:nvPr>
        </p:nvSpPr>
        <p:spPr>
          <a:xfrm>
            <a:off x="304801" y="228601"/>
            <a:ext cx="11191800" cy="914400"/>
          </a:xfrm>
        </p:spPr>
        <p:txBody>
          <a:bodyPr/>
          <a:lstStyle/>
          <a:p>
            <a:pPr algn="ctr"/>
            <a:r>
              <a:rPr lang="en-IN" sz="3000" dirty="0">
                <a:solidFill>
                  <a:schemeClr val="tx1"/>
                </a:solidFill>
                <a:latin typeface="Times New Roman" panose="02020603050405020304" pitchFamily="18" charset="0"/>
                <a:cs typeface="Times New Roman" panose="02020603050405020304" pitchFamily="18" charset="0"/>
              </a:rPr>
              <a:t>MODEL BUILDING – XG BOOST REGRESSOR</a:t>
            </a:r>
          </a:p>
        </p:txBody>
      </p:sp>
      <p:graphicFrame>
        <p:nvGraphicFramePr>
          <p:cNvPr id="6" name="Diagram 5">
            <a:extLst>
              <a:ext uri="{FF2B5EF4-FFF2-40B4-BE49-F238E27FC236}">
                <a16:creationId xmlns:a16="http://schemas.microsoft.com/office/drawing/2014/main" id="{4833FCF1-6D5D-EE7E-1276-6E27D8F9D67D}"/>
              </a:ext>
            </a:extLst>
          </p:cNvPr>
          <p:cNvGraphicFramePr/>
          <p:nvPr>
            <p:extLst>
              <p:ext uri="{D42A27DB-BD31-4B8C-83A1-F6EECF244321}">
                <p14:modId xmlns:p14="http://schemas.microsoft.com/office/powerpoint/2010/main" val="4260500183"/>
              </p:ext>
            </p:extLst>
          </p:nvPr>
        </p:nvGraphicFramePr>
        <p:xfrm>
          <a:off x="2230401" y="1371600"/>
          <a:ext cx="7340600" cy="4343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9912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804696-AFEF-4852-09C5-A304511C6482}"/>
              </a:ext>
            </a:extLst>
          </p:cNvPr>
          <p:cNvSpPr>
            <a:spLocks noGrp="1"/>
          </p:cNvSpPr>
          <p:nvPr>
            <p:ph type="sldNum" sz="quarter" idx="14"/>
          </p:nvPr>
        </p:nvSpPr>
        <p:spPr/>
        <p:txBody>
          <a:bodyPr/>
          <a:lstStyle/>
          <a:p>
            <a:fld id="{45A3C14A-F937-4231-B6F1-40B429FAFB2F}" type="slidenum">
              <a:rPr lang="en-NZ" smtClean="0"/>
              <a:pPr/>
              <a:t>25</a:t>
            </a:fld>
            <a:endParaRPr lang="en-NZ" dirty="0"/>
          </a:p>
        </p:txBody>
      </p:sp>
      <p:sp>
        <p:nvSpPr>
          <p:cNvPr id="3" name="Title 2">
            <a:extLst>
              <a:ext uri="{FF2B5EF4-FFF2-40B4-BE49-F238E27FC236}">
                <a16:creationId xmlns:a16="http://schemas.microsoft.com/office/drawing/2014/main" id="{2606EA5C-E5F4-87D0-A6EB-7DC34305EEE1}"/>
              </a:ext>
            </a:extLst>
          </p:cNvPr>
          <p:cNvSpPr>
            <a:spLocks noGrp="1"/>
          </p:cNvSpPr>
          <p:nvPr>
            <p:ph type="title"/>
          </p:nvPr>
        </p:nvSpPr>
        <p:spPr>
          <a:xfrm>
            <a:off x="695400" y="395786"/>
            <a:ext cx="10801201"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MODEL BUILDING – Long short-term memory</a:t>
            </a:r>
          </a:p>
        </p:txBody>
      </p:sp>
      <p:graphicFrame>
        <p:nvGraphicFramePr>
          <p:cNvPr id="8" name="Diagram 7">
            <a:extLst>
              <a:ext uri="{FF2B5EF4-FFF2-40B4-BE49-F238E27FC236}">
                <a16:creationId xmlns:a16="http://schemas.microsoft.com/office/drawing/2014/main" id="{E9FD6203-259E-D465-2B63-0A766A53B347}"/>
              </a:ext>
            </a:extLst>
          </p:cNvPr>
          <p:cNvGraphicFramePr/>
          <p:nvPr>
            <p:extLst>
              <p:ext uri="{D42A27DB-BD31-4B8C-83A1-F6EECF244321}">
                <p14:modId xmlns:p14="http://schemas.microsoft.com/office/powerpoint/2010/main" val="3177952551"/>
              </p:ext>
            </p:extLst>
          </p:nvPr>
        </p:nvGraphicFramePr>
        <p:xfrm>
          <a:off x="2057400" y="1357827"/>
          <a:ext cx="7721600" cy="4614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9930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8263FA-21DB-31EC-C52E-2FE250DCC67E}"/>
              </a:ext>
            </a:extLst>
          </p:cNvPr>
          <p:cNvSpPr>
            <a:spLocks noGrp="1"/>
          </p:cNvSpPr>
          <p:nvPr>
            <p:ph type="sldNum" sz="quarter" idx="14"/>
          </p:nvPr>
        </p:nvSpPr>
        <p:spPr/>
        <p:txBody>
          <a:bodyPr/>
          <a:lstStyle/>
          <a:p>
            <a:fld id="{45A3C14A-F937-4231-B6F1-40B429FAFB2F}" type="slidenum">
              <a:rPr lang="en-NZ" smtClean="0"/>
              <a:pPr/>
              <a:t>26</a:t>
            </a:fld>
            <a:endParaRPr lang="en-NZ" dirty="0"/>
          </a:p>
        </p:txBody>
      </p:sp>
      <p:sp>
        <p:nvSpPr>
          <p:cNvPr id="3" name="Title 2">
            <a:extLst>
              <a:ext uri="{FF2B5EF4-FFF2-40B4-BE49-F238E27FC236}">
                <a16:creationId xmlns:a16="http://schemas.microsoft.com/office/drawing/2014/main" id="{348A9F55-86CB-C96F-9F2C-B83E98C5EF69}"/>
              </a:ext>
            </a:extLst>
          </p:cNvPr>
          <p:cNvSpPr>
            <a:spLocks noGrp="1"/>
          </p:cNvSpPr>
          <p:nvPr>
            <p:ph type="title"/>
          </p:nvPr>
        </p:nvSpPr>
        <p:spPr>
          <a:xfrm>
            <a:off x="695400" y="395786"/>
            <a:ext cx="10582200"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MODEL BUILDING – pls-seM</a:t>
            </a:r>
          </a:p>
        </p:txBody>
      </p:sp>
      <p:graphicFrame>
        <p:nvGraphicFramePr>
          <p:cNvPr id="5" name="Diagram 4">
            <a:extLst>
              <a:ext uri="{FF2B5EF4-FFF2-40B4-BE49-F238E27FC236}">
                <a16:creationId xmlns:a16="http://schemas.microsoft.com/office/drawing/2014/main" id="{AC7F4DE2-3E69-F18A-321A-C2BC622C0D3C}"/>
              </a:ext>
            </a:extLst>
          </p:cNvPr>
          <p:cNvGraphicFramePr/>
          <p:nvPr>
            <p:extLst>
              <p:ext uri="{D42A27DB-BD31-4B8C-83A1-F6EECF244321}">
                <p14:modId xmlns:p14="http://schemas.microsoft.com/office/powerpoint/2010/main" val="1278097378"/>
              </p:ext>
            </p:extLst>
          </p:nvPr>
        </p:nvGraphicFramePr>
        <p:xfrm>
          <a:off x="2057400" y="1600200"/>
          <a:ext cx="7493000" cy="4233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7981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395C8F-3ACB-26BB-5ACA-EBBE7FC89159}"/>
              </a:ext>
            </a:extLst>
          </p:cNvPr>
          <p:cNvSpPr>
            <a:spLocks noGrp="1"/>
          </p:cNvSpPr>
          <p:nvPr>
            <p:ph type="sldNum" sz="quarter" idx="14"/>
          </p:nvPr>
        </p:nvSpPr>
        <p:spPr/>
        <p:txBody>
          <a:bodyPr vert="horz" lIns="91440" tIns="45720" rIns="91440" bIns="45720" rtlCol="0" anchor="ctr">
            <a:normAutofit/>
          </a:bodyPr>
          <a:lstStyle/>
          <a:p>
            <a:pPr algn="r">
              <a:spcAft>
                <a:spcPts val="600"/>
              </a:spcAft>
            </a:pPr>
            <a:fld id="{45A3C14A-F937-4231-B6F1-40B429FAFB2F}" type="slidenum">
              <a:rPr lang="en-US" sz="1200">
                <a:solidFill>
                  <a:schemeClr val="tx1">
                    <a:alpha val="80000"/>
                  </a:schemeClr>
                </a:solidFill>
                <a:latin typeface="+mn-lt"/>
                <a:ea typeface="+mn-ea"/>
              </a:rPr>
              <a:pPr algn="r">
                <a:spcAft>
                  <a:spcPts val="600"/>
                </a:spcAft>
              </a:pPr>
              <a:t>27</a:t>
            </a:fld>
            <a:endParaRPr lang="en-US" sz="1200">
              <a:solidFill>
                <a:schemeClr val="tx1">
                  <a:alpha val="80000"/>
                </a:schemeClr>
              </a:solidFill>
              <a:latin typeface="+mn-lt"/>
              <a:ea typeface="+mn-ea"/>
            </a:endParaRPr>
          </a:p>
        </p:txBody>
      </p:sp>
      <p:sp>
        <p:nvSpPr>
          <p:cNvPr id="3" name="Title 2">
            <a:extLst>
              <a:ext uri="{FF2B5EF4-FFF2-40B4-BE49-F238E27FC236}">
                <a16:creationId xmlns:a16="http://schemas.microsoft.com/office/drawing/2014/main" id="{26140CC9-4A88-73C1-6E93-261A9EF178D1}"/>
              </a:ext>
            </a:extLst>
          </p:cNvPr>
          <p:cNvSpPr>
            <a:spLocks noGrp="1"/>
          </p:cNvSpPr>
          <p:nvPr>
            <p:ph type="title"/>
          </p:nvPr>
        </p:nvSpPr>
        <p:spPr>
          <a:xfrm>
            <a:off x="695400" y="395786"/>
            <a:ext cx="10671746" cy="671014"/>
          </a:xfrm>
          <a:noFill/>
        </p:spPr>
        <p:txBody>
          <a:bodyPr vert="horz" lIns="91440" tIns="45720" rIns="91440" bIns="45720" rtlCol="0" anchor="ctr">
            <a:normAutofit/>
          </a:bodyPr>
          <a:lstStyle/>
          <a:p>
            <a:pPr algn="ctr"/>
            <a:r>
              <a:rPr lang="en-US" sz="3200" b="1" kern="1200" dirty="0">
                <a:solidFill>
                  <a:schemeClr val="tx1"/>
                </a:solidFill>
                <a:latin typeface="Times New Roman" panose="02020603050405020304" pitchFamily="18" charset="0"/>
                <a:ea typeface="+mj-ea"/>
                <a:cs typeface="Times New Roman" panose="02020603050405020304" pitchFamily="18" charset="0"/>
              </a:rPr>
              <a:t>RESULTS</a:t>
            </a:r>
          </a:p>
        </p:txBody>
      </p:sp>
      <p:sp>
        <p:nvSpPr>
          <p:cNvPr id="8" name="Text Placeholder 7">
            <a:extLst>
              <a:ext uri="{FF2B5EF4-FFF2-40B4-BE49-F238E27FC236}">
                <a16:creationId xmlns:a16="http://schemas.microsoft.com/office/drawing/2014/main" id="{3077AB89-85F8-8E54-372E-106119BA10CA}"/>
              </a:ext>
            </a:extLst>
          </p:cNvPr>
          <p:cNvSpPr>
            <a:spLocks noGrp="1"/>
          </p:cNvSpPr>
          <p:nvPr>
            <p:ph type="body" sz="quarter" idx="17"/>
          </p:nvPr>
        </p:nvSpPr>
        <p:spPr>
          <a:xfrm>
            <a:off x="695400" y="1143000"/>
            <a:ext cx="10801201" cy="4951416"/>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just">
              <a:buNone/>
            </a:pPr>
            <a:r>
              <a:rPr lang="en-US" sz="2200" b="0" i="0" u="none" strike="noStrike" baseline="0" dirty="0">
                <a:solidFill>
                  <a:schemeClr val="tx1"/>
                </a:solidFill>
                <a:latin typeface="Times New Roman" panose="02020603050405020304" pitchFamily="18" charset="0"/>
              </a:rPr>
              <a:t>We </a:t>
            </a:r>
            <a:r>
              <a:rPr lang="en-US" sz="2200" b="0" i="0" u="none" strike="noStrike" baseline="0" dirty="0">
                <a:solidFill>
                  <a:schemeClr val="tx1"/>
                </a:solidFill>
                <a:latin typeface="Times New Roman" panose="02020603050405020304" pitchFamily="18" charset="0"/>
                <a:cs typeface="Times New Roman" panose="02020603050405020304" pitchFamily="18" charset="0"/>
              </a:rPr>
              <a:t>have used various regression metrics to interpret the model performance. We will consider the Root Mean Squared Error as it is a popular metric for regression due to its s</a:t>
            </a:r>
            <a:r>
              <a:rPr lang="en-US" sz="2200" b="0" i="0" dirty="0">
                <a:solidFill>
                  <a:schemeClr val="tx1"/>
                </a:solidFill>
                <a:effectLst/>
                <a:latin typeface="Times New Roman" panose="02020603050405020304" pitchFamily="18" charset="0"/>
                <a:cs typeface="Times New Roman" panose="02020603050405020304" pitchFamily="18" charset="0"/>
              </a:rPr>
              <a:t>ensitivity to large errors, differentiability for optimization algorithms, alignment with statistical properties like standard deviation and balanced handling of outliers.</a:t>
            </a:r>
          </a:p>
          <a:p>
            <a:pPr marL="0" indent="0" algn="just">
              <a:buNone/>
            </a:pPr>
            <a:endParaRPr lang="en-IN"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9390227-792E-D72F-0ADC-CCF37C9639E3}"/>
              </a:ext>
            </a:extLst>
          </p:cNvPr>
          <p:cNvGraphicFramePr>
            <a:graphicFrameLocks noGrp="1"/>
          </p:cNvGraphicFramePr>
          <p:nvPr>
            <p:extLst>
              <p:ext uri="{D42A27DB-BD31-4B8C-83A1-F6EECF244321}">
                <p14:modId xmlns:p14="http://schemas.microsoft.com/office/powerpoint/2010/main" val="1803028253"/>
              </p:ext>
            </p:extLst>
          </p:nvPr>
        </p:nvGraphicFramePr>
        <p:xfrm>
          <a:off x="1295400" y="1371600"/>
          <a:ext cx="9677400" cy="2057400"/>
        </p:xfrm>
        <a:graphic>
          <a:graphicData uri="http://schemas.openxmlformats.org/drawingml/2006/table">
            <a:tbl>
              <a:tblPr firstRow="1" firstCol="1" bandRow="1">
                <a:tableStyleId>{8799B23B-EC83-4686-B30A-512413B5E67A}</a:tableStyleId>
              </a:tblPr>
              <a:tblGrid>
                <a:gridCol w="1500323">
                  <a:extLst>
                    <a:ext uri="{9D8B030D-6E8A-4147-A177-3AD203B41FA5}">
                      <a16:colId xmlns:a16="http://schemas.microsoft.com/office/drawing/2014/main" val="890646005"/>
                    </a:ext>
                  </a:extLst>
                </a:gridCol>
                <a:gridCol w="2107430">
                  <a:extLst>
                    <a:ext uri="{9D8B030D-6E8A-4147-A177-3AD203B41FA5}">
                      <a16:colId xmlns:a16="http://schemas.microsoft.com/office/drawing/2014/main" val="738068409"/>
                    </a:ext>
                  </a:extLst>
                </a:gridCol>
                <a:gridCol w="3062518">
                  <a:extLst>
                    <a:ext uri="{9D8B030D-6E8A-4147-A177-3AD203B41FA5}">
                      <a16:colId xmlns:a16="http://schemas.microsoft.com/office/drawing/2014/main" val="3575894265"/>
                    </a:ext>
                  </a:extLst>
                </a:gridCol>
                <a:gridCol w="1636179">
                  <a:extLst>
                    <a:ext uri="{9D8B030D-6E8A-4147-A177-3AD203B41FA5}">
                      <a16:colId xmlns:a16="http://schemas.microsoft.com/office/drawing/2014/main" val="646262671"/>
                    </a:ext>
                  </a:extLst>
                </a:gridCol>
                <a:gridCol w="1370950">
                  <a:extLst>
                    <a:ext uri="{9D8B030D-6E8A-4147-A177-3AD203B41FA5}">
                      <a16:colId xmlns:a16="http://schemas.microsoft.com/office/drawing/2014/main" val="748158968"/>
                    </a:ext>
                  </a:extLst>
                </a:gridCol>
              </a:tblGrid>
              <a:tr h="945186">
                <a:tc>
                  <a:txBody>
                    <a:bodyPr/>
                    <a:lstStyle/>
                    <a:p>
                      <a:pPr algn="ctr">
                        <a:lnSpc>
                          <a:spcPct val="115000"/>
                        </a:lnSpc>
                        <a:spcAft>
                          <a:spcPts val="1000"/>
                        </a:spcAft>
                      </a:pPr>
                      <a:r>
                        <a:rPr lang="en-IN" sz="1300" kern="100" dirty="0">
                          <a:effectLst/>
                        </a:rPr>
                        <a:t>MODELS USED</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MEAN SQUARED ERROR</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dirty="0">
                          <a:effectLst/>
                        </a:rPr>
                        <a:t>MEAN ABSOLUTE ERROR</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dirty="0">
                          <a:effectLst/>
                        </a:rPr>
                        <a:t>ROOT MEAN SQUARED ERROR</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R-SQUARED</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extLst>
                  <a:ext uri="{0D108BD9-81ED-4DB2-BD59-A6C34878D82A}">
                    <a16:rowId xmlns:a16="http://schemas.microsoft.com/office/drawing/2014/main" val="537136778"/>
                  </a:ext>
                </a:extLst>
              </a:tr>
              <a:tr h="370738">
                <a:tc>
                  <a:txBody>
                    <a:bodyPr/>
                    <a:lstStyle/>
                    <a:p>
                      <a:pPr algn="ctr">
                        <a:lnSpc>
                          <a:spcPct val="115000"/>
                        </a:lnSpc>
                        <a:spcAft>
                          <a:spcPts val="1000"/>
                        </a:spcAft>
                      </a:pPr>
                      <a:r>
                        <a:rPr lang="en-IN" sz="1300" kern="100">
                          <a:effectLst/>
                        </a:rPr>
                        <a:t>PLS-SEM</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dirty="0">
                          <a:effectLst/>
                        </a:rPr>
                        <a:t>0.0148</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0.098</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0.121</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0.999</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extLst>
                  <a:ext uri="{0D108BD9-81ED-4DB2-BD59-A6C34878D82A}">
                    <a16:rowId xmlns:a16="http://schemas.microsoft.com/office/drawing/2014/main" val="2547837296"/>
                  </a:ext>
                </a:extLst>
              </a:tr>
              <a:tr h="370738">
                <a:tc>
                  <a:txBody>
                    <a:bodyPr/>
                    <a:lstStyle/>
                    <a:p>
                      <a:pPr algn="ctr">
                        <a:lnSpc>
                          <a:spcPct val="115000"/>
                        </a:lnSpc>
                        <a:spcAft>
                          <a:spcPts val="1000"/>
                        </a:spcAft>
                      </a:pPr>
                      <a:r>
                        <a:rPr lang="en-IN" sz="1300" kern="100">
                          <a:effectLst/>
                        </a:rPr>
                        <a:t>LSTM</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0.067</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0.1622</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0.26</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0.323</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extLst>
                  <a:ext uri="{0D108BD9-81ED-4DB2-BD59-A6C34878D82A}">
                    <a16:rowId xmlns:a16="http://schemas.microsoft.com/office/drawing/2014/main" val="1813095013"/>
                  </a:ext>
                </a:extLst>
              </a:tr>
              <a:tr h="370738">
                <a:tc>
                  <a:txBody>
                    <a:bodyPr/>
                    <a:lstStyle/>
                    <a:p>
                      <a:pPr algn="ctr">
                        <a:lnSpc>
                          <a:spcPct val="115000"/>
                        </a:lnSpc>
                        <a:spcAft>
                          <a:spcPts val="1000"/>
                        </a:spcAft>
                      </a:pPr>
                      <a:r>
                        <a:rPr lang="en-IN" sz="1300" kern="100" dirty="0">
                          <a:effectLst/>
                        </a:rPr>
                        <a:t>XG BOOST </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dirty="0">
                          <a:effectLst/>
                        </a:rPr>
                        <a:t>0.004</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0.528</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a:effectLst/>
                        </a:rPr>
                        <a:t>0.062</a:t>
                      </a:r>
                      <a:endParaRPr lang="en-IN" sz="12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tc>
                  <a:txBody>
                    <a:bodyPr/>
                    <a:lstStyle/>
                    <a:p>
                      <a:pPr algn="ctr">
                        <a:lnSpc>
                          <a:spcPct val="115000"/>
                        </a:lnSpc>
                        <a:spcAft>
                          <a:spcPts val="1000"/>
                        </a:spcAft>
                      </a:pPr>
                      <a:r>
                        <a:rPr lang="en-IN" sz="1300" kern="100" dirty="0">
                          <a:effectLst/>
                        </a:rPr>
                        <a:t>0.999</a:t>
                      </a:r>
                      <a:endParaRPr lang="en-IN" sz="12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060" marR="30060" marT="20040" marB="20040" anchor="ctr"/>
                </a:tc>
                <a:extLst>
                  <a:ext uri="{0D108BD9-81ED-4DB2-BD59-A6C34878D82A}">
                    <a16:rowId xmlns:a16="http://schemas.microsoft.com/office/drawing/2014/main" val="4263794707"/>
                  </a:ext>
                </a:extLst>
              </a:tr>
            </a:tbl>
          </a:graphicData>
        </a:graphic>
      </p:graphicFrame>
    </p:spTree>
    <p:extLst>
      <p:ext uri="{BB962C8B-B14F-4D97-AF65-F5344CB8AC3E}">
        <p14:creationId xmlns:p14="http://schemas.microsoft.com/office/powerpoint/2010/main" val="3845699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7E548F-609F-A90A-D02C-C8A3DFA0A605}"/>
              </a:ext>
            </a:extLst>
          </p:cNvPr>
          <p:cNvSpPr>
            <a:spLocks noGrp="1"/>
          </p:cNvSpPr>
          <p:nvPr>
            <p:ph type="sldNum" sz="quarter" idx="14"/>
          </p:nvPr>
        </p:nvSpPr>
        <p:spPr/>
        <p:txBody>
          <a:bodyPr/>
          <a:lstStyle/>
          <a:p>
            <a:fld id="{45A3C14A-F937-4231-B6F1-40B429FAFB2F}" type="slidenum">
              <a:rPr lang="en-NZ" smtClean="0"/>
              <a:pPr/>
              <a:t>28</a:t>
            </a:fld>
            <a:endParaRPr lang="en-NZ" dirty="0"/>
          </a:p>
        </p:txBody>
      </p:sp>
      <p:sp>
        <p:nvSpPr>
          <p:cNvPr id="3" name="Title 2">
            <a:extLst>
              <a:ext uri="{FF2B5EF4-FFF2-40B4-BE49-F238E27FC236}">
                <a16:creationId xmlns:a16="http://schemas.microsoft.com/office/drawing/2014/main" id="{1C09BB2B-D3E5-6E56-CE00-130EB36D9D59}"/>
              </a:ext>
            </a:extLst>
          </p:cNvPr>
          <p:cNvSpPr>
            <a:spLocks noGrp="1"/>
          </p:cNvSpPr>
          <p:nvPr>
            <p:ph type="title"/>
          </p:nvPr>
        </p:nvSpPr>
        <p:spPr>
          <a:xfrm>
            <a:off x="695400" y="395786"/>
            <a:ext cx="10671746"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CONCLUSION</a:t>
            </a:r>
          </a:p>
        </p:txBody>
      </p:sp>
      <p:sp>
        <p:nvSpPr>
          <p:cNvPr id="4" name="Text Placeholder 3">
            <a:extLst>
              <a:ext uri="{FF2B5EF4-FFF2-40B4-BE49-F238E27FC236}">
                <a16:creationId xmlns:a16="http://schemas.microsoft.com/office/drawing/2014/main" id="{7F6BFF87-957D-843D-6CF8-811F7DD5AE67}"/>
              </a:ext>
            </a:extLst>
          </p:cNvPr>
          <p:cNvSpPr>
            <a:spLocks noGrp="1"/>
          </p:cNvSpPr>
          <p:nvPr>
            <p:ph type="body" sz="quarter" idx="17"/>
          </p:nvPr>
        </p:nvSpPr>
        <p:spPr>
          <a:xfrm>
            <a:off x="695400" y="1524000"/>
            <a:ext cx="10801201" cy="4570416"/>
          </a:xfrm>
        </p:spPr>
        <p:txBody>
          <a:bodyPr/>
          <a:lstStyle/>
          <a:p>
            <a:pPr marL="0" indent="0">
              <a:buNone/>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The flood prediction represents a significant step forward in using technologies to mitigate the impact of floods on communities and infrastructure. In this study, we proposed a framework for prediction of floods using machine learning models. We have used the metric Root Mean Squared Error as it is a popular metric for regression because it combines the advantages of MSE (Mean Squared Error) while having the same scale as the target variable to predict the accurate model for the data. The models which will have relatively low RMSE values will be accurate models. According to our analysis the XG Boost Regressor model is an accurate model with an RMSE value of 0.062. </a:t>
            </a:r>
            <a:r>
              <a:rPr lang="en-US" sz="2200" dirty="0">
                <a:solidFill>
                  <a:srgbClr val="000000"/>
                </a:solidFill>
                <a:latin typeface="Times New Roman" panose="02020603050405020304" pitchFamily="18" charset="0"/>
                <a:cs typeface="Times New Roman" panose="02020603050405020304" pitchFamily="18" charset="0"/>
              </a:rPr>
              <a:t>From this model we can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accurately predict the occurrence of floods. These models identify the patterns and give accurate predictions. By using these models, we can stop huge loss of human life and infrastructure. From this study, we can conclude that we can predict the occurrence of flood beforehand and take precautionary measures to </a:t>
            </a:r>
            <a:r>
              <a:rPr lang="en-US" sz="2200" dirty="0">
                <a:solidFill>
                  <a:srgbClr val="000000"/>
                </a:solidFill>
                <a:latin typeface="Times New Roman" panose="02020603050405020304" pitchFamily="18" charset="0"/>
                <a:cs typeface="Times New Roman" panose="02020603050405020304" pitchFamily="18" charset="0"/>
              </a:rPr>
              <a:t>stop the huge loss of lives and damage of infrastructure.</a:t>
            </a:r>
            <a:endParaRPr lang="en-US" sz="22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287066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0095EF-350E-2DBB-C4C0-2A4E3B56841F}"/>
              </a:ext>
            </a:extLst>
          </p:cNvPr>
          <p:cNvSpPr>
            <a:spLocks noGrp="1"/>
          </p:cNvSpPr>
          <p:nvPr>
            <p:ph type="sldNum" sz="quarter" idx="14"/>
          </p:nvPr>
        </p:nvSpPr>
        <p:spPr/>
        <p:txBody>
          <a:bodyPr/>
          <a:lstStyle/>
          <a:p>
            <a:fld id="{45A3C14A-F937-4231-B6F1-40B429FAFB2F}" type="slidenum">
              <a:rPr lang="en-NZ" smtClean="0"/>
              <a:pPr/>
              <a:t>29</a:t>
            </a:fld>
            <a:endParaRPr lang="en-NZ" dirty="0"/>
          </a:p>
        </p:txBody>
      </p:sp>
      <p:sp>
        <p:nvSpPr>
          <p:cNvPr id="3" name="Title 2">
            <a:extLst>
              <a:ext uri="{FF2B5EF4-FFF2-40B4-BE49-F238E27FC236}">
                <a16:creationId xmlns:a16="http://schemas.microsoft.com/office/drawing/2014/main" id="{87F7A47E-FB2A-4E08-78F9-D5F3AFB8EC75}"/>
              </a:ext>
            </a:extLst>
          </p:cNvPr>
          <p:cNvSpPr>
            <a:spLocks noGrp="1"/>
          </p:cNvSpPr>
          <p:nvPr>
            <p:ph type="title"/>
          </p:nvPr>
        </p:nvSpPr>
        <p:spPr>
          <a:xfrm>
            <a:off x="695400" y="395786"/>
            <a:ext cx="10801201"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FUTURE ENHANCEMENT</a:t>
            </a:r>
          </a:p>
        </p:txBody>
      </p:sp>
      <p:sp>
        <p:nvSpPr>
          <p:cNvPr id="4" name="Text Placeholder 3">
            <a:extLst>
              <a:ext uri="{FF2B5EF4-FFF2-40B4-BE49-F238E27FC236}">
                <a16:creationId xmlns:a16="http://schemas.microsoft.com/office/drawing/2014/main" id="{7A75EB5E-6E51-F4DB-5B06-F8404CC301B3}"/>
              </a:ext>
            </a:extLst>
          </p:cNvPr>
          <p:cNvSpPr>
            <a:spLocks noGrp="1"/>
          </p:cNvSpPr>
          <p:nvPr>
            <p:ph type="body" sz="quarter" idx="17"/>
          </p:nvPr>
        </p:nvSpPr>
        <p:spPr>
          <a:xfrm>
            <a:off x="695400" y="1371600"/>
            <a:ext cx="10801201" cy="4722816"/>
          </a:xfrm>
        </p:spPr>
        <p:txBody>
          <a:bodyPr/>
          <a:lstStyle/>
          <a:p>
            <a:pPr marL="0" indent="0" algn="just">
              <a:buNone/>
            </a:pPr>
            <a:endParaRPr lang="en-US" sz="28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800" dirty="0">
                <a:solidFill>
                  <a:schemeClr val="tx1"/>
                </a:solidFill>
                <a:latin typeface="Times New Roman" panose="02020603050405020304" pitchFamily="18" charset="0"/>
                <a:cs typeface="Times New Roman" panose="02020603050405020304" pitchFamily="18" charset="0"/>
              </a:rPr>
              <a:t>In the future scope, We intend to investigate prediction approach with the revised data set and employ the most accurate and relevant machine learning algorithms for detection.</a:t>
            </a:r>
            <a:endParaRPr lang="en-IN"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6619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7BEC14-63DF-F6BA-B11A-349D4E246E12}"/>
              </a:ext>
            </a:extLst>
          </p:cNvPr>
          <p:cNvSpPr>
            <a:spLocks noGrp="1"/>
          </p:cNvSpPr>
          <p:nvPr>
            <p:ph type="sldNum" sz="quarter" idx="14"/>
          </p:nvPr>
        </p:nvSpPr>
        <p:spPr/>
        <p:txBody>
          <a:bodyPr/>
          <a:lstStyle/>
          <a:p>
            <a:fld id="{45A3C14A-F937-4231-B6F1-40B429FAFB2F}" type="slidenum">
              <a:rPr lang="en-NZ" smtClean="0"/>
              <a:pPr/>
              <a:t>30</a:t>
            </a:fld>
            <a:endParaRPr lang="en-NZ" dirty="0"/>
          </a:p>
        </p:txBody>
      </p:sp>
      <p:sp>
        <p:nvSpPr>
          <p:cNvPr id="3" name="Title 2">
            <a:extLst>
              <a:ext uri="{FF2B5EF4-FFF2-40B4-BE49-F238E27FC236}">
                <a16:creationId xmlns:a16="http://schemas.microsoft.com/office/drawing/2014/main" id="{BFD539C9-F43C-12D5-505A-7B604AE8DE9F}"/>
              </a:ext>
            </a:extLst>
          </p:cNvPr>
          <p:cNvSpPr>
            <a:spLocks noGrp="1"/>
          </p:cNvSpPr>
          <p:nvPr>
            <p:ph type="title"/>
          </p:nvPr>
        </p:nvSpPr>
        <p:spPr>
          <a:xfrm>
            <a:off x="695400" y="395786"/>
            <a:ext cx="10671746" cy="594814"/>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4" name="Text Placeholder 3">
            <a:extLst>
              <a:ext uri="{FF2B5EF4-FFF2-40B4-BE49-F238E27FC236}">
                <a16:creationId xmlns:a16="http://schemas.microsoft.com/office/drawing/2014/main" id="{044E466A-48DB-811F-6B93-5762E381AAC7}"/>
              </a:ext>
            </a:extLst>
          </p:cNvPr>
          <p:cNvSpPr>
            <a:spLocks noGrp="1"/>
          </p:cNvSpPr>
          <p:nvPr>
            <p:ph type="body" sz="quarter" idx="17"/>
          </p:nvPr>
        </p:nvSpPr>
        <p:spPr>
          <a:xfrm>
            <a:off x="695400" y="990600"/>
            <a:ext cx="10801201" cy="5103816"/>
          </a:xfrm>
        </p:spPr>
        <p:txBody>
          <a:bodyPr/>
          <a:lstStyle/>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 - </a:t>
            </a:r>
            <a:r>
              <a:rPr lang="en-IN" sz="1300" dirty="0" err="1">
                <a:solidFill>
                  <a:schemeClr val="tx1"/>
                </a:solidFill>
                <a:latin typeface="Times New Roman" panose="02020603050405020304" pitchFamily="18" charset="0"/>
                <a:cs typeface="Times New Roman" panose="02020603050405020304" pitchFamily="18" charset="0"/>
              </a:rPr>
              <a:t>Zongjia</a:t>
            </a:r>
            <a:r>
              <a:rPr lang="en-IN" sz="1300" dirty="0">
                <a:solidFill>
                  <a:schemeClr val="tx1"/>
                </a:solidFill>
                <a:latin typeface="Times New Roman" panose="02020603050405020304" pitchFamily="18" charset="0"/>
                <a:cs typeface="Times New Roman" panose="02020603050405020304" pitchFamily="18" charset="0"/>
              </a:rPr>
              <a:t> Zhang, Jun Liang, </a:t>
            </a:r>
            <a:r>
              <a:rPr lang="en-IN" sz="1300" dirty="0" err="1">
                <a:solidFill>
                  <a:schemeClr val="tx1"/>
                </a:solidFill>
                <a:latin typeface="Times New Roman" panose="02020603050405020304" pitchFamily="18" charset="0"/>
                <a:cs typeface="Times New Roman" panose="02020603050405020304" pitchFamily="18" charset="0"/>
              </a:rPr>
              <a:t>Yujue</a:t>
            </a:r>
            <a:r>
              <a:rPr lang="en-IN" sz="1300" dirty="0">
                <a:solidFill>
                  <a:schemeClr val="tx1"/>
                </a:solidFill>
                <a:latin typeface="Times New Roman" panose="02020603050405020304" pitchFamily="18" charset="0"/>
                <a:cs typeface="Times New Roman" panose="02020603050405020304" pitchFamily="18" charset="0"/>
              </a:rPr>
              <a:t> Zhou, </a:t>
            </a:r>
            <a:r>
              <a:rPr lang="en-IN" sz="1300" dirty="0" err="1">
                <a:solidFill>
                  <a:schemeClr val="tx1"/>
                </a:solidFill>
                <a:latin typeface="Times New Roman" panose="02020603050405020304" pitchFamily="18" charset="0"/>
                <a:cs typeface="Times New Roman" panose="02020603050405020304" pitchFamily="18" charset="0"/>
              </a:rPr>
              <a:t>Zhejun</a:t>
            </a:r>
            <a:r>
              <a:rPr lang="en-IN" sz="1300" dirty="0">
                <a:solidFill>
                  <a:schemeClr val="tx1"/>
                </a:solidFill>
                <a:latin typeface="Times New Roman" panose="02020603050405020304" pitchFamily="18" charset="0"/>
                <a:cs typeface="Times New Roman" panose="02020603050405020304" pitchFamily="18" charset="0"/>
              </a:rPr>
              <a:t> Huang, Jie Jiang3, </a:t>
            </a:r>
            <a:r>
              <a:rPr lang="en-IN" sz="1300" dirty="0" err="1">
                <a:solidFill>
                  <a:schemeClr val="tx1"/>
                </a:solidFill>
                <a:latin typeface="Times New Roman" panose="02020603050405020304" pitchFamily="18" charset="0"/>
                <a:cs typeface="Times New Roman" panose="02020603050405020304" pitchFamily="18" charset="0"/>
              </a:rPr>
              <a:t>Junguo</a:t>
            </a:r>
            <a:r>
              <a:rPr lang="en-IN" sz="1300" dirty="0">
                <a:solidFill>
                  <a:schemeClr val="tx1"/>
                </a:solidFill>
                <a:latin typeface="Times New Roman" panose="02020603050405020304" pitchFamily="18" charset="0"/>
                <a:cs typeface="Times New Roman" panose="02020603050405020304" pitchFamily="18" charset="0"/>
              </a:rPr>
              <a:t> Liu.2022. </a:t>
            </a:r>
            <a:r>
              <a:rPr lang="en-IN" sz="1300" dirty="0" err="1">
                <a:solidFill>
                  <a:schemeClr val="tx1"/>
                </a:solidFill>
                <a:latin typeface="Times New Roman" panose="02020603050405020304" pitchFamily="18" charset="0"/>
                <a:cs typeface="Times New Roman" panose="02020603050405020304" pitchFamily="18" charset="0"/>
              </a:rPr>
              <a:t>Amulti</a:t>
            </a:r>
            <a:r>
              <a:rPr lang="en-IN" sz="1300" dirty="0">
                <a:solidFill>
                  <a:schemeClr val="tx1"/>
                </a:solidFill>
                <a:latin typeface="Times New Roman" panose="02020603050405020304" pitchFamily="18" charset="0"/>
                <a:cs typeface="Times New Roman" panose="02020603050405020304" pitchFamily="18" charset="0"/>
              </a:rPr>
              <a:t>-strategy-mode waterlogging-prediction framework for urban flood depth. Natural hazards and earth system sciences.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 - Md Abdullah Al Mehedi, Virginia Smith ,Hossein </a:t>
            </a:r>
            <a:r>
              <a:rPr lang="en-IN" sz="1300" dirty="0" err="1">
                <a:solidFill>
                  <a:schemeClr val="tx1"/>
                </a:solidFill>
                <a:latin typeface="Times New Roman" panose="02020603050405020304" pitchFamily="18" charset="0"/>
                <a:cs typeface="Times New Roman" panose="02020603050405020304" pitchFamily="18" charset="0"/>
              </a:rPr>
              <a:t>Hosseiny</a:t>
            </a:r>
            <a:r>
              <a:rPr lang="en-IN" sz="1300" dirty="0">
                <a:solidFill>
                  <a:schemeClr val="tx1"/>
                </a:solidFill>
                <a:latin typeface="Times New Roman" panose="02020603050405020304" pitchFamily="18" charset="0"/>
                <a:cs typeface="Times New Roman" panose="02020603050405020304" pitchFamily="18" charset="0"/>
              </a:rPr>
              <a:t> , Xun.2022. </a:t>
            </a:r>
            <a:r>
              <a:rPr lang="en-IN" sz="1300" dirty="0" err="1">
                <a:solidFill>
                  <a:schemeClr val="tx1"/>
                </a:solidFill>
                <a:latin typeface="Times New Roman" panose="02020603050405020304" pitchFamily="18" charset="0"/>
                <a:cs typeface="Times New Roman" panose="02020603050405020304" pitchFamily="18" charset="0"/>
              </a:rPr>
              <a:t>Unraveling</a:t>
            </a:r>
            <a:r>
              <a:rPr lang="en-IN" sz="1300" dirty="0">
                <a:solidFill>
                  <a:schemeClr val="tx1"/>
                </a:solidFill>
                <a:latin typeface="Times New Roman" panose="02020603050405020304" pitchFamily="18" charset="0"/>
                <a:cs typeface="Times New Roman" panose="02020603050405020304" pitchFamily="18" charset="0"/>
              </a:rPr>
              <a:t> The Complexities of Urban Flood Hydraulics through AI. Creative Commons Attribution.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[3] - Elham </a:t>
            </a:r>
            <a:r>
              <a:rPr lang="en-IN" sz="1300" dirty="0" err="1">
                <a:solidFill>
                  <a:schemeClr val="tx1"/>
                </a:solidFill>
                <a:latin typeface="Times New Roman" panose="02020603050405020304" pitchFamily="18" charset="0"/>
                <a:cs typeface="Times New Roman" panose="02020603050405020304" pitchFamily="18" charset="0"/>
              </a:rPr>
              <a:t>Rafiei-Sardooi</a:t>
            </a:r>
            <a:r>
              <a:rPr lang="en-IN" sz="1300" dirty="0">
                <a:solidFill>
                  <a:schemeClr val="tx1"/>
                </a:solidFill>
                <a:latin typeface="Times New Roman" panose="02020603050405020304" pitchFamily="18" charset="0"/>
                <a:cs typeface="Times New Roman" panose="02020603050405020304" pitchFamily="18" charset="0"/>
              </a:rPr>
              <a:t> , Ali </a:t>
            </a:r>
            <a:r>
              <a:rPr lang="en-IN" sz="1300" dirty="0" err="1">
                <a:solidFill>
                  <a:schemeClr val="tx1"/>
                </a:solidFill>
                <a:latin typeface="Times New Roman" panose="02020603050405020304" pitchFamily="18" charset="0"/>
                <a:cs typeface="Times New Roman" panose="02020603050405020304" pitchFamily="18" charset="0"/>
              </a:rPr>
              <a:t>Azareh</a:t>
            </a:r>
            <a:r>
              <a:rPr lang="en-IN" sz="1300" dirty="0">
                <a:solidFill>
                  <a:schemeClr val="tx1"/>
                </a:solidFill>
                <a:latin typeface="Times New Roman" panose="02020603050405020304" pitchFamily="18" charset="0"/>
                <a:cs typeface="Times New Roman" panose="02020603050405020304" pitchFamily="18" charset="0"/>
              </a:rPr>
              <a:t> b , Bahram </a:t>
            </a:r>
            <a:r>
              <a:rPr lang="en-IN" sz="1300" dirty="0" err="1">
                <a:solidFill>
                  <a:schemeClr val="tx1"/>
                </a:solidFill>
                <a:latin typeface="Times New Roman" panose="02020603050405020304" pitchFamily="18" charset="0"/>
                <a:cs typeface="Times New Roman" panose="02020603050405020304" pitchFamily="18" charset="0"/>
              </a:rPr>
              <a:t>Choubin</a:t>
            </a:r>
            <a:r>
              <a:rPr lang="en-IN" sz="1300" dirty="0">
                <a:solidFill>
                  <a:schemeClr val="tx1"/>
                </a:solidFill>
                <a:latin typeface="Times New Roman" panose="02020603050405020304" pitchFamily="18" charset="0"/>
                <a:cs typeface="Times New Roman" panose="02020603050405020304" pitchFamily="18" charset="0"/>
              </a:rPr>
              <a:t> c , Amir H. Mosavi.2021. Evaluating urban flood risk using hybrid method of TOPSIS and machine learning. International Journal of Disaster Risk Reduction.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[4] - Farhana Parvin, </a:t>
            </a:r>
            <a:r>
              <a:rPr lang="en-IN" sz="1300" dirty="0" err="1">
                <a:solidFill>
                  <a:schemeClr val="tx1"/>
                </a:solidFill>
                <a:latin typeface="Times New Roman" panose="02020603050405020304" pitchFamily="18" charset="0"/>
                <a:cs typeface="Times New Roman" panose="02020603050405020304" pitchFamily="18" charset="0"/>
              </a:rPr>
              <a:t>Sk</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Ajim</a:t>
            </a:r>
            <a:r>
              <a:rPr lang="en-IN" sz="1300" dirty="0">
                <a:solidFill>
                  <a:schemeClr val="tx1"/>
                </a:solidFill>
                <a:latin typeface="Times New Roman" panose="02020603050405020304" pitchFamily="18" charset="0"/>
                <a:cs typeface="Times New Roman" panose="02020603050405020304" pitchFamily="18" charset="0"/>
              </a:rPr>
              <a:t> Ali, Beata </a:t>
            </a:r>
            <a:r>
              <a:rPr lang="en-IN" sz="1300" dirty="0" err="1">
                <a:solidFill>
                  <a:schemeClr val="tx1"/>
                </a:solidFill>
                <a:latin typeface="Times New Roman" panose="02020603050405020304" pitchFamily="18" charset="0"/>
                <a:cs typeface="Times New Roman" panose="02020603050405020304" pitchFamily="18" charset="0"/>
              </a:rPr>
              <a:t>Calka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Elzbieta</a:t>
            </a:r>
            <a:r>
              <a:rPr lang="en-IN" sz="1300" dirty="0">
                <a:solidFill>
                  <a:schemeClr val="tx1"/>
                </a:solidFill>
                <a:latin typeface="Times New Roman" panose="02020603050405020304" pitchFamily="18" charset="0"/>
                <a:cs typeface="Times New Roman" panose="02020603050405020304" pitchFamily="18" charset="0"/>
              </a:rPr>
              <a:t> Bielecka.2022. Urban flood vulnerability assessment in a densely urbanized city using multi factor analysis and machine learning algorithms. Theoretical and Applied Climatology.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[5] - Wei Zhu, </a:t>
            </a:r>
            <a:r>
              <a:rPr lang="en-IN" sz="1300" dirty="0" err="1">
                <a:solidFill>
                  <a:schemeClr val="tx1"/>
                </a:solidFill>
                <a:latin typeface="Times New Roman" panose="02020603050405020304" pitchFamily="18" charset="0"/>
                <a:cs typeface="Times New Roman" panose="02020603050405020304" pitchFamily="18" charset="0"/>
              </a:rPr>
              <a:t>Zhe</a:t>
            </a:r>
            <a:r>
              <a:rPr lang="en-IN" sz="1300" dirty="0">
                <a:solidFill>
                  <a:schemeClr val="tx1"/>
                </a:solidFill>
                <a:latin typeface="Times New Roman" panose="02020603050405020304" pitchFamily="18" charset="0"/>
                <a:cs typeface="Times New Roman" panose="02020603050405020304" pitchFamily="18" charset="0"/>
              </a:rPr>
              <a:t> Cao and Bin He, </a:t>
            </a:r>
            <a:r>
              <a:rPr lang="en-IN" sz="1300" dirty="0" err="1">
                <a:solidFill>
                  <a:schemeClr val="tx1"/>
                </a:solidFill>
                <a:latin typeface="Times New Roman" panose="02020603050405020304" pitchFamily="18" charset="0"/>
                <a:cs typeface="Times New Roman" panose="02020603050405020304" pitchFamily="18" charset="0"/>
              </a:rPr>
              <a:t>Pingping</a:t>
            </a:r>
            <a:r>
              <a:rPr lang="en-IN" sz="1300" dirty="0">
                <a:solidFill>
                  <a:schemeClr val="tx1"/>
                </a:solidFill>
                <a:latin typeface="Times New Roman" panose="02020603050405020304" pitchFamily="18" charset="0"/>
                <a:cs typeface="Times New Roman" panose="02020603050405020304" pitchFamily="18" charset="0"/>
              </a:rPr>
              <a:t> Luo , </a:t>
            </a:r>
            <a:r>
              <a:rPr lang="en-IN" sz="1300" dirty="0" err="1">
                <a:solidFill>
                  <a:schemeClr val="tx1"/>
                </a:solidFill>
                <a:latin typeface="Times New Roman" panose="02020603050405020304" pitchFamily="18" charset="0"/>
                <a:cs typeface="Times New Roman" panose="02020603050405020304" pitchFamily="18" charset="0"/>
              </a:rPr>
              <a:t>Zeming</a:t>
            </a:r>
            <a:r>
              <a:rPr lang="en-IN" sz="1300" dirty="0">
                <a:solidFill>
                  <a:schemeClr val="tx1"/>
                </a:solidFill>
                <a:latin typeface="Times New Roman" panose="02020603050405020304" pitchFamily="18" charset="0"/>
                <a:cs typeface="Times New Roman" panose="02020603050405020304" pitchFamily="18" charset="0"/>
              </a:rPr>
              <a:t> Tang , </a:t>
            </a:r>
            <a:r>
              <a:rPr lang="en-IN" sz="1300" dirty="0" err="1">
                <a:solidFill>
                  <a:schemeClr val="tx1"/>
                </a:solidFill>
                <a:latin typeface="Times New Roman" panose="02020603050405020304" pitchFamily="18" charset="0"/>
                <a:cs typeface="Times New Roman" panose="02020603050405020304" pitchFamily="18" charset="0"/>
              </a:rPr>
              <a:t>Yuzhu</a:t>
            </a:r>
            <a:r>
              <a:rPr lang="en-IN" sz="1300" dirty="0">
                <a:solidFill>
                  <a:schemeClr val="tx1"/>
                </a:solidFill>
                <a:latin typeface="Times New Roman" panose="02020603050405020304" pitchFamily="18" charset="0"/>
                <a:cs typeface="Times New Roman" panose="02020603050405020304" pitchFamily="18" charset="0"/>
              </a:rPr>
              <a:t> Zhang.2022. Urban Flood-Related Remote Sensing: Research Trends, Gaps and Opportunities. MDPI stays neutral with regard to jurisdictional claims in published maps and institutional affiliations. </a:t>
            </a:r>
          </a:p>
          <a:p>
            <a:pPr marL="0" indent="0">
              <a:spcAft>
                <a:spcPts val="0"/>
              </a:spcAft>
              <a:buNone/>
            </a:pPr>
            <a:r>
              <a:rPr lang="en-US" sz="1300" dirty="0">
                <a:solidFill>
                  <a:schemeClr val="tx1"/>
                </a:solidFill>
                <a:latin typeface="Times New Roman" panose="02020603050405020304" pitchFamily="18" charset="0"/>
                <a:cs typeface="Times New Roman" panose="02020603050405020304" pitchFamily="18" charset="0"/>
              </a:rPr>
              <a:t>[6] - </a:t>
            </a:r>
            <a:r>
              <a:rPr lang="en-US" sz="1300" dirty="0" err="1">
                <a:solidFill>
                  <a:schemeClr val="tx1"/>
                </a:solidFill>
                <a:latin typeface="Times New Roman" panose="02020603050405020304" pitchFamily="18" charset="0"/>
                <a:cs typeface="Times New Roman" panose="02020603050405020304" pitchFamily="18" charset="0"/>
              </a:rPr>
              <a:t>Wenting</a:t>
            </a:r>
            <a:r>
              <a:rPr lang="en-US" sz="1300" dirty="0">
                <a:solidFill>
                  <a:schemeClr val="tx1"/>
                </a:solidFill>
                <a:latin typeface="Times New Roman" panose="02020603050405020304" pitchFamily="18" charset="0"/>
                <a:cs typeface="Times New Roman" panose="02020603050405020304" pitchFamily="18" charset="0"/>
              </a:rPr>
              <a:t> Zhang , Bin Hu, </a:t>
            </a:r>
            <a:r>
              <a:rPr lang="en-US" sz="1300" dirty="0" err="1">
                <a:solidFill>
                  <a:schemeClr val="tx1"/>
                </a:solidFill>
                <a:latin typeface="Times New Roman" panose="02020603050405020304" pitchFamily="18" charset="0"/>
                <a:cs typeface="Times New Roman" panose="02020603050405020304" pitchFamily="18" charset="0"/>
              </a:rPr>
              <a:t>Yongzhi</a:t>
            </a:r>
            <a:r>
              <a:rPr lang="en-US" sz="1300" dirty="0">
                <a:solidFill>
                  <a:schemeClr val="tx1"/>
                </a:solidFill>
                <a:latin typeface="Times New Roman" panose="02020603050405020304" pitchFamily="18" charset="0"/>
                <a:cs typeface="Times New Roman" panose="02020603050405020304" pitchFamily="18" charset="0"/>
              </a:rPr>
              <a:t> Liu, </a:t>
            </a:r>
            <a:r>
              <a:rPr lang="en-US" sz="1300" dirty="0" err="1">
                <a:solidFill>
                  <a:schemeClr val="tx1"/>
                </a:solidFill>
                <a:latin typeface="Times New Roman" panose="02020603050405020304" pitchFamily="18" charset="0"/>
                <a:cs typeface="Times New Roman" panose="02020603050405020304" pitchFamily="18" charset="0"/>
              </a:rPr>
              <a:t>Xingnan</a:t>
            </a:r>
            <a:r>
              <a:rPr lang="en-US" sz="1300" dirty="0">
                <a:solidFill>
                  <a:schemeClr val="tx1"/>
                </a:solidFill>
                <a:latin typeface="Times New Roman" panose="02020603050405020304" pitchFamily="18" charset="0"/>
                <a:cs typeface="Times New Roman" panose="02020603050405020304" pitchFamily="18" charset="0"/>
              </a:rPr>
              <a:t> Zhang and </a:t>
            </a:r>
            <a:r>
              <a:rPr lang="en-US" sz="1300" dirty="0" err="1">
                <a:solidFill>
                  <a:schemeClr val="tx1"/>
                </a:solidFill>
                <a:latin typeface="Times New Roman" panose="02020603050405020304" pitchFamily="18" charset="0"/>
                <a:cs typeface="Times New Roman" panose="02020603050405020304" pitchFamily="18" charset="0"/>
              </a:rPr>
              <a:t>Zhixuan</a:t>
            </a:r>
            <a:r>
              <a:rPr lang="en-US" sz="1300" dirty="0">
                <a:solidFill>
                  <a:schemeClr val="tx1"/>
                </a:solidFill>
                <a:latin typeface="Times New Roman" panose="02020603050405020304" pitchFamily="18" charset="0"/>
                <a:cs typeface="Times New Roman" panose="02020603050405020304" pitchFamily="18" charset="0"/>
              </a:rPr>
              <a:t> Li.2023. Urban Flood Risk Assessment through the Integration of Natural and Human Resilience Based on Machine Learning Models. https://www.mdpi.com/journal/remotesensing.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[7] - </a:t>
            </a:r>
            <a:r>
              <a:rPr lang="en-IN" sz="1300" dirty="0" err="1">
                <a:solidFill>
                  <a:schemeClr val="tx1"/>
                </a:solidFill>
                <a:latin typeface="Times New Roman" panose="02020603050405020304" pitchFamily="18" charset="0"/>
                <a:cs typeface="Times New Roman" panose="02020603050405020304" pitchFamily="18" charset="0"/>
              </a:rPr>
              <a:t>Xingyu</a:t>
            </a:r>
            <a:r>
              <a:rPr lang="en-IN" sz="1300" dirty="0">
                <a:solidFill>
                  <a:schemeClr val="tx1"/>
                </a:solidFill>
                <a:latin typeface="Times New Roman" panose="02020603050405020304" pitchFamily="18" charset="0"/>
                <a:cs typeface="Times New Roman" panose="02020603050405020304" pitchFamily="18" charset="0"/>
              </a:rPr>
              <a:t> Yan, Kui Xu, </a:t>
            </a:r>
            <a:r>
              <a:rPr lang="en-IN" sz="1300" dirty="0" err="1">
                <a:solidFill>
                  <a:schemeClr val="tx1"/>
                </a:solidFill>
                <a:latin typeface="Times New Roman" panose="02020603050405020304" pitchFamily="18" charset="0"/>
                <a:cs typeface="Times New Roman" panose="02020603050405020304" pitchFamily="18" charset="0"/>
              </a:rPr>
              <a:t>Wenqiang</a:t>
            </a:r>
            <a:r>
              <a:rPr lang="en-IN" sz="1300" dirty="0">
                <a:solidFill>
                  <a:schemeClr val="tx1"/>
                </a:solidFill>
                <a:latin typeface="Times New Roman" panose="02020603050405020304" pitchFamily="18" charset="0"/>
                <a:cs typeface="Times New Roman" panose="02020603050405020304" pitchFamily="18" charset="0"/>
              </a:rPr>
              <a:t> Feng, Jing Chen.2021. A Rapid Prediction Model of Urban Flood Inundation in a High-Risk Area Coupling Machine Learning and Numerical Simulation Approaches. International J Disaster Risk Science.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[8] - Fereshteh </a:t>
            </a:r>
            <a:r>
              <a:rPr lang="en-IN" sz="1300" dirty="0" err="1">
                <a:solidFill>
                  <a:schemeClr val="tx1"/>
                </a:solidFill>
                <a:latin typeface="Times New Roman" panose="02020603050405020304" pitchFamily="18" charset="0"/>
                <a:cs typeface="Times New Roman" panose="02020603050405020304" pitchFamily="18" charset="0"/>
              </a:rPr>
              <a:t>Taromideh</a:t>
            </a:r>
            <a:r>
              <a:rPr lang="en-IN" sz="1300" dirty="0">
                <a:solidFill>
                  <a:schemeClr val="tx1"/>
                </a:solidFill>
                <a:latin typeface="Times New Roman" panose="02020603050405020304" pitchFamily="18" charset="0"/>
                <a:cs typeface="Times New Roman" panose="02020603050405020304" pitchFamily="18" charset="0"/>
              </a:rPr>
              <a:t> , Ramin </a:t>
            </a:r>
            <a:r>
              <a:rPr lang="en-IN" sz="1300" dirty="0" err="1">
                <a:solidFill>
                  <a:schemeClr val="tx1"/>
                </a:solidFill>
                <a:latin typeface="Times New Roman" panose="02020603050405020304" pitchFamily="18" charset="0"/>
                <a:cs typeface="Times New Roman" panose="02020603050405020304" pitchFamily="18" charset="0"/>
              </a:rPr>
              <a:t>Fazloula</a:t>
            </a:r>
            <a:r>
              <a:rPr lang="en-IN" sz="1300" dirty="0">
                <a:solidFill>
                  <a:schemeClr val="tx1"/>
                </a:solidFill>
                <a:latin typeface="Times New Roman" panose="02020603050405020304" pitchFamily="18" charset="0"/>
                <a:cs typeface="Times New Roman" panose="02020603050405020304" pitchFamily="18" charset="0"/>
              </a:rPr>
              <a:t>, Bahram </a:t>
            </a:r>
            <a:r>
              <a:rPr lang="en-IN" sz="1300" dirty="0" err="1">
                <a:solidFill>
                  <a:schemeClr val="tx1"/>
                </a:solidFill>
                <a:latin typeface="Times New Roman" panose="02020603050405020304" pitchFamily="18" charset="0"/>
                <a:cs typeface="Times New Roman" panose="02020603050405020304" pitchFamily="18" charset="0"/>
              </a:rPr>
              <a:t>Choubin</a:t>
            </a:r>
            <a:r>
              <a:rPr lang="en-IN" sz="1300" dirty="0">
                <a:solidFill>
                  <a:schemeClr val="tx1"/>
                </a:solidFill>
                <a:latin typeface="Times New Roman" panose="02020603050405020304" pitchFamily="18" charset="0"/>
                <a:cs typeface="Times New Roman" panose="02020603050405020304" pitchFamily="18" charset="0"/>
              </a:rPr>
              <a:t>, Alireza Emadi.2022. Urban Flood-Risk Assessment: Integration of Decision-Making and Machine Learning. M DPI stays neutral with regard to jurisdictional claims in published maps and institutional affiliations.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[9] - Huiliang Wang, </a:t>
            </a:r>
            <a:r>
              <a:rPr lang="en-IN" sz="1300" dirty="0" err="1">
                <a:solidFill>
                  <a:schemeClr val="tx1"/>
                </a:solidFill>
                <a:latin typeface="Times New Roman" panose="02020603050405020304" pitchFamily="18" charset="0"/>
                <a:cs typeface="Times New Roman" panose="02020603050405020304" pitchFamily="18" charset="0"/>
              </a:rPr>
              <a:t>Hongfa</a:t>
            </a:r>
            <a:r>
              <a:rPr lang="en-IN" sz="1300" dirty="0">
                <a:solidFill>
                  <a:schemeClr val="tx1"/>
                </a:solidFill>
                <a:latin typeface="Times New Roman" panose="02020603050405020304" pitchFamily="18" charset="0"/>
                <a:cs typeface="Times New Roman" panose="02020603050405020304" pitchFamily="18" charset="0"/>
              </a:rPr>
              <a:t> Wang, </a:t>
            </a:r>
            <a:r>
              <a:rPr lang="en-IN" sz="1300" dirty="0" err="1">
                <a:solidFill>
                  <a:schemeClr val="tx1"/>
                </a:solidFill>
                <a:latin typeface="Times New Roman" panose="02020603050405020304" pitchFamily="18" charset="0"/>
                <a:cs typeface="Times New Roman" panose="02020603050405020304" pitchFamily="18" charset="0"/>
              </a:rPr>
              <a:t>Zening</a:t>
            </a:r>
            <a:r>
              <a:rPr lang="en-IN" sz="1300" dirty="0">
                <a:solidFill>
                  <a:schemeClr val="tx1"/>
                </a:solidFill>
                <a:latin typeface="Times New Roman" panose="02020603050405020304" pitchFamily="18" charset="0"/>
                <a:cs typeface="Times New Roman" panose="02020603050405020304" pitchFamily="18" charset="0"/>
              </a:rPr>
              <a:t> Wu and </a:t>
            </a:r>
            <a:r>
              <a:rPr lang="en-IN" sz="1300" dirty="0" err="1">
                <a:solidFill>
                  <a:schemeClr val="tx1"/>
                </a:solidFill>
                <a:latin typeface="Times New Roman" panose="02020603050405020304" pitchFamily="18" charset="0"/>
                <a:cs typeface="Times New Roman" panose="02020603050405020304" pitchFamily="18" charset="0"/>
              </a:rPr>
              <a:t>Yihong</a:t>
            </a:r>
            <a:r>
              <a:rPr lang="en-IN" sz="1300" dirty="0">
                <a:solidFill>
                  <a:schemeClr val="tx1"/>
                </a:solidFill>
                <a:latin typeface="Times New Roman" panose="02020603050405020304" pitchFamily="18" charset="0"/>
                <a:cs typeface="Times New Roman" panose="02020603050405020304" pitchFamily="18" charset="0"/>
              </a:rPr>
              <a:t> Zhou.2021. Using Multi-Factor Analysis to Predict Urban Flood Depth Based on Naive Bayes. MDPI stays neutral with regard to jurisdictional claims in published maps and institutional affiliations.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[10] - </a:t>
            </a:r>
            <a:r>
              <a:rPr lang="en-IN" sz="1300" dirty="0" err="1">
                <a:solidFill>
                  <a:schemeClr val="tx1"/>
                </a:solidFill>
                <a:latin typeface="Times New Roman" panose="02020603050405020304" pitchFamily="18" charset="0"/>
                <a:cs typeface="Times New Roman" panose="02020603050405020304" pitchFamily="18" charset="0"/>
              </a:rPr>
              <a:t>Wenkai</a:t>
            </a:r>
            <a:r>
              <a:rPr lang="en-IN" sz="1300" dirty="0">
                <a:solidFill>
                  <a:schemeClr val="tx1"/>
                </a:solidFill>
                <a:latin typeface="Times New Roman" panose="02020603050405020304" pitchFamily="18" charset="0"/>
                <a:cs typeface="Times New Roman" panose="02020603050405020304" pitchFamily="18" charset="0"/>
              </a:rPr>
              <a:t> Li , </a:t>
            </a:r>
            <a:r>
              <a:rPr lang="en-IN" sz="1300" dirty="0" err="1">
                <a:solidFill>
                  <a:schemeClr val="tx1"/>
                </a:solidFill>
                <a:latin typeface="Times New Roman" panose="02020603050405020304" pitchFamily="18" charset="0"/>
                <a:cs typeface="Times New Roman" panose="02020603050405020304" pitchFamily="18" charset="0"/>
              </a:rPr>
              <a:t>Yuanchi</a:t>
            </a:r>
            <a:r>
              <a:rPr lang="en-IN" sz="1300" dirty="0">
                <a:solidFill>
                  <a:schemeClr val="tx1"/>
                </a:solidFill>
                <a:latin typeface="Times New Roman" panose="02020603050405020304" pitchFamily="18" charset="0"/>
                <a:cs typeface="Times New Roman" panose="02020603050405020304" pitchFamily="18" charset="0"/>
              </a:rPr>
              <a:t> Liu , </a:t>
            </a:r>
            <a:r>
              <a:rPr lang="en-IN" sz="1300" dirty="0" err="1">
                <a:solidFill>
                  <a:schemeClr val="tx1"/>
                </a:solidFill>
                <a:latin typeface="Times New Roman" panose="02020603050405020304" pitchFamily="18" charset="0"/>
                <a:cs typeface="Times New Roman" panose="02020603050405020304" pitchFamily="18" charset="0"/>
              </a:rPr>
              <a:t>Ziyue</a:t>
            </a:r>
            <a:r>
              <a:rPr lang="en-IN" sz="1300" dirty="0">
                <a:solidFill>
                  <a:schemeClr val="tx1"/>
                </a:solidFill>
                <a:latin typeface="Times New Roman" panose="02020603050405020304" pitchFamily="18" charset="0"/>
                <a:cs typeface="Times New Roman" panose="02020603050405020304" pitchFamily="18" charset="0"/>
              </a:rPr>
              <a:t> Liu , Zhen Gao , </a:t>
            </a:r>
            <a:r>
              <a:rPr lang="en-IN" sz="1300" dirty="0" err="1">
                <a:solidFill>
                  <a:schemeClr val="tx1"/>
                </a:solidFill>
                <a:latin typeface="Times New Roman" panose="02020603050405020304" pitchFamily="18" charset="0"/>
                <a:cs typeface="Times New Roman" panose="02020603050405020304" pitchFamily="18" charset="0"/>
              </a:rPr>
              <a:t>Huabing</a:t>
            </a:r>
            <a:r>
              <a:rPr lang="en-IN" sz="1300" dirty="0">
                <a:solidFill>
                  <a:schemeClr val="tx1"/>
                </a:solidFill>
                <a:latin typeface="Times New Roman" panose="02020603050405020304" pitchFamily="18" charset="0"/>
                <a:cs typeface="Times New Roman" panose="02020603050405020304" pitchFamily="18" charset="0"/>
              </a:rPr>
              <a:t> Huang.2022. </a:t>
            </a:r>
            <a:r>
              <a:rPr lang="en-IN" sz="1300" dirty="0" err="1">
                <a:solidFill>
                  <a:schemeClr val="tx1"/>
                </a:solidFill>
                <a:latin typeface="Times New Roman" panose="02020603050405020304" pitchFamily="18" charset="0"/>
                <a:cs typeface="Times New Roman" panose="02020603050405020304" pitchFamily="18" charset="0"/>
              </a:rPr>
              <a:t>APositive-Unlabeled</a:t>
            </a:r>
            <a:r>
              <a:rPr lang="en-IN" sz="1300" dirty="0">
                <a:solidFill>
                  <a:schemeClr val="tx1"/>
                </a:solidFill>
                <a:latin typeface="Times New Roman" panose="02020603050405020304" pitchFamily="18" charset="0"/>
                <a:cs typeface="Times New Roman" panose="02020603050405020304" pitchFamily="18" charset="0"/>
              </a:rPr>
              <a:t> Learning Algorithm for Urban Flood Susceptibility </a:t>
            </a:r>
            <a:r>
              <a:rPr lang="en-IN" sz="1300" dirty="0" err="1">
                <a:solidFill>
                  <a:schemeClr val="tx1"/>
                </a:solidFill>
                <a:latin typeface="Times New Roman" panose="02020603050405020304" pitchFamily="18" charset="0"/>
                <a:cs typeface="Times New Roman" panose="02020603050405020304" pitchFamily="18" charset="0"/>
              </a:rPr>
              <a:t>Modeling</a:t>
            </a:r>
            <a:r>
              <a:rPr lang="en-IN" sz="1300" dirty="0">
                <a:solidFill>
                  <a:schemeClr val="tx1"/>
                </a:solidFill>
                <a:latin typeface="Times New Roman" panose="02020603050405020304" pitchFamily="18" charset="0"/>
                <a:cs typeface="Times New Roman" panose="02020603050405020304" pitchFamily="18" charset="0"/>
              </a:rPr>
              <a:t>. MDPI stays neutral with regard to jurisdictional claims in published maps and institutional affiliations.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[11] – </a:t>
            </a:r>
            <a:r>
              <a:rPr lang="en-IN" sz="1300" dirty="0" err="1">
                <a:solidFill>
                  <a:schemeClr val="tx1"/>
                </a:solidFill>
                <a:latin typeface="Times New Roman" panose="02020603050405020304" pitchFamily="18" charset="0"/>
                <a:cs typeface="Times New Roman" panose="02020603050405020304" pitchFamily="18" charset="0"/>
              </a:rPr>
              <a:t>Zifeng</a:t>
            </a:r>
            <a:r>
              <a:rPr lang="en-IN" sz="1300" dirty="0">
                <a:solidFill>
                  <a:schemeClr val="tx1"/>
                </a:solidFill>
                <a:latin typeface="Times New Roman" panose="02020603050405020304" pitchFamily="18" charset="0"/>
                <a:cs typeface="Times New Roman" panose="02020603050405020304" pitchFamily="18" charset="0"/>
              </a:rPr>
              <a:t> Guo, </a:t>
            </a:r>
            <a:r>
              <a:rPr lang="en-IN" sz="1300" dirty="0" err="1">
                <a:solidFill>
                  <a:schemeClr val="tx1"/>
                </a:solidFill>
                <a:latin typeface="Times New Roman" panose="02020603050405020304" pitchFamily="18" charset="0"/>
                <a:cs typeface="Times New Roman" panose="02020603050405020304" pitchFamily="18" charset="0"/>
              </a:rPr>
              <a:t>JoaoP.Leit</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ao</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NunoE.Simões</a:t>
            </a:r>
            <a:r>
              <a:rPr lang="en-IN" sz="1300" dirty="0">
                <a:solidFill>
                  <a:schemeClr val="tx1"/>
                </a:solidFill>
                <a:latin typeface="Times New Roman" panose="02020603050405020304" pitchFamily="18" charset="0"/>
                <a:cs typeface="Times New Roman" panose="02020603050405020304" pitchFamily="18" charset="0"/>
              </a:rPr>
              <a:t>, VahidMoosav.2020. Data driven flood emulation: Speeding up urban flood predictions by deep convolutional neural network. Chartered Institution of Water And Environmental Management.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[12] - </a:t>
            </a:r>
            <a:r>
              <a:rPr lang="en-IN" sz="1300" dirty="0" err="1">
                <a:solidFill>
                  <a:schemeClr val="tx1"/>
                </a:solidFill>
                <a:latin typeface="Times New Roman" panose="02020603050405020304" pitchFamily="18" charset="0"/>
                <a:cs typeface="Times New Roman" panose="02020603050405020304" pitchFamily="18" charset="0"/>
              </a:rPr>
              <a:t>Junfei</a:t>
            </a:r>
            <a:r>
              <a:rPr lang="en-IN" sz="1300" dirty="0">
                <a:solidFill>
                  <a:schemeClr val="tx1"/>
                </a:solidFill>
                <a:latin typeface="Times New Roman" panose="02020603050405020304" pitchFamily="18" charset="0"/>
                <a:cs typeface="Times New Roman" panose="02020603050405020304" pitchFamily="18" charset="0"/>
              </a:rPr>
              <a:t> Chen, Qian Li, </a:t>
            </a:r>
            <a:r>
              <a:rPr lang="en-IN" sz="1300" dirty="0" err="1">
                <a:solidFill>
                  <a:schemeClr val="tx1"/>
                </a:solidFill>
                <a:latin typeface="Times New Roman" panose="02020603050405020304" pitchFamily="18" charset="0"/>
                <a:cs typeface="Times New Roman" panose="02020603050405020304" pitchFamily="18" charset="0"/>
              </a:rPr>
              <a:t>Huimin</a:t>
            </a:r>
            <a:r>
              <a:rPr lang="en-IN" sz="1300" dirty="0">
                <a:solidFill>
                  <a:schemeClr val="tx1"/>
                </a:solidFill>
                <a:latin typeface="Times New Roman" panose="02020603050405020304" pitchFamily="18" charset="0"/>
                <a:cs typeface="Times New Roman" panose="02020603050405020304" pitchFamily="18" charset="0"/>
              </a:rPr>
              <a:t> Wang, </a:t>
            </a:r>
            <a:r>
              <a:rPr lang="en-IN" sz="1300" dirty="0" err="1">
                <a:solidFill>
                  <a:schemeClr val="tx1"/>
                </a:solidFill>
                <a:latin typeface="Times New Roman" panose="02020603050405020304" pitchFamily="18" charset="0"/>
                <a:cs typeface="Times New Roman" panose="02020603050405020304" pitchFamily="18" charset="0"/>
              </a:rPr>
              <a:t>Menghua</a:t>
            </a:r>
            <a:r>
              <a:rPr lang="en-IN" sz="1300" dirty="0">
                <a:solidFill>
                  <a:schemeClr val="tx1"/>
                </a:solidFill>
                <a:latin typeface="Times New Roman" panose="02020603050405020304" pitchFamily="18" charset="0"/>
                <a:cs typeface="Times New Roman" panose="02020603050405020304" pitchFamily="18" charset="0"/>
              </a:rPr>
              <a:t> Deng .2019. A Machine Learning Ensemble Approach Based on Random Forest and Radial Basis Function Neural Network for Risk Evaluation of Regional Flood Disaster: A Case Study of the Yangtze River Delta, China. International Journal of Environmental Research and public health.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[13] - </a:t>
            </a:r>
            <a:r>
              <a:rPr lang="en-IN" sz="1300" dirty="0" err="1">
                <a:solidFill>
                  <a:schemeClr val="tx1"/>
                </a:solidFill>
                <a:latin typeface="Times New Roman" panose="02020603050405020304" pitchFamily="18" charset="0"/>
                <a:cs typeface="Times New Roman" panose="02020603050405020304" pitchFamily="18" charset="0"/>
              </a:rPr>
              <a:t>Mahya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Norallahi</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Hesam</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Seyed</a:t>
            </a:r>
            <a:r>
              <a:rPr lang="en-IN" sz="1300" dirty="0">
                <a:solidFill>
                  <a:schemeClr val="tx1"/>
                </a:solidFill>
                <a:latin typeface="Times New Roman" panose="02020603050405020304" pitchFamily="18" charset="0"/>
                <a:cs typeface="Times New Roman" panose="02020603050405020304" pitchFamily="18" charset="0"/>
              </a:rPr>
              <a:t> Kabol.2021. Urban flood hazard mapping using machine learning models: GARP, RF, </a:t>
            </a:r>
            <a:r>
              <a:rPr lang="en-IN" sz="1300" dirty="0" err="1">
                <a:solidFill>
                  <a:schemeClr val="tx1"/>
                </a:solidFill>
                <a:latin typeface="Times New Roman" panose="02020603050405020304" pitchFamily="18" charset="0"/>
                <a:cs typeface="Times New Roman" panose="02020603050405020304" pitchFamily="18" charset="0"/>
              </a:rPr>
              <a:t>MaxEnt</a:t>
            </a:r>
            <a:r>
              <a:rPr lang="en-IN" sz="1300" dirty="0">
                <a:solidFill>
                  <a:schemeClr val="tx1"/>
                </a:solidFill>
                <a:latin typeface="Times New Roman" panose="02020603050405020304" pitchFamily="18" charset="0"/>
                <a:cs typeface="Times New Roman" panose="02020603050405020304" pitchFamily="18" charset="0"/>
              </a:rPr>
              <a:t> and NB. Natural Hazards conferences. </a:t>
            </a:r>
          </a:p>
          <a:p>
            <a:pPr marL="0" indent="0">
              <a:spcAft>
                <a:spcPts val="0"/>
              </a:spcAft>
              <a:buNone/>
            </a:pPr>
            <a:r>
              <a:rPr lang="en-US" sz="1300" dirty="0">
                <a:solidFill>
                  <a:schemeClr val="tx1"/>
                </a:solidFill>
                <a:latin typeface="Times New Roman" panose="02020603050405020304" pitchFamily="18" charset="0"/>
                <a:cs typeface="Times New Roman" panose="02020603050405020304" pitchFamily="18" charset="0"/>
              </a:rPr>
              <a:t>[14] - Candace Agonafir.2022. A Citizen-Science Approach for Urban Flood Risk Analysis Using Data Science and Machine Learning. A dissertation submitted in partial fulfillment of the requirements for the degree of Doctor of Philosophy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[15] - Indra Riyanto , Mia </a:t>
            </a:r>
            <a:r>
              <a:rPr lang="en-IN" sz="1300" dirty="0" err="1">
                <a:solidFill>
                  <a:schemeClr val="tx1"/>
                </a:solidFill>
                <a:latin typeface="Times New Roman" panose="02020603050405020304" pitchFamily="18" charset="0"/>
                <a:cs typeface="Times New Roman" panose="02020603050405020304" pitchFamily="18" charset="0"/>
              </a:rPr>
              <a:t>Rizkinia</a:t>
            </a:r>
            <a:r>
              <a:rPr lang="en-IN" sz="1300" dirty="0">
                <a:solidFill>
                  <a:schemeClr val="tx1"/>
                </a:solidFill>
                <a:latin typeface="Times New Roman" panose="02020603050405020304" pitchFamily="18" charset="0"/>
                <a:cs typeface="Times New Roman" panose="02020603050405020304" pitchFamily="18" charset="0"/>
              </a:rPr>
              <a:t>, Rahmat Arief.2022. Three-Dimensional Convolutional Neural Network on Multi-Temporal Synthetic Aperture Radar Images for Urban Flood Potential Mapping in Jakarta. MDPI stays neutral with regard to jurisdictional claims in published maps and institutional affiliations. </a:t>
            </a:r>
          </a:p>
        </p:txBody>
      </p:sp>
    </p:spTree>
    <p:extLst>
      <p:ext uri="{BB962C8B-B14F-4D97-AF65-F5344CB8AC3E}">
        <p14:creationId xmlns:p14="http://schemas.microsoft.com/office/powerpoint/2010/main" val="647269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6E9318-11EE-CBAD-411C-879C8165C4C8}"/>
              </a:ext>
            </a:extLst>
          </p:cNvPr>
          <p:cNvSpPr>
            <a:spLocks noGrp="1"/>
          </p:cNvSpPr>
          <p:nvPr>
            <p:ph type="sldNum" sz="quarter" idx="14"/>
          </p:nvPr>
        </p:nvSpPr>
        <p:spPr/>
        <p:txBody>
          <a:bodyPr/>
          <a:lstStyle/>
          <a:p>
            <a:fld id="{45A3C14A-F937-4231-B6F1-40B429FAFB2F}" type="slidenum">
              <a:rPr lang="en-NZ" smtClean="0"/>
              <a:pPr/>
              <a:t>31</a:t>
            </a:fld>
            <a:endParaRPr lang="en-NZ" dirty="0"/>
          </a:p>
        </p:txBody>
      </p:sp>
      <p:sp>
        <p:nvSpPr>
          <p:cNvPr id="3" name="Title 2">
            <a:extLst>
              <a:ext uri="{FF2B5EF4-FFF2-40B4-BE49-F238E27FC236}">
                <a16:creationId xmlns:a16="http://schemas.microsoft.com/office/drawing/2014/main" id="{80340840-AAA7-0A05-840F-D16BD68009F5}"/>
              </a:ext>
            </a:extLst>
          </p:cNvPr>
          <p:cNvSpPr>
            <a:spLocks noGrp="1"/>
          </p:cNvSpPr>
          <p:nvPr>
            <p:ph type="title"/>
          </p:nvPr>
        </p:nvSpPr>
        <p:spPr>
          <a:xfrm>
            <a:off x="695400" y="395786"/>
            <a:ext cx="10671746" cy="838202"/>
          </a:xfrm>
        </p:spPr>
        <p:txBody>
          <a:bodyPr/>
          <a:lstStyle/>
          <a:p>
            <a:pPr algn="ctr"/>
            <a:r>
              <a:rPr lang="en-IN" sz="3000" b="1" dirty="0">
                <a:solidFill>
                  <a:schemeClr val="tx1"/>
                </a:solidFill>
                <a:latin typeface="Times New Roman" panose="02020603050405020304" pitchFamily="18" charset="0"/>
                <a:cs typeface="Times New Roman" panose="02020603050405020304" pitchFamily="18" charset="0"/>
              </a:rPr>
              <a:t>REFERENCES</a:t>
            </a:r>
          </a:p>
        </p:txBody>
      </p:sp>
      <p:sp>
        <p:nvSpPr>
          <p:cNvPr id="4" name="Text Placeholder 3">
            <a:extLst>
              <a:ext uri="{FF2B5EF4-FFF2-40B4-BE49-F238E27FC236}">
                <a16:creationId xmlns:a16="http://schemas.microsoft.com/office/drawing/2014/main" id="{BA3765CB-6BC2-D303-DA63-C37247AD246C}"/>
              </a:ext>
            </a:extLst>
          </p:cNvPr>
          <p:cNvSpPr>
            <a:spLocks noGrp="1"/>
          </p:cNvSpPr>
          <p:nvPr>
            <p:ph type="body" sz="quarter" idx="17"/>
          </p:nvPr>
        </p:nvSpPr>
        <p:spPr>
          <a:xfrm>
            <a:off x="695400" y="1233988"/>
            <a:ext cx="10801201" cy="4860428"/>
          </a:xfrm>
        </p:spPr>
        <p:txBody>
          <a:bodyPr/>
          <a:lstStyle/>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[16] - MOHAMMEDMOISHIN RAMENDRA PRASAD ,RAVINESH C. DEO ,(Senior Member, IEEE), NAWINRAJ.2021. Designing Deep-Based Learning Flood Forecast Model With ConvLSTM Hybrid </a:t>
            </a:r>
            <a:r>
              <a:rPr lang="en-IN" sz="1300" dirty="0" err="1">
                <a:solidFill>
                  <a:schemeClr val="tx1"/>
                </a:solidFill>
                <a:latin typeface="Times New Roman" panose="02020603050405020304" pitchFamily="18" charset="0"/>
                <a:cs typeface="Times New Roman" panose="02020603050405020304" pitchFamily="18" charset="0"/>
              </a:rPr>
              <a:t>Algorithm.IEEE</a:t>
            </a:r>
            <a:r>
              <a:rPr lang="en-IN" sz="1300" dirty="0">
                <a:solidFill>
                  <a:schemeClr val="tx1"/>
                </a:solidFill>
                <a:latin typeface="Times New Roman" panose="02020603050405020304" pitchFamily="18" charset="0"/>
                <a:cs typeface="Times New Roman" panose="02020603050405020304" pitchFamily="18" charset="0"/>
              </a:rPr>
              <a:t> Access conference. </a:t>
            </a:r>
          </a:p>
          <a:p>
            <a:pPr marL="0" indent="0">
              <a:spcAft>
                <a:spcPts val="0"/>
              </a:spcAft>
              <a:buNone/>
            </a:pPr>
            <a:r>
              <a:rPr lang="en-US" sz="1300" dirty="0">
                <a:solidFill>
                  <a:schemeClr val="tx1"/>
                </a:solidFill>
                <a:latin typeface="Times New Roman" panose="02020603050405020304" pitchFamily="18" charset="0"/>
                <a:cs typeface="Times New Roman" panose="02020603050405020304" pitchFamily="18" charset="0"/>
              </a:rPr>
              <a:t>[17] - Marcel Motta, Miguel de Castro Neto, Pedro Sarmento.2021. A mixed approach for urban flood prediction using Machine Learning and GIS. published by Elsevier. </a:t>
            </a:r>
            <a:endParaRPr lang="en-IN" sz="1300" dirty="0">
              <a:solidFill>
                <a:schemeClr val="tx1"/>
              </a:solidFill>
              <a:latin typeface="Times New Roman" panose="02020603050405020304" pitchFamily="18" charset="0"/>
              <a:cs typeface="Times New Roman" panose="02020603050405020304" pitchFamily="18" charset="0"/>
            </a:endParaRP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[18] - </a:t>
            </a:r>
            <a:r>
              <a:rPr lang="en-IN" sz="1300" dirty="0" err="1">
                <a:solidFill>
                  <a:schemeClr val="tx1"/>
                </a:solidFill>
                <a:latin typeface="Times New Roman" panose="02020603050405020304" pitchFamily="18" charset="0"/>
                <a:cs typeface="Times New Roman" panose="02020603050405020304" pitchFamily="18" charset="0"/>
              </a:rPr>
              <a:t>Zhufeng</a:t>
            </a:r>
            <a:r>
              <a:rPr lang="en-IN" sz="1300" dirty="0">
                <a:solidFill>
                  <a:schemeClr val="tx1"/>
                </a:solidFill>
                <a:latin typeface="Times New Roman" panose="02020603050405020304" pitchFamily="18" charset="0"/>
                <a:cs typeface="Times New Roman" panose="02020603050405020304" pitchFamily="18" charset="0"/>
              </a:rPr>
              <a:t> Li, </a:t>
            </a:r>
            <a:r>
              <a:rPr lang="en-IN" sz="1300" dirty="0" err="1">
                <a:solidFill>
                  <a:schemeClr val="tx1"/>
                </a:solidFill>
                <a:latin typeface="Times New Roman" panose="02020603050405020304" pitchFamily="18" charset="0"/>
                <a:cs typeface="Times New Roman" panose="02020603050405020304" pitchFamily="18" charset="0"/>
              </a:rPr>
              <a:t>Haixing</a:t>
            </a:r>
            <a:r>
              <a:rPr lang="en-IN" sz="1300" dirty="0">
                <a:solidFill>
                  <a:schemeClr val="tx1"/>
                </a:solidFill>
                <a:latin typeface="Times New Roman" panose="02020603050405020304" pitchFamily="18" charset="0"/>
                <a:cs typeface="Times New Roman" panose="02020603050405020304" pitchFamily="18" charset="0"/>
              </a:rPr>
              <a:t> Liu , </a:t>
            </a:r>
            <a:r>
              <a:rPr lang="en-IN" sz="1300" dirty="0" err="1">
                <a:solidFill>
                  <a:schemeClr val="tx1"/>
                </a:solidFill>
                <a:latin typeface="Times New Roman" panose="02020603050405020304" pitchFamily="18" charset="0"/>
                <a:cs typeface="Times New Roman" panose="02020603050405020304" pitchFamily="18" charset="0"/>
              </a:rPr>
              <a:t>Chunbo</a:t>
            </a:r>
            <a:r>
              <a:rPr lang="en-IN" sz="1300" dirty="0">
                <a:solidFill>
                  <a:schemeClr val="tx1"/>
                </a:solidFill>
                <a:latin typeface="Times New Roman" panose="02020603050405020304" pitchFamily="18" charset="0"/>
                <a:cs typeface="Times New Roman" panose="02020603050405020304" pitchFamily="18" charset="0"/>
              </a:rPr>
              <a:t> Luo and </a:t>
            </a:r>
            <a:r>
              <a:rPr lang="en-IN" sz="1300" dirty="0" err="1">
                <a:solidFill>
                  <a:schemeClr val="tx1"/>
                </a:solidFill>
                <a:latin typeface="Times New Roman" panose="02020603050405020304" pitchFamily="18" charset="0"/>
                <a:cs typeface="Times New Roman" panose="02020603050405020304" pitchFamily="18" charset="0"/>
              </a:rPr>
              <a:t>Guangtao</a:t>
            </a:r>
            <a:r>
              <a:rPr lang="en-IN" sz="1300" dirty="0">
                <a:solidFill>
                  <a:schemeClr val="tx1"/>
                </a:solidFill>
                <a:latin typeface="Times New Roman" panose="02020603050405020304" pitchFamily="18" charset="0"/>
                <a:cs typeface="Times New Roman" panose="02020603050405020304" pitchFamily="18" charset="0"/>
              </a:rPr>
              <a:t> Fu.2021. Assessing Surface Water Flood Risks in Urban Areas Using Machine Learning. MDPI stays neutral with regard to jurisdictional claims in maps and institutional affiliations.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[19] - Ahad Hasan </a:t>
            </a:r>
            <a:r>
              <a:rPr lang="en-IN" sz="1300" dirty="0" err="1">
                <a:solidFill>
                  <a:schemeClr val="tx1"/>
                </a:solidFill>
                <a:latin typeface="Times New Roman" panose="02020603050405020304" pitchFamily="18" charset="0"/>
                <a:cs typeface="Times New Roman" panose="02020603050405020304" pitchFamily="18" charset="0"/>
              </a:rPr>
              <a:t>Tanim</a:t>
            </a:r>
            <a:r>
              <a:rPr lang="en-IN" sz="1300" dirty="0">
                <a:solidFill>
                  <a:schemeClr val="tx1"/>
                </a:solidFill>
                <a:latin typeface="Times New Roman" panose="02020603050405020304" pitchFamily="18" charset="0"/>
                <a:cs typeface="Times New Roman" panose="02020603050405020304" pitchFamily="18" charset="0"/>
              </a:rPr>
              <a:t> , Callum Blake McRae, Hassan Tavakol‐Davani.2022. Flood Detection in Urban Areas Using Satellite Imagery and Machine Learning . MDPI stays neutral with regard to jurisdictional claims in published maps and institutional affiliations. </a:t>
            </a:r>
          </a:p>
          <a:p>
            <a:pPr marL="0" indent="0">
              <a:spcAft>
                <a:spcPts val="0"/>
              </a:spcAft>
              <a:buNone/>
            </a:pPr>
            <a:r>
              <a:rPr lang="en-US" sz="1300" dirty="0">
                <a:solidFill>
                  <a:schemeClr val="tx1"/>
                </a:solidFill>
                <a:latin typeface="Times New Roman" panose="02020603050405020304" pitchFamily="18" charset="0"/>
                <a:cs typeface="Times New Roman" panose="02020603050405020304" pitchFamily="18" charset="0"/>
              </a:rPr>
              <a:t>[20] - </a:t>
            </a:r>
            <a:r>
              <a:rPr lang="en-US" sz="1300" dirty="0" err="1">
                <a:solidFill>
                  <a:schemeClr val="tx1"/>
                </a:solidFill>
                <a:latin typeface="Times New Roman" panose="02020603050405020304" pitchFamily="18" charset="0"/>
                <a:cs typeface="Times New Roman" panose="02020603050405020304" pitchFamily="18" charset="0"/>
              </a:rPr>
              <a:t>Detchphol</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Chitwatkulsiri</a:t>
            </a:r>
            <a:r>
              <a:rPr lang="en-US" sz="1300" dirty="0">
                <a:solidFill>
                  <a:schemeClr val="tx1"/>
                </a:solidFill>
                <a:latin typeface="Times New Roman" panose="02020603050405020304" pitchFamily="18" charset="0"/>
                <a:cs typeface="Times New Roman" panose="02020603050405020304" pitchFamily="18" charset="0"/>
              </a:rPr>
              <a:t> and Hitoshi Miyamoto.2023. Real-Time Urban Flood Forecasting Systems for Southeast Asia A Review of Present Modelling and Its Future Prospects. Department of Civil Engineering, Shibaura Institute of Technology.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[21] - Cailin Li , Na Sun, </a:t>
            </a:r>
            <a:r>
              <a:rPr lang="en-IN" sz="1300" dirty="0" err="1">
                <a:solidFill>
                  <a:schemeClr val="tx1"/>
                </a:solidFill>
                <a:latin typeface="Times New Roman" panose="02020603050405020304" pitchFamily="18" charset="0"/>
                <a:cs typeface="Times New Roman" panose="02020603050405020304" pitchFamily="18" charset="0"/>
              </a:rPr>
              <a:t>Yihui</a:t>
            </a:r>
            <a:r>
              <a:rPr lang="en-IN" sz="1300" dirty="0">
                <a:solidFill>
                  <a:schemeClr val="tx1"/>
                </a:solidFill>
                <a:latin typeface="Times New Roman" panose="02020603050405020304" pitchFamily="18" charset="0"/>
                <a:cs typeface="Times New Roman" panose="02020603050405020304" pitchFamily="18" charset="0"/>
              </a:rPr>
              <a:t> Lu , </a:t>
            </a:r>
            <a:r>
              <a:rPr lang="en-IN" sz="1300" dirty="0" err="1">
                <a:solidFill>
                  <a:schemeClr val="tx1"/>
                </a:solidFill>
                <a:latin typeface="Times New Roman" panose="02020603050405020304" pitchFamily="18" charset="0"/>
                <a:cs typeface="Times New Roman" panose="02020603050405020304" pitchFamily="18" charset="0"/>
              </a:rPr>
              <a:t>Baoyun</a:t>
            </a:r>
            <a:r>
              <a:rPr lang="en-IN" sz="1300" dirty="0">
                <a:solidFill>
                  <a:schemeClr val="tx1"/>
                </a:solidFill>
                <a:latin typeface="Times New Roman" panose="02020603050405020304" pitchFamily="18" charset="0"/>
                <a:cs typeface="Times New Roman" panose="02020603050405020304" pitchFamily="18" charset="0"/>
              </a:rPr>
              <a:t> Guo , Yue Wang.2022. Review on Urban Flood Risk Assessment. https://www.mdpi.com/journal/sustainability.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[22] - Faria T. </a:t>
            </a:r>
            <a:r>
              <a:rPr lang="en-IN" sz="1300" dirty="0" err="1">
                <a:solidFill>
                  <a:schemeClr val="tx1"/>
                </a:solidFill>
                <a:latin typeface="Times New Roman" panose="02020603050405020304" pitchFamily="18" charset="0"/>
                <a:cs typeface="Times New Roman" panose="02020603050405020304" pitchFamily="18" charset="0"/>
              </a:rPr>
              <a:t>Zahura</a:t>
            </a:r>
            <a:r>
              <a:rPr lang="en-IN" sz="1300" dirty="0">
                <a:solidFill>
                  <a:schemeClr val="tx1"/>
                </a:solidFill>
                <a:latin typeface="Times New Roman" panose="02020603050405020304" pitchFamily="18" charset="0"/>
                <a:cs typeface="Times New Roman" panose="02020603050405020304" pitchFamily="18" charset="0"/>
              </a:rPr>
              <a:t>, Jonathan L. Good all, Mohamed </a:t>
            </a:r>
            <a:r>
              <a:rPr lang="en-IN" sz="1300" dirty="0" err="1">
                <a:solidFill>
                  <a:schemeClr val="tx1"/>
                </a:solidFill>
                <a:latin typeface="Times New Roman" panose="02020603050405020304" pitchFamily="18" charset="0"/>
                <a:cs typeface="Times New Roman" panose="02020603050405020304" pitchFamily="18" charset="0"/>
              </a:rPr>
              <a:t>M.Morsy</a:t>
            </a:r>
            <a:r>
              <a:rPr lang="en-IN" sz="1300" dirty="0">
                <a:solidFill>
                  <a:schemeClr val="tx1"/>
                </a:solidFill>
                <a:latin typeface="Times New Roman" panose="02020603050405020304" pitchFamily="18" charset="0"/>
                <a:cs typeface="Times New Roman" panose="02020603050405020304" pitchFamily="18" charset="0"/>
              </a:rPr>
              <a:t> ,and Madhur </a:t>
            </a:r>
            <a:r>
              <a:rPr lang="en-IN" sz="1300" dirty="0" err="1">
                <a:solidFill>
                  <a:schemeClr val="tx1"/>
                </a:solidFill>
                <a:latin typeface="Times New Roman" panose="02020603050405020304" pitchFamily="18" charset="0"/>
                <a:cs typeface="Times New Roman" panose="02020603050405020304" pitchFamily="18" charset="0"/>
              </a:rPr>
              <a:t>Behl</a:t>
            </a:r>
            <a:r>
              <a:rPr lang="en-IN" sz="1300" dirty="0">
                <a:solidFill>
                  <a:schemeClr val="tx1"/>
                </a:solidFill>
                <a:latin typeface="Times New Roman" panose="02020603050405020304" pitchFamily="18" charset="0"/>
                <a:cs typeface="Times New Roman" panose="02020603050405020304" pitchFamily="18" charset="0"/>
              </a:rPr>
              <a:t> ,Jeffrey M. Sadler .2020.Training Machine Learning Surrogate Models From a High‐Fidelity Physics‐Based Model: Application for Real‐Time Street‐Scale Flood Prediction in an Urban Coastal Community. RESEARCH ARTICLE.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[23] - Tarik </a:t>
            </a:r>
            <a:r>
              <a:rPr lang="en-IN" sz="1300" dirty="0" err="1">
                <a:solidFill>
                  <a:schemeClr val="tx1"/>
                </a:solidFill>
                <a:latin typeface="Times New Roman" panose="02020603050405020304" pitchFamily="18" charset="0"/>
                <a:cs typeface="Times New Roman" panose="02020603050405020304" pitchFamily="18" charset="0"/>
              </a:rPr>
              <a:t>Bouramtane</a:t>
            </a:r>
            <a:r>
              <a:rPr lang="en-IN" sz="1300" dirty="0">
                <a:solidFill>
                  <a:schemeClr val="tx1"/>
                </a:solidFill>
                <a:latin typeface="Times New Roman" panose="02020603050405020304" pitchFamily="18" charset="0"/>
                <a:cs typeface="Times New Roman" panose="02020603050405020304" pitchFamily="18" charset="0"/>
              </a:rPr>
              <a:t> , Ilias </a:t>
            </a:r>
            <a:r>
              <a:rPr lang="en-IN" sz="1300" dirty="0" err="1">
                <a:solidFill>
                  <a:schemeClr val="tx1"/>
                </a:solidFill>
                <a:latin typeface="Times New Roman" panose="02020603050405020304" pitchFamily="18" charset="0"/>
                <a:cs typeface="Times New Roman" panose="02020603050405020304" pitchFamily="18" charset="0"/>
              </a:rPr>
              <a:t>Kacimi</a:t>
            </a:r>
            <a:r>
              <a:rPr lang="en-IN" sz="1300" dirty="0">
                <a:solidFill>
                  <a:schemeClr val="tx1"/>
                </a:solidFill>
                <a:latin typeface="Times New Roman" panose="02020603050405020304" pitchFamily="18" charset="0"/>
                <a:cs typeface="Times New Roman" panose="02020603050405020304" pitchFamily="18" charset="0"/>
              </a:rPr>
              <a:t> , Khalil </a:t>
            </a:r>
            <a:r>
              <a:rPr lang="en-IN" sz="1300" dirty="0" err="1">
                <a:solidFill>
                  <a:schemeClr val="tx1"/>
                </a:solidFill>
                <a:latin typeface="Times New Roman" panose="02020603050405020304" pitchFamily="18" charset="0"/>
                <a:cs typeface="Times New Roman" panose="02020603050405020304" pitchFamily="18" charset="0"/>
              </a:rPr>
              <a:t>Bouramtane</a:t>
            </a:r>
            <a:r>
              <a:rPr lang="en-IN" sz="1300" dirty="0">
                <a:solidFill>
                  <a:schemeClr val="tx1"/>
                </a:solidFill>
                <a:latin typeface="Times New Roman" panose="02020603050405020304" pitchFamily="18" charset="0"/>
                <a:cs typeface="Times New Roman" panose="02020603050405020304" pitchFamily="18" charset="0"/>
              </a:rPr>
              <a:t> , Maryam Aziz , Shiny Abraham , Khalid Omari.2021. Multivariate Analysis and Machine Learning Approach for Mapping the Variability and Vulnerability of Urban Flooding: The Case of Tangier City, Morocco. MDPI stays neutral with regard to jurisdictional claims in published maps and institutional affiliations.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[24] - </a:t>
            </a:r>
            <a:r>
              <a:rPr lang="en-IN" sz="1300" dirty="0" err="1">
                <a:solidFill>
                  <a:schemeClr val="tx1"/>
                </a:solidFill>
                <a:latin typeface="Times New Roman" panose="02020603050405020304" pitchFamily="18" charset="0"/>
                <a:cs typeface="Times New Roman" panose="02020603050405020304" pitchFamily="18" charset="0"/>
              </a:rPr>
              <a:t>Zening</a:t>
            </a:r>
            <a:r>
              <a:rPr lang="en-IN" sz="1300" dirty="0">
                <a:solidFill>
                  <a:schemeClr val="tx1"/>
                </a:solidFill>
                <a:latin typeface="Times New Roman" panose="02020603050405020304" pitchFamily="18" charset="0"/>
                <a:cs typeface="Times New Roman" panose="02020603050405020304" pitchFamily="18" charset="0"/>
              </a:rPr>
              <a:t> Wu, </a:t>
            </a:r>
            <a:r>
              <a:rPr lang="en-IN" sz="1300" dirty="0" err="1">
                <a:solidFill>
                  <a:schemeClr val="tx1"/>
                </a:solidFill>
                <a:latin typeface="Times New Roman" panose="02020603050405020304" pitchFamily="18" charset="0"/>
                <a:cs typeface="Times New Roman" panose="02020603050405020304" pitchFamily="18" charset="0"/>
              </a:rPr>
              <a:t>Bingyan</a:t>
            </a:r>
            <a:r>
              <a:rPr lang="en-IN" sz="1300" dirty="0">
                <a:solidFill>
                  <a:schemeClr val="tx1"/>
                </a:solidFill>
                <a:latin typeface="Times New Roman" panose="02020603050405020304" pitchFamily="18" charset="0"/>
                <a:cs typeface="Times New Roman" panose="02020603050405020304" pitchFamily="18" charset="0"/>
              </a:rPr>
              <a:t> Ma, Huiliang Wang, Caihong Hu, Hong Lv.2021. Identification of Sensitive Parameters of Urban Flood Model Based on Artificial Neural Network. Water Resources Management (2021).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[27] - Candace Agonafir Dave </a:t>
            </a:r>
            <a:r>
              <a:rPr lang="en-IN" sz="1300" dirty="0" err="1">
                <a:solidFill>
                  <a:schemeClr val="tx1"/>
                </a:solidFill>
                <a:latin typeface="Times New Roman" panose="02020603050405020304" pitchFamily="18" charset="0"/>
                <a:cs typeface="Times New Roman" panose="02020603050405020304" pitchFamily="18" charset="0"/>
              </a:rPr>
              <a:t>Radell</a:t>
            </a:r>
            <a:r>
              <a:rPr lang="en-IN" sz="1300" dirty="0">
                <a:solidFill>
                  <a:schemeClr val="tx1"/>
                </a:solidFill>
                <a:latin typeface="Times New Roman" panose="02020603050405020304" pitchFamily="18" charset="0"/>
                <a:cs typeface="Times New Roman" panose="02020603050405020304" pitchFamily="18" charset="0"/>
              </a:rPr>
              <a:t> d a , </a:t>
            </a:r>
            <a:r>
              <a:rPr lang="en-IN" sz="1300" dirty="0" err="1">
                <a:solidFill>
                  <a:schemeClr val="tx1"/>
                </a:solidFill>
                <a:latin typeface="Times New Roman" panose="02020603050405020304" pitchFamily="18" charset="0"/>
                <a:cs typeface="Times New Roman" panose="02020603050405020304" pitchFamily="18" charset="0"/>
              </a:rPr>
              <a:t>Tarendra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Lakhankar</a:t>
            </a:r>
            <a:r>
              <a:rPr lang="en-IN" sz="1300" dirty="0">
                <a:solidFill>
                  <a:schemeClr val="tx1"/>
                </a:solidFill>
                <a:latin typeface="Times New Roman" panose="02020603050405020304" pitchFamily="18" charset="0"/>
                <a:cs typeface="Times New Roman" panose="02020603050405020304" pitchFamily="18" charset="0"/>
              </a:rPr>
              <a:t> , Naresh Devineni.2023. A review of recent advances in urban flood </a:t>
            </a:r>
            <a:r>
              <a:rPr lang="en-IN" sz="1300" dirty="0" err="1">
                <a:solidFill>
                  <a:schemeClr val="tx1"/>
                </a:solidFill>
                <a:latin typeface="Times New Roman" panose="02020603050405020304" pitchFamily="18" charset="0"/>
                <a:cs typeface="Times New Roman" panose="02020603050405020304" pitchFamily="18" charset="0"/>
              </a:rPr>
              <a:t>research.Elsevier</a:t>
            </a:r>
            <a:r>
              <a:rPr lang="en-IN" sz="1300" dirty="0">
                <a:solidFill>
                  <a:schemeClr val="tx1"/>
                </a:solidFill>
                <a:latin typeface="Times New Roman" panose="02020603050405020304" pitchFamily="18" charset="0"/>
                <a:cs typeface="Times New Roman" panose="02020603050405020304" pitchFamily="18" charset="0"/>
              </a:rPr>
              <a:t>.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[28] - </a:t>
            </a:r>
            <a:r>
              <a:rPr lang="en-IN" sz="1300" dirty="0" err="1">
                <a:solidFill>
                  <a:schemeClr val="tx1"/>
                </a:solidFill>
                <a:latin typeface="Times New Roman" panose="02020603050405020304" pitchFamily="18" charset="0"/>
                <a:cs typeface="Times New Roman" panose="02020603050405020304" pitchFamily="18" charset="0"/>
              </a:rPr>
              <a:t>Yaoxing</a:t>
            </a:r>
            <a:r>
              <a:rPr lang="en-IN" sz="1300" dirty="0">
                <a:solidFill>
                  <a:schemeClr val="tx1"/>
                </a:solidFill>
                <a:latin typeface="Times New Roman" panose="02020603050405020304" pitchFamily="18" charset="0"/>
                <a:cs typeface="Times New Roman" panose="02020603050405020304" pitchFamily="18" charset="0"/>
              </a:rPr>
              <a:t> Liao, </a:t>
            </a:r>
            <a:r>
              <a:rPr lang="en-IN" sz="1300" dirty="0" err="1">
                <a:solidFill>
                  <a:schemeClr val="tx1"/>
                </a:solidFill>
                <a:latin typeface="Times New Roman" panose="02020603050405020304" pitchFamily="18" charset="0"/>
                <a:cs typeface="Times New Roman" panose="02020603050405020304" pitchFamily="18" charset="0"/>
              </a:rPr>
              <a:t>Zhaoli</a:t>
            </a:r>
            <a:r>
              <a:rPr lang="en-IN" sz="1300" dirty="0">
                <a:solidFill>
                  <a:schemeClr val="tx1"/>
                </a:solidFill>
                <a:latin typeface="Times New Roman" panose="02020603050405020304" pitchFamily="18" charset="0"/>
                <a:cs typeface="Times New Roman" panose="02020603050405020304" pitchFamily="18" charset="0"/>
              </a:rPr>
              <a:t> wang , </a:t>
            </a:r>
            <a:r>
              <a:rPr lang="en-IN" sz="1300" dirty="0" err="1">
                <a:solidFill>
                  <a:schemeClr val="tx1"/>
                </a:solidFill>
                <a:latin typeface="Times New Roman" panose="02020603050405020304" pitchFamily="18" charset="0"/>
                <a:cs typeface="Times New Roman" panose="02020603050405020304" pitchFamily="18" charset="0"/>
              </a:rPr>
              <a:t>Chengguang</a:t>
            </a:r>
            <a:r>
              <a:rPr lang="en-IN" sz="1300" dirty="0">
                <a:solidFill>
                  <a:schemeClr val="tx1"/>
                </a:solidFill>
                <a:latin typeface="Times New Roman" panose="02020603050405020304" pitchFamily="18" charset="0"/>
                <a:cs typeface="Times New Roman" panose="02020603050405020304" pitchFamily="18" charset="0"/>
              </a:rPr>
              <a:t> Lai , Chon g Yu.2023. A Framework on Fast Mapping of Urban Flood Based on a Multi Objective Random Forest </a:t>
            </a:r>
            <a:r>
              <a:rPr lang="en-IN" sz="1300" dirty="0" err="1">
                <a:solidFill>
                  <a:schemeClr val="tx1"/>
                </a:solidFill>
                <a:latin typeface="Times New Roman" panose="02020603050405020304" pitchFamily="18" charset="0"/>
                <a:cs typeface="Times New Roman" panose="02020603050405020304" pitchFamily="18" charset="0"/>
              </a:rPr>
              <a:t>ModeLInternational</a:t>
            </a:r>
            <a:r>
              <a:rPr lang="en-IN" sz="1300" dirty="0">
                <a:solidFill>
                  <a:schemeClr val="tx1"/>
                </a:solidFill>
                <a:latin typeface="Times New Roman" panose="02020603050405020304" pitchFamily="18" charset="0"/>
                <a:cs typeface="Times New Roman" panose="02020603050405020304" pitchFamily="18" charset="0"/>
              </a:rPr>
              <a:t> Journal of Disaster Risk Science.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[29] - Gang </a:t>
            </a:r>
            <a:r>
              <a:rPr lang="en-IN" sz="1300" dirty="0" err="1">
                <a:solidFill>
                  <a:schemeClr val="tx1"/>
                </a:solidFill>
                <a:latin typeface="Times New Roman" panose="02020603050405020304" pitchFamily="18" charset="0"/>
                <a:cs typeface="Times New Roman" panose="02020603050405020304" pitchFamily="18" charset="0"/>
              </a:rPr>
              <a:t>Zhaoa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BoPanga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Zongxue</a:t>
            </a:r>
            <a:r>
              <a:rPr lang="en-IN" sz="1300" dirty="0">
                <a:solidFill>
                  <a:schemeClr val="tx1"/>
                </a:solidFill>
                <a:latin typeface="Times New Roman" panose="02020603050405020304" pitchFamily="18" charset="0"/>
                <a:cs typeface="Times New Roman" panose="02020603050405020304" pitchFamily="18" charset="0"/>
              </a:rPr>
              <a:t> Xu , </a:t>
            </a:r>
            <a:r>
              <a:rPr lang="en-IN" sz="1300" dirty="0" err="1">
                <a:solidFill>
                  <a:schemeClr val="tx1"/>
                </a:solidFill>
                <a:latin typeface="Times New Roman" panose="02020603050405020304" pitchFamily="18" charset="0"/>
                <a:cs typeface="Times New Roman" panose="02020603050405020304" pitchFamily="18" charset="0"/>
              </a:rPr>
              <a:t>Dingzhi</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Penga</a:t>
            </a:r>
            <a:r>
              <a:rPr lang="en-IN" sz="1300" dirty="0">
                <a:solidFill>
                  <a:schemeClr val="tx1"/>
                </a:solidFill>
                <a:latin typeface="Times New Roman" panose="02020603050405020304" pitchFamily="18" charset="0"/>
                <a:cs typeface="Times New Roman" panose="02020603050405020304" pitchFamily="18" charset="0"/>
              </a:rPr>
              <a:t>, </a:t>
            </a:r>
            <a:r>
              <a:rPr lang="en-IN" sz="1300" dirty="0" err="1">
                <a:solidFill>
                  <a:schemeClr val="tx1"/>
                </a:solidFill>
                <a:latin typeface="Times New Roman" panose="02020603050405020304" pitchFamily="18" charset="0"/>
                <a:cs typeface="Times New Roman" panose="02020603050405020304" pitchFamily="18" charset="0"/>
              </a:rPr>
              <a:t>Liyang</a:t>
            </a:r>
            <a:r>
              <a:rPr lang="en-IN" sz="1300" dirty="0">
                <a:solidFill>
                  <a:schemeClr val="tx1"/>
                </a:solidFill>
                <a:latin typeface="Times New Roman" panose="02020603050405020304" pitchFamily="18" charset="0"/>
                <a:cs typeface="Times New Roman" panose="02020603050405020304" pitchFamily="18" charset="0"/>
              </a:rPr>
              <a:t> Xu.2019. Assessment of urban flood susceptibility using semi-supervised machine learning model. Science Of Total Environment. </a:t>
            </a:r>
          </a:p>
          <a:p>
            <a:pPr marL="0" indent="0">
              <a:spcAft>
                <a:spcPts val="0"/>
              </a:spcAft>
              <a:buNone/>
            </a:pPr>
            <a:r>
              <a:rPr lang="en-IN" sz="1300" dirty="0">
                <a:solidFill>
                  <a:schemeClr val="tx1"/>
                </a:solidFill>
                <a:latin typeface="Times New Roman" panose="02020603050405020304" pitchFamily="18" charset="0"/>
                <a:cs typeface="Times New Roman" panose="02020603050405020304" pitchFamily="18" charset="0"/>
              </a:rPr>
              <a:t>[30] - Yao Li a </a:t>
            </a:r>
            <a:r>
              <a:rPr lang="en-IN" sz="1300" dirty="0" err="1">
                <a:solidFill>
                  <a:schemeClr val="tx1"/>
                </a:solidFill>
                <a:latin typeface="Times New Roman" panose="02020603050405020304" pitchFamily="18" charset="0"/>
                <a:cs typeface="Times New Roman" panose="02020603050405020304" pitchFamily="18" charset="0"/>
              </a:rPr>
              <a:t>a</a:t>
            </a:r>
            <a:r>
              <a:rPr lang="en-IN" sz="1300" dirty="0">
                <a:solidFill>
                  <a:schemeClr val="tx1"/>
                </a:solidFill>
                <a:latin typeface="Times New Roman" panose="02020603050405020304" pitchFamily="18" charset="0"/>
                <a:cs typeface="Times New Roman" panose="02020603050405020304" pitchFamily="18" charset="0"/>
              </a:rPr>
              <a:t>, Frank Badu Osei , </a:t>
            </a:r>
            <a:r>
              <a:rPr lang="en-IN" sz="1300" dirty="0" err="1">
                <a:solidFill>
                  <a:schemeClr val="tx1"/>
                </a:solidFill>
                <a:latin typeface="Times New Roman" panose="02020603050405020304" pitchFamily="18" charset="0"/>
                <a:cs typeface="Times New Roman" panose="02020603050405020304" pitchFamily="18" charset="0"/>
              </a:rPr>
              <a:t>Tangao</a:t>
            </a:r>
            <a:r>
              <a:rPr lang="en-IN" sz="1300" dirty="0">
                <a:solidFill>
                  <a:schemeClr val="tx1"/>
                </a:solidFill>
                <a:latin typeface="Times New Roman" panose="02020603050405020304" pitchFamily="18" charset="0"/>
                <a:cs typeface="Times New Roman" panose="02020603050405020304" pitchFamily="18" charset="0"/>
              </a:rPr>
              <a:t> Hu b, Alfred Stein.2023. Urban flood susceptibility mapping based on social media data in Chengdu city, China. Urban flood susceptibility mapping Social media data. </a:t>
            </a:r>
          </a:p>
        </p:txBody>
      </p:sp>
    </p:spTree>
    <p:extLst>
      <p:ext uri="{BB962C8B-B14F-4D97-AF65-F5344CB8AC3E}">
        <p14:creationId xmlns:p14="http://schemas.microsoft.com/office/powerpoint/2010/main" val="1999623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 </a:t>
            </a:r>
          </a:p>
        </p:txBody>
      </p:sp>
    </p:spTree>
  </p:cSld>
  <p:clrMapOvr>
    <a:masterClrMapping/>
  </p:clrMapOvr>
</p:sld>
</file>

<file path=ppt/theme/theme1.xml><?xml version="1.0" encoding="utf-8"?>
<a:theme xmlns:a="http://schemas.openxmlformats.org/drawingml/2006/main" name="REVA REVISED TEMPLATE-1">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2.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4916671-0E7D-4594-8037-60C70BF44351}">
  <ds:schemaRefs>
    <ds:schemaRef ds:uri="http://purl.org/dc/dcmitype/"/>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REVA REVISED TEMPLATE-1</Template>
  <TotalTime>2799</TotalTime>
  <Words>3559</Words>
  <Application>Microsoft Office PowerPoint</Application>
  <PresentationFormat>Widescreen</PresentationFormat>
  <Paragraphs>247</Paragraphs>
  <Slides>32</Slides>
  <Notes>0</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32</vt:i4>
      </vt:variant>
    </vt:vector>
  </HeadingPairs>
  <TitlesOfParts>
    <vt:vector size="47" baseType="lpstr">
      <vt:lpstr>Arial</vt:lpstr>
      <vt:lpstr>Calibri</vt:lpstr>
      <vt:lpstr>Nobel-Book</vt:lpstr>
      <vt:lpstr>Roboto Medium</vt:lpstr>
      <vt:lpstr>Times New Roman</vt:lpstr>
      <vt:lpstr>Wingdings</vt:lpstr>
      <vt:lpstr>REVA REVISED TEMPLATE-1</vt:lpstr>
      <vt:lpstr>Agenda</vt:lpstr>
      <vt:lpstr>Divider</vt:lpstr>
      <vt:lpstr>Media / Video Slide</vt:lpstr>
      <vt:lpstr>Copy Slides</vt:lpstr>
      <vt:lpstr>Copy and Image</vt:lpstr>
      <vt:lpstr>Table &amp; Graphs Slide</vt:lpstr>
      <vt:lpstr>Flow Slides</vt:lpstr>
      <vt:lpstr>Thank You </vt:lpstr>
      <vt:lpstr>         M21DG0303 - Minor Project     Master of Science in Data Science - M.Sc.(DS)                     III Semester – 2024         </vt:lpstr>
      <vt:lpstr>ANALYZING FLOOD DATASET USING MACHINE LEARNING ALGORITHMS            </vt:lpstr>
      <vt:lpstr>AGENDA</vt:lpstr>
      <vt:lpstr>ABSTRACT</vt:lpstr>
      <vt:lpstr>INTRODUCTION</vt:lpstr>
      <vt:lpstr>PowerPoint Presentation</vt:lpstr>
      <vt:lpstr>SOFTWARE REQUIREMENTS</vt:lpstr>
      <vt:lpstr>SOFTWARE REQUIREMENTS</vt:lpstr>
      <vt:lpstr>    Dataset and description  </vt:lpstr>
      <vt:lpstr>PowerPoint Presentation</vt:lpstr>
      <vt:lpstr>PowerPoint Presentation</vt:lpstr>
      <vt:lpstr>DATATYPES IN OUR DATASET</vt:lpstr>
      <vt:lpstr>DATA PREPARATION</vt:lpstr>
      <vt:lpstr>PowerPoint Presentation</vt:lpstr>
      <vt:lpstr>PowerPoint Presentation</vt:lpstr>
      <vt:lpstr>PowerPoint Presentation</vt:lpstr>
      <vt:lpstr>PowerPoint Presentation</vt:lpstr>
      <vt:lpstr>Distribution Of The Rainfall Data That Is How Often There Is Rainfall</vt:lpstr>
      <vt:lpstr>Relationship Between Maximum And Minimum Temperature Where Darker Shade Is Max Temp And Lighter Shade Is Min Temp</vt:lpstr>
      <vt:lpstr>MODEL PLANNING</vt:lpstr>
      <vt:lpstr>PowerPoint Presentation</vt:lpstr>
      <vt:lpstr>PowerPoint Presentation</vt:lpstr>
      <vt:lpstr>PowerPoint Presentation</vt:lpstr>
      <vt:lpstr>MODEL BUILDING – XG BOOST REGRESSOR</vt:lpstr>
      <vt:lpstr>MODEL BUILDING – Long short-term memory</vt:lpstr>
      <vt:lpstr>MODEL BUILDING – pls-seM</vt:lpstr>
      <vt:lpstr>RESULTS</vt:lpstr>
      <vt:lpstr>CONCLUSION</vt:lpstr>
      <vt:lpstr>FUTURE ENHANCEMENT</vt:lpstr>
      <vt:lpstr>REFERENCES</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girija</dc:creator>
  <cp:lastModifiedBy>Bhoomika B A</cp:lastModifiedBy>
  <cp:revision>272</cp:revision>
  <cp:lastPrinted>2018-09-28T07:11:06Z</cp:lastPrinted>
  <dcterms:created xsi:type="dcterms:W3CDTF">2020-08-17T03:18:34Z</dcterms:created>
  <dcterms:modified xsi:type="dcterms:W3CDTF">2024-02-07T07:29:51Z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